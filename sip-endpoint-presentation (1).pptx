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12.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slides/slide18.xml" ContentType="application/vnd.openxmlformats-officedocument.presentationml.slide+xml"/>
</Types>
</file>

<file path=_rels/.rels><?xml version="1.0" encoding="UTF-8"?><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73" r:id="rId21"/>
    <p:sldId id="268" r:id="rId15"/>
    <p:sldId id="269" r:id="rId16"/>
    <p:sldId id="270" r:id="rId17"/>
    <p:sldId id="271" r:id="rId18"/>
    <p:sldId id="272" r:id="rId19"/>
  </p:sldIdLst>
  <p:sldSz cx="12188825"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presProps" Target="presProps.xml"/><Relationship Id="rId21" Type="http://schemas.openxmlformats.org/officeDocument/2006/relationships/slide" Target="slides/slide18.xml"/></Relationship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3" name="PlaceHolder 2"/>
          <p:cNvSpPr>
            <a:spLocks noGrp="1"/>
          </p:cNvSpPr>
          <p:nvPr>
            <p:ph type="ftr" idx="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4" name="PlaceHolder 3"/>
          <p:cNvSpPr>
            <a:spLocks noGrp="1"/>
          </p:cNvSpPr>
          <p:nvPr>
            <p:ph type="sldNum" idx="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416446E2-C9BA-414B-828C-1C29E73E5B58}"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
        <p:nvSpPr>
          <p:cNvPr id="5" name="PlaceHolder 4"/>
          <p:cNvSpPr>
            <a:spLocks noGrp="1"/>
          </p:cNvSpPr>
          <p:nvPr>
            <p:ph type="title"/>
          </p:nvPr>
        </p:nvSpPr>
        <p:spPr>
          <a:xfrm>
            <a:off x="609120" y="273600"/>
            <a:ext cx="10969200" cy="1144440"/>
          </a:xfrm>
          <a:prstGeom prst="rect">
            <a:avLst/>
          </a:prstGeom>
          <a:noFill/>
          <a:ln w="0">
            <a:noFill/>
          </a:ln>
        </p:spPr>
        <p:txBody>
          <a:bodyPr lIns="0" tIns="0" rIns="0" bIns="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 xml:space="preserve">Click to edit the title text </a:t>
            </a:r>
            <a:r>
              <a:rPr lang="en-US" sz="4400" b="0" u="none" strike="noStrike">
                <a:solidFill>
                  <a:schemeClr val="dk1"/>
                </a:solidFill>
                <a:effectLst/>
                <a:uFillTx/>
                <a:latin typeface="Calibri"/>
              </a:rPr>
              <a:t>format</a:t>
            </a:r>
            <a:endParaRPr lang="en-US" sz="4400" b="0" u="none" strike="noStrike">
              <a:solidFill>
                <a:schemeClr val="dk1"/>
              </a:solidFill>
              <a:effectLst/>
              <a:uFillTx/>
              <a:latin typeface="Calibri"/>
            </a:endParaRPr>
          </a:p>
        </p:txBody>
      </p:sp>
      <p:sp>
        <p:nvSpPr>
          <p:cNvPr id="6" name="PlaceHolder 5"/>
          <p:cNvSpPr>
            <a:spLocks noGrp="1"/>
          </p:cNvSpPr>
          <p:nvPr>
            <p:ph type="body"/>
          </p:nvPr>
        </p:nvSpPr>
        <p:spPr>
          <a:xfrm>
            <a:off x="609120" y="1604520"/>
            <a:ext cx="10969200" cy="3976920"/>
          </a:xfrm>
          <a:prstGeom prst="rect">
            <a:avLst/>
          </a:prstGeom>
          <a:noFill/>
          <a:ln w="0">
            <a:noFill/>
          </a:ln>
        </p:spPr>
        <p:txBody>
          <a:bodyPr lIns="0" tIns="0" rIns="0" bIns="0" anchor="t">
            <a:norm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2880"/>
            <a:ext cx="3007440" cy="11613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 xml:space="preserve">Click to edit Master </a:t>
            </a:r>
            <a:r>
              <a:rPr lang="en-US" sz="2000" b="1" u="none" strike="noStrike">
                <a:solidFill>
                  <a:schemeClr val="dk1"/>
                </a:solidFill>
                <a:effectLst/>
                <a:uFillTx/>
                <a:latin typeface="Calibri"/>
              </a:rPr>
              <a:t>title style</a:t>
            </a:r>
            <a:endParaRPr lang="en-US" sz="2000" b="1" u="none" strike="noStrike">
              <a:solidFill>
                <a:schemeClr val="dk1"/>
              </a:solidFill>
              <a:effectLst/>
              <a:uFillTx/>
              <a:latin typeface="Calibri"/>
            </a:endParaRPr>
          </a:p>
        </p:txBody>
      </p:sp>
      <p:sp>
        <p:nvSpPr>
          <p:cNvPr id="8" name="PlaceHolder 2"/>
          <p:cNvSpPr>
            <a:spLocks noGrp="1"/>
          </p:cNvSpPr>
          <p:nvPr>
            <p:ph type="body"/>
          </p:nvPr>
        </p:nvSpPr>
        <p:spPr>
          <a:xfrm>
            <a:off x="3575160" y="272880"/>
            <a:ext cx="5110920" cy="585252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9" name="PlaceHolder 3"/>
          <p:cNvSpPr>
            <a:spLocks noGrp="1"/>
          </p:cNvSpPr>
          <p:nvPr>
            <p:ph type="body"/>
          </p:nvPr>
        </p:nvSpPr>
        <p:spPr>
          <a:xfrm>
            <a:off x="457200" y="1434960"/>
            <a:ext cx="3007440" cy="46904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10" name="PlaceHolder 4"/>
          <p:cNvSpPr>
            <a:spLocks noGrp="1"/>
          </p:cNvSpPr>
          <p:nvPr>
            <p:ph type="dt" idx="4"/>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11" name="PlaceHolder 5"/>
          <p:cNvSpPr>
            <a:spLocks noGrp="1"/>
          </p:cNvSpPr>
          <p:nvPr>
            <p:ph type="ftr" idx="5"/>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12" name="PlaceHolder 6"/>
          <p:cNvSpPr>
            <a:spLocks noGrp="1"/>
          </p:cNvSpPr>
          <p:nvPr>
            <p:ph type="sldNum" idx="6"/>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EEBFAF4A-B3CA-4AB5-A4E0-C199708DEE7D}"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1792440" y="4800600"/>
            <a:ext cx="5485680" cy="56592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 xml:space="preserve">Click to edit </a:t>
            </a:r>
            <a:r>
              <a:rPr lang="en-US" sz="2000" b="1" u="none" strike="noStrike">
                <a:solidFill>
                  <a:schemeClr val="dk1"/>
                </a:solidFill>
                <a:effectLst/>
                <a:uFillTx/>
                <a:latin typeface="Calibri"/>
              </a:rPr>
              <a:t>Master title style</a:t>
            </a:r>
            <a:endParaRPr lang="en-US" sz="2000" b="1" u="none" strike="noStrike">
              <a:solidFill>
                <a:schemeClr val="dk1"/>
              </a:solidFill>
              <a:effectLst/>
              <a:uFillTx/>
              <a:latin typeface="Calibri"/>
            </a:endParaRPr>
          </a:p>
        </p:txBody>
      </p:sp>
      <p:sp>
        <p:nvSpPr>
          <p:cNvPr id="14" name="PlaceHolder 2"/>
          <p:cNvSpPr>
            <a:spLocks noGrp="1"/>
          </p:cNvSpPr>
          <p:nvPr>
            <p:ph type="body"/>
          </p:nvPr>
        </p:nvSpPr>
        <p:spPr>
          <a:xfrm>
            <a:off x="1792440" y="612720"/>
            <a:ext cx="5485680" cy="4114080"/>
          </a:xfrm>
          <a:prstGeom prst="rect">
            <a:avLst/>
          </a:prstGeom>
          <a:noFill/>
          <a:ln w="0">
            <a:noFill/>
          </a:ln>
        </p:spPr>
        <p:txBody>
          <a:bodyPr lIns="90000" tIns="45000" rIns="90000" bIns="45000" anchor="t">
            <a:noAutofit/>
          </a:bodyPr>
          <a:lstStyle>
            <a:lvl1pPr algn="l" defTabSz="457200">
              <a:lnSpc>
                <a:spcPct val="100000"/>
              </a:lnSpc>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7pPr>
          </a:lstStyle>
          <a:p>
            <a:pPr marL="432000" indent="-324000" algn="l" defTabSz="457200">
              <a:lnSpc>
                <a:spcPct val="100000"/>
              </a:lnSpc>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indent="-324000" algn="l" defTabSz="457200">
              <a:lnSpc>
                <a:spcPct val="100000"/>
              </a:lnSpc>
              <a:spcBef>
                <a:spcPts val="561"/>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indent="-288000" algn="l" defTabSz="457200">
              <a:lnSpc>
                <a:spcPct val="100000"/>
              </a:lnSpc>
              <a:spcBef>
                <a:spcPts val="479"/>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indent="-216000" algn="l" defTabSz="457200">
              <a:lnSpc>
                <a:spcPct val="100000"/>
              </a:lnSpc>
              <a:spcBef>
                <a:spcPts val="400"/>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indent="-216000" algn="l" defTabSz="457200">
              <a:lnSpc>
                <a:spcPct val="100000"/>
              </a:lnSpc>
              <a:spcBef>
                <a:spcPts val="400"/>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15" name="PlaceHolder 3"/>
          <p:cNvSpPr>
            <a:spLocks noGrp="1"/>
          </p:cNvSpPr>
          <p:nvPr>
            <p:ph type="body"/>
          </p:nvPr>
        </p:nvSpPr>
        <p:spPr>
          <a:xfrm>
            <a:off x="1792440" y="5367240"/>
            <a:ext cx="5485680" cy="8042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16" name="PlaceHolder 4"/>
          <p:cNvSpPr>
            <a:spLocks noGrp="1"/>
          </p:cNvSpPr>
          <p:nvPr>
            <p:ph type="dt" idx="7"/>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17" name="PlaceHolder 5"/>
          <p:cNvSpPr>
            <a:spLocks noGrp="1"/>
          </p:cNvSpPr>
          <p:nvPr>
            <p:ph type="ftr" idx="8"/>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18" name="PlaceHolder 6"/>
          <p:cNvSpPr>
            <a:spLocks noGrp="1"/>
          </p:cNvSpPr>
          <p:nvPr>
            <p:ph type="sldNum" idx="9"/>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2055D70E-DFB7-4ECE-81CF-003823DC4331}"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1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 xml:space="preserve">Click to edit Master title </a:t>
            </a:r>
            <a:r>
              <a:rPr lang="en-US" sz="4400" b="0" u="none" strike="noStrike">
                <a:solidFill>
                  <a:schemeClr val="dk1"/>
                </a:solidFill>
                <a:effectLst/>
                <a:uFillTx/>
                <a:latin typeface="Calibri"/>
              </a:rPr>
              <a:t>style</a:t>
            </a:r>
            <a:endParaRPr lang="en-US" sz="4400" b="0" u="none" strike="noStrike">
              <a:solidFill>
                <a:schemeClr val="dk1"/>
              </a:solidFill>
              <a:effectLst/>
              <a:uFillTx/>
              <a:latin typeface="Calibri"/>
            </a:endParaRPr>
          </a:p>
        </p:txBody>
      </p:sp>
      <p:sp>
        <p:nvSpPr>
          <p:cNvPr id="20" name="PlaceHolder 2"/>
          <p:cNvSpPr>
            <a:spLocks noGrp="1"/>
          </p:cNvSpPr>
          <p:nvPr>
            <p:ph type="dt" idx="10"/>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21" name="PlaceHolder 3"/>
          <p:cNvSpPr>
            <a:spLocks noGrp="1"/>
          </p:cNvSpPr>
          <p:nvPr>
            <p:ph type="ftr" idx="11"/>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22" name="PlaceHolder 4"/>
          <p:cNvSpPr>
            <a:spLocks noGrp="1"/>
          </p:cNvSpPr>
          <p:nvPr>
            <p:ph type="sldNum" idx="12"/>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8469803A-4AA5-4BAC-B5A9-A497B76D54C0}"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 xml:space="preserve">Click to </a:t>
            </a:r>
            <a:r>
              <a:rPr lang="en-US" sz="4400" b="0" u="none" strike="noStrike">
                <a:solidFill>
                  <a:schemeClr val="dk1"/>
                </a:solidFill>
                <a:effectLst/>
                <a:uFillTx/>
                <a:latin typeface="Calibri"/>
              </a:rPr>
              <a:t xml:space="preserve">edit </a:t>
            </a:r>
            <a:r>
              <a:rPr lang="en-US" sz="4400" b="0" u="none" strike="noStrike">
                <a:solidFill>
                  <a:schemeClr val="dk1"/>
                </a:solidFill>
                <a:effectLst/>
                <a:uFillTx/>
                <a:latin typeface="Calibri"/>
              </a:rPr>
              <a:t xml:space="preserve">Master </a:t>
            </a:r>
            <a:r>
              <a:rPr lang="en-US" sz="4400" b="0" u="none" strike="noStrike">
                <a:solidFill>
                  <a:schemeClr val="dk1"/>
                </a:solidFill>
                <a:effectLst/>
                <a:uFillTx/>
                <a:latin typeface="Calibri"/>
              </a:rPr>
              <a:t>title style</a:t>
            </a:r>
            <a:endParaRPr lang="en-US" sz="4400" b="0" u="none" strike="noStrike">
              <a:solidFill>
                <a:schemeClr val="dk1"/>
              </a:solidFill>
              <a:effectLst/>
              <a:uFillTx/>
              <a:latin typeface="Calibri"/>
            </a:endParaRPr>
          </a:p>
        </p:txBody>
      </p:sp>
      <p:sp>
        <p:nvSpPr>
          <p:cNvPr id="24"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25" name="PlaceHolder 3"/>
          <p:cNvSpPr>
            <a:spLocks noGrp="1"/>
          </p:cNvSpPr>
          <p:nvPr>
            <p:ph type="dt" idx="13"/>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26" name="PlaceHolder 4"/>
          <p:cNvSpPr>
            <a:spLocks noGrp="1"/>
          </p:cNvSpPr>
          <p:nvPr>
            <p:ph type="ftr" idx="14"/>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27" name="PlaceHolder 5"/>
          <p:cNvSpPr>
            <a:spLocks noGrp="1"/>
          </p:cNvSpPr>
          <p:nvPr>
            <p:ph type="sldNum" idx="15"/>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7953299E-4C57-48C1-96F2-A50FFB2423F3}"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629400" y="274680"/>
            <a:ext cx="2056680" cy="5850720"/>
          </a:xfrm>
          <a:prstGeom prst="rect">
            <a:avLst/>
          </a:prstGeom>
          <a:noFill/>
          <a:ln w="0">
            <a:noFill/>
          </a:ln>
        </p:spPr>
        <p:txBody>
          <a:bodyPr lIns="91440" tIns="45720" rIns="91440" bIns="45720" anchor="ctr" vert="eaVert">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k</a:t>
            </a:r>
            <a:r>
              <a:rPr lang="en-US" sz="4400" b="0" u="none" strike="noStrike">
                <a:solidFill>
                  <a:schemeClr val="dk1"/>
                </a:solidFill>
                <a:effectLst/>
                <a:uFillTx/>
                <a:latin typeface="Calibri"/>
              </a:rPr>
              <a:t xml:space="preserve">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o</a:t>
            </a:r>
            <a:r>
              <a:rPr lang="en-US" sz="4400" b="0" u="none" strike="noStrike">
                <a:solidFill>
                  <a:schemeClr val="dk1"/>
                </a:solidFill>
                <a:effectLst/>
                <a:uFillTx/>
                <a:latin typeface="Calibri"/>
              </a:rPr>
              <a:t xml:space="preserve"> </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d</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 xml:space="preserve">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a:t>
            </a:r>
            <a:r>
              <a:rPr lang="en-US" sz="4400" b="0" u="none" strike="noStrike">
                <a:solidFill>
                  <a:schemeClr val="dk1"/>
                </a:solidFill>
                <a:effectLst/>
                <a:uFillTx/>
                <a:latin typeface="Calibri"/>
              </a:rPr>
              <a:t>s</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r</a:t>
            </a:r>
            <a:r>
              <a:rPr lang="en-US" sz="4400" b="0" u="none" strike="noStrike">
                <a:solidFill>
                  <a:schemeClr val="dk1"/>
                </a:solidFill>
                <a:effectLst/>
                <a:uFillTx/>
                <a:latin typeface="Calibri"/>
              </a:rPr>
              <a:t xml:space="preserve">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 xml:space="preserve"> </a:t>
            </a:r>
            <a:r>
              <a:rPr lang="en-US" sz="4400" b="0" u="none" strike="noStrike">
                <a:solidFill>
                  <a:schemeClr val="dk1"/>
                </a:solidFill>
                <a:effectLst/>
                <a:uFillTx/>
                <a:latin typeface="Calibri"/>
              </a:rPr>
              <a:t>s</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y</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29" name="PlaceHolder 2"/>
          <p:cNvSpPr>
            <a:spLocks noGrp="1"/>
          </p:cNvSpPr>
          <p:nvPr>
            <p:ph type="body"/>
          </p:nvPr>
        </p:nvSpPr>
        <p:spPr>
          <a:xfrm>
            <a:off x="457200" y="274680"/>
            <a:ext cx="6019200" cy="585072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30" name="PlaceHolder 3"/>
          <p:cNvSpPr>
            <a:spLocks noGrp="1"/>
          </p:cNvSpPr>
          <p:nvPr>
            <p:ph type="dt" idx="16"/>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31" name="PlaceHolder 4"/>
          <p:cNvSpPr>
            <a:spLocks noGrp="1"/>
          </p:cNvSpPr>
          <p:nvPr>
            <p:ph type="ftr" idx="17"/>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32" name="PlaceHolder 5"/>
          <p:cNvSpPr>
            <a:spLocks noGrp="1"/>
          </p:cNvSpPr>
          <p:nvPr>
            <p:ph type="sldNum" idx="18"/>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1C342D8F-8617-4D72-93D3-F1C6106C013E}"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4"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35" name="PlaceHolder 3"/>
          <p:cNvSpPr>
            <a:spLocks noGrp="1"/>
          </p:cNvSpPr>
          <p:nvPr>
            <p:ph type="dt" idx="19"/>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36" name="PlaceHolder 4"/>
          <p:cNvSpPr>
            <a:spLocks noGrp="1"/>
          </p:cNvSpPr>
          <p:nvPr>
            <p:ph type="ftr" idx="20"/>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37" name="PlaceHolder 5"/>
          <p:cNvSpPr>
            <a:spLocks noGrp="1"/>
          </p:cNvSpPr>
          <p:nvPr>
            <p:ph type="sldNum" idx="21"/>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F5CA9C89-895E-4CB5-AC08-2E78A388D688}"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722160" y="4406760"/>
            <a:ext cx="7771680" cy="13615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000" b="1" u="none" strike="noStrike" cap="all">
                <a:solidFill>
                  <a:schemeClr val="dk1"/>
                </a:solidFill>
                <a:effectLst/>
                <a:uFillTx/>
                <a:latin typeface="Calibri"/>
              </a:defRPr>
            </a:lvl1pPr>
          </a:lstStyle>
          <a:p>
            <a:pPr indent="0" algn="l" defTabSz="457200">
              <a:lnSpc>
                <a:spcPct val="100000"/>
              </a:lnSpc>
              <a:buNone/>
              <a:tabLst>
                <a:tab pos="0" algn="l"/>
              </a:tabLst>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39" name="PlaceHolder 2"/>
          <p:cNvSpPr>
            <a:spLocks noGrp="1"/>
          </p:cNvSpPr>
          <p:nvPr>
            <p:ph type="body"/>
          </p:nvPr>
        </p:nvSpPr>
        <p:spPr>
          <a:xfrm>
            <a:off x="722160" y="2906640"/>
            <a:ext cx="7771680" cy="149940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40" name="PlaceHolder 3"/>
          <p:cNvSpPr>
            <a:spLocks noGrp="1"/>
          </p:cNvSpPr>
          <p:nvPr>
            <p:ph type="dt" idx="22"/>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41" name="PlaceHolder 4"/>
          <p:cNvSpPr>
            <a:spLocks noGrp="1"/>
          </p:cNvSpPr>
          <p:nvPr>
            <p:ph type="ftr" idx="23"/>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42" name="PlaceHolder 5"/>
          <p:cNvSpPr>
            <a:spLocks noGrp="1"/>
          </p:cNvSpPr>
          <p:nvPr>
            <p:ph type="sldNum" idx="24"/>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6CD86C59-5448-4EEC-92FB-511F5A3E1974}"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4" name="PlaceHolder 2"/>
          <p:cNvSpPr>
            <a:spLocks noGrp="1"/>
          </p:cNvSpPr>
          <p:nvPr>
            <p:ph type="body"/>
          </p:nvPr>
        </p:nvSpPr>
        <p:spPr>
          <a:xfrm>
            <a:off x="457200" y="1600200"/>
            <a:ext cx="4037760" cy="45252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5" name="PlaceHolder 3"/>
          <p:cNvSpPr>
            <a:spLocks noGrp="1"/>
          </p:cNvSpPr>
          <p:nvPr>
            <p:ph type="body"/>
          </p:nvPr>
        </p:nvSpPr>
        <p:spPr>
          <a:xfrm>
            <a:off x="4648320" y="1600200"/>
            <a:ext cx="4037760" cy="45252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6" name="PlaceHolder 4"/>
          <p:cNvSpPr>
            <a:spLocks noGrp="1"/>
          </p:cNvSpPr>
          <p:nvPr>
            <p:ph type="dt" idx="25"/>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47" name="PlaceHolder 5"/>
          <p:cNvSpPr>
            <a:spLocks noGrp="1"/>
          </p:cNvSpPr>
          <p:nvPr>
            <p:ph type="ftr" idx="26"/>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48" name="PlaceHolder 6"/>
          <p:cNvSpPr>
            <a:spLocks noGrp="1"/>
          </p:cNvSpPr>
          <p:nvPr>
            <p:ph type="sldNum" idx="27"/>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6C7612BD-DF0C-4D76-A324-5D987F5B5D1C}"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0" name="PlaceHolder 2"/>
          <p:cNvSpPr>
            <a:spLocks noGrp="1"/>
          </p:cNvSpPr>
          <p:nvPr>
            <p:ph type="body"/>
          </p:nvPr>
        </p:nvSpPr>
        <p:spPr>
          <a:xfrm>
            <a:off x="457200" y="1535040"/>
            <a:ext cx="4039560" cy="6390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1" name="PlaceHolder 3"/>
          <p:cNvSpPr>
            <a:spLocks noGrp="1"/>
          </p:cNvSpPr>
          <p:nvPr>
            <p:ph type="body"/>
          </p:nvPr>
        </p:nvSpPr>
        <p:spPr>
          <a:xfrm>
            <a:off x="457200" y="2174760"/>
            <a:ext cx="4039560" cy="39506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2" name="PlaceHolder 4"/>
          <p:cNvSpPr>
            <a:spLocks noGrp="1"/>
          </p:cNvSpPr>
          <p:nvPr>
            <p:ph type="body"/>
          </p:nvPr>
        </p:nvSpPr>
        <p:spPr>
          <a:xfrm>
            <a:off x="4645080" y="1535040"/>
            <a:ext cx="4041000" cy="6390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3" name="PlaceHolder 5"/>
          <p:cNvSpPr>
            <a:spLocks noGrp="1"/>
          </p:cNvSpPr>
          <p:nvPr>
            <p:ph type="body"/>
          </p:nvPr>
        </p:nvSpPr>
        <p:spPr>
          <a:xfrm>
            <a:off x="4645080" y="2174760"/>
            <a:ext cx="4041000" cy="39506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4" name="PlaceHolder 6"/>
          <p:cNvSpPr>
            <a:spLocks noGrp="1"/>
          </p:cNvSpPr>
          <p:nvPr>
            <p:ph type="dt" idx="28"/>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55" name="PlaceHolder 7"/>
          <p:cNvSpPr>
            <a:spLocks noGrp="1"/>
          </p:cNvSpPr>
          <p:nvPr>
            <p:ph type="ftr" idx="29"/>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56" name="PlaceHolder 8"/>
          <p:cNvSpPr>
            <a:spLocks noGrp="1"/>
          </p:cNvSpPr>
          <p:nvPr>
            <p:ph type="sldNum" idx="30"/>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D9B249E5-7D78-454C-9C7D-786F0B5565A6}"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8" name="PlaceHolder 2"/>
          <p:cNvSpPr>
            <a:spLocks noGrp="1"/>
          </p:cNvSpPr>
          <p:nvPr>
            <p:ph type="dt" idx="3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59" name="PlaceHolder 3"/>
          <p:cNvSpPr>
            <a:spLocks noGrp="1"/>
          </p:cNvSpPr>
          <p:nvPr>
            <p:ph type="ftr" idx="3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60" name="PlaceHolder 4"/>
          <p:cNvSpPr>
            <a:spLocks noGrp="1"/>
          </p:cNvSpPr>
          <p:nvPr>
            <p:ph type="sldNum" idx="3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B0B2A591-19AF-4979-8C61-31AB238456F0}"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sldLayout>
</file>

<file path=ppt/slideMasters/_rels/slideMaster1.xml.rels><?xml version="1.0" encoding="UTF-8"?><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61" name="Rectangle 1"/>
          <p:cNvSpPr/>
          <p:nvPr/>
        </p:nvSpPr>
        <p:spPr>
          <a:xfrm>
            <a:off x="0" y="0"/>
            <a:ext cx="5028480" cy="685728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 name="Rectangle 2"/>
          <p:cNvSpPr/>
          <p:nvPr/>
        </p:nvSpPr>
        <p:spPr>
          <a:xfrm>
            <a:off x="5029200" y="0"/>
            <a:ext cx="54000" cy="68572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63" name="Rectangle 3"/>
          <p:cNvSpPr/>
          <p:nvPr/>
        </p:nvSpPr>
        <p:spPr>
          <a:xfrm>
            <a:off x="640080" y="1463040"/>
            <a:ext cx="1005120" cy="4564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4" name="TextBox 4"/>
          <p:cNvSpPr/>
          <p:nvPr/>
        </p:nvSpPr>
        <p:spPr>
          <a:xfrm>
            <a:off x="658440" y="1490400"/>
            <a:ext cx="968400" cy="4017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FFFFFF"/>
                </a:solidFill>
                <a:effectLst/>
                <a:uFillTx/>
                <a:latin typeface="Calibri Bold"/>
              </a:rPr>
              <a:t>SIP</a:t>
            </a:r>
            <a:endParaRPr lang="en-GB" sz="2200" b="0" u="none" strike="noStrike">
              <a:solidFill>
                <a:srgbClr val="FFFFFF"/>
              </a:solidFill>
              <a:effectLst/>
              <a:uFillTx/>
              <a:latin typeface="Arial"/>
            </a:endParaRPr>
          </a:p>
        </p:txBody>
      </p:sp>
      <p:sp>
        <p:nvSpPr>
          <p:cNvPr id="65" name="TextBox 5"/>
          <p:cNvSpPr/>
          <p:nvPr/>
        </p:nvSpPr>
        <p:spPr>
          <a:xfrm>
            <a:off x="1755720" y="1463040"/>
            <a:ext cx="292536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Bold"/>
              </a:rPr>
              <a:t>Endpoint</a:t>
            </a:r>
            <a:endParaRPr lang="en-GB" sz="2800" b="0" u="none" strike="noStrike">
              <a:solidFill>
                <a:srgbClr val="FFFFFF"/>
              </a:solidFill>
              <a:effectLst/>
              <a:uFillTx/>
              <a:latin typeface="Arial"/>
            </a:endParaRPr>
          </a:p>
        </p:txBody>
      </p:sp>
      <p:sp>
        <p:nvSpPr>
          <p:cNvPr id="66" name="TextBox 6"/>
          <p:cNvSpPr/>
          <p:nvPr/>
        </p:nvSpPr>
        <p:spPr>
          <a:xfrm>
            <a:off x="640080" y="2148840"/>
            <a:ext cx="411408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00D4FF"/>
                </a:solidFill>
                <a:effectLst/>
                <a:uFillTx/>
                <a:latin typeface="Calibri"/>
              </a:rPr>
              <a:t>Experimental Containerized SIP Softphone</a:t>
            </a:r>
            <a:endParaRPr lang="en-GB" sz="1600" b="0" u="none" strike="noStrike">
              <a:solidFill>
                <a:srgbClr val="FFFFFF"/>
              </a:solidFill>
              <a:effectLst/>
              <a:uFillTx/>
              <a:latin typeface="Arial"/>
            </a:endParaRPr>
          </a:p>
        </p:txBody>
      </p:sp>
      <p:sp>
        <p:nvSpPr>
          <p:cNvPr id="67" name="TextBox 7"/>
          <p:cNvSpPr/>
          <p:nvPr/>
        </p:nvSpPr>
        <p:spPr>
          <a:xfrm>
            <a:off x="640080" y="2651760"/>
            <a:ext cx="109656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94A3B8"/>
                </a:solidFill>
                <a:effectLst/>
                <a:uFillTx/>
                <a:latin typeface="Calibri"/>
              </a:rPr>
              <a:t>v1.1</a:t>
            </a:r>
            <a:endParaRPr lang="en-GB" sz="1200" b="0" u="none" strike="noStrike">
              <a:solidFill>
                <a:srgbClr val="FFFFFF"/>
              </a:solidFill>
              <a:effectLst/>
              <a:uFillTx/>
              <a:latin typeface="Arial"/>
            </a:endParaRPr>
          </a:p>
        </p:txBody>
      </p:sp>
      <p:sp>
        <p:nvSpPr>
          <p:cNvPr id="68" name="TextBox 8"/>
          <p:cNvSpPr/>
          <p:nvPr/>
        </p:nvSpPr>
        <p:spPr>
          <a:xfrm>
            <a:off x="640080" y="3108960"/>
            <a:ext cx="4114080" cy="15840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F0F4FF"/>
                </a:solidFill>
                <a:effectLst/>
                <a:uFillTx/>
                <a:latin typeface="Calibri"/>
              </a:rPr>
              <a:t>Full-featured SIP softphone built for</a:t>
            </a:r>
            <a:endParaRPr lang="en-GB" sz="1400" b="0" u="none" strike="noStrike">
              <a:solidFill>
                <a:srgbClr val="FFFFFF"/>
              </a:solidFill>
              <a:effectLst/>
              <a:uFillTx/>
              <a:latin typeface="Arial"/>
            </a:endParaRPr>
          </a:p>
          <a:p>
            <a:pPr defTabSz="457200">
              <a:lnSpc>
                <a:spcPct val="100000"/>
              </a:lnSpc>
            </a:pPr>
            <a:r>
              <a:rPr lang="en-US" sz="1400" b="0" u="none" strike="noStrike">
                <a:solidFill>
                  <a:srgbClr val="F0F4FF"/>
                </a:solidFill>
                <a:effectLst/>
                <a:uFillTx/>
                <a:latin typeface="Calibri"/>
              </a:rPr>
              <a:t>engineers and cloud deployments</a:t>
            </a:r>
            <a:endParaRPr lang="en-GB" sz="1400" b="0" u="none" strike="noStrike">
              <a:solidFill>
                <a:srgbClr val="FFFFFF"/>
              </a:solidFill>
              <a:effectLst/>
              <a:uFillTx/>
              <a:latin typeface="Arial"/>
            </a:endParaRPr>
          </a:p>
          <a:p>
            <a:pPr defTabSz="457200">
              <a:lnSpc>
                <a:spcPct val="100000"/>
              </a:lnSpc>
            </a:pPr>
            <a:endParaRPr lang="en-GB" sz="1400" b="0" u="none" strike="noStrike">
              <a:solidFill>
                <a:srgbClr val="FFFFFF"/>
              </a:solidFill>
              <a:effectLst/>
              <a:uFillTx/>
              <a:latin typeface="Arial"/>
            </a:endParaRPr>
          </a:p>
          <a:p>
            <a:pPr defTabSz="457200">
              <a:lnSpc>
                <a:spcPct val="100000"/>
              </a:lnSpc>
            </a:pPr>
            <a:r>
              <a:rPr lang="en-US" sz="1400" b="0" u="none" strike="noStrike">
                <a:solidFill>
                  <a:srgbClr val="F0F4FF"/>
                </a:solidFill>
                <a:effectLst/>
                <a:uFillTx/>
                <a:latin typeface="Calibri"/>
              </a:rPr>
              <a:t>Containerized</a:t>
            </a:r>
            <a:endParaRPr lang="en-GB" sz="1400" b="0" u="none" strike="noStrike">
              <a:solidFill>
                <a:srgbClr val="FFFFFF"/>
              </a:solidFill>
              <a:effectLst/>
              <a:uFillTx/>
              <a:latin typeface="Arial"/>
            </a:endParaRPr>
          </a:p>
          <a:p>
            <a:pPr defTabSz="457200">
              <a:lnSpc>
                <a:spcPct val="100000"/>
              </a:lnSpc>
            </a:pPr>
            <a:r>
              <a:rPr lang="en-US" sz="1400" b="0" u="none" strike="noStrike">
                <a:solidFill>
                  <a:srgbClr val="F0F4FF"/>
                </a:solidFill>
                <a:effectLst/>
                <a:uFillTx/>
                <a:latin typeface="Calibri"/>
              </a:rPr>
              <a:t>No audio hardware required.</a:t>
            </a:r>
            <a:endParaRPr lang="en-GB" sz="1400" b="0" u="none" strike="noStrike">
              <a:solidFill>
                <a:srgbClr val="FFFFFF"/>
              </a:solidFill>
              <a:effectLst/>
              <a:uFillTx/>
              <a:latin typeface="Arial"/>
            </a:endParaRPr>
          </a:p>
          <a:p>
            <a:pPr defTabSz="457200">
              <a:lnSpc>
                <a:spcPct val="100000"/>
              </a:lnSpc>
            </a:pPr>
            <a:r>
              <a:rPr lang="en-US" sz="1400" b="0" u="none" strike="noStrike">
                <a:solidFill>
                  <a:srgbClr val="F0F4FF"/>
                </a:solidFill>
                <a:effectLst/>
                <a:uFillTx/>
                <a:latin typeface="Calibri"/>
              </a:rPr>
              <a:t>Fully headless-capable via REST API</a:t>
            </a:r>
            <a:endParaRPr lang="en-GB" sz="1400" b="0" u="none" strike="noStrike">
              <a:solidFill>
                <a:srgbClr val="FFFFFF"/>
              </a:solidFill>
              <a:effectLst/>
              <a:uFillTx/>
              <a:latin typeface="Arial"/>
            </a:endParaRPr>
          </a:p>
          <a:p>
            <a:pPr defTabSz="457200">
              <a:lnSpc>
                <a:spcPct val="100000"/>
              </a:lnSpc>
            </a:pPr>
            <a:r>
              <a:rPr lang="en-US" sz="1400" b="0" u="none" strike="noStrike">
                <a:solidFill>
                  <a:srgbClr val="F0F4FF"/>
                </a:solidFill>
                <a:effectLst/>
                <a:uFillTx/>
                <a:latin typeface="Calibri"/>
              </a:rPr>
              <a:t>Fully functional Web UI</a:t>
            </a:r>
            <a:endParaRPr lang="en-GB" sz="1400" b="0" u="none" strike="noStrike">
              <a:solidFill>
                <a:srgbClr val="FFFFFF"/>
              </a:solidFill>
              <a:effectLst/>
              <a:uFillTx/>
              <a:latin typeface="Arial"/>
            </a:endParaRPr>
          </a:p>
        </p:txBody>
      </p:sp>
      <p:sp>
        <p:nvSpPr>
          <p:cNvPr id="69" name="TextBox 9"/>
          <p:cNvSpPr/>
          <p:nvPr/>
        </p:nvSpPr>
        <p:spPr>
          <a:xfrm>
            <a:off x="5577840" y="1188720"/>
            <a:ext cx="6217200" cy="547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00D4FF"/>
                </a:solidFill>
                <a:effectLst/>
                <a:uFillTx/>
                <a:latin typeface="Calibri Bold"/>
              </a:rPr>
              <a:t>27</a:t>
            </a:r>
            <a:endParaRPr lang="en-GB" sz="2800" b="0" u="none" strike="noStrike">
              <a:solidFill>
                <a:srgbClr val="FFFFFF"/>
              </a:solidFill>
              <a:effectLst/>
              <a:uFillTx/>
              <a:latin typeface="Arial"/>
            </a:endParaRPr>
          </a:p>
        </p:txBody>
      </p:sp>
      <p:sp>
        <p:nvSpPr>
          <p:cNvPr id="70" name="TextBox 10"/>
          <p:cNvSpPr/>
          <p:nvPr/>
        </p:nvSpPr>
        <p:spPr>
          <a:xfrm>
            <a:off x="5577840" y="1691640"/>
            <a:ext cx="62172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API Endpoints</a:t>
            </a:r>
            <a:endParaRPr lang="en-GB" sz="1100" b="0" u="none" strike="noStrike">
              <a:solidFill>
                <a:srgbClr val="FFFFFF"/>
              </a:solidFill>
              <a:effectLst/>
              <a:uFillTx/>
              <a:latin typeface="Arial"/>
            </a:endParaRPr>
          </a:p>
        </p:txBody>
      </p:sp>
      <p:sp>
        <p:nvSpPr>
          <p:cNvPr id="71" name="Rectangle 11"/>
          <p:cNvSpPr/>
          <p:nvPr/>
        </p:nvSpPr>
        <p:spPr>
          <a:xfrm>
            <a:off x="5577840" y="2057400"/>
            <a:ext cx="5942880" cy="8280"/>
          </a:xfrm>
          <a:prstGeom prst="rect">
            <a:avLst/>
          </a:prstGeom>
          <a:solidFill>
            <a:srgbClr val="2E3D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72" name="TextBox 12"/>
          <p:cNvSpPr/>
          <p:nvPr/>
        </p:nvSpPr>
        <p:spPr>
          <a:xfrm>
            <a:off x="5577840" y="2468880"/>
            <a:ext cx="6217200" cy="547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FFFFFF"/>
                </a:solidFill>
                <a:effectLst/>
                <a:uFillTx/>
                <a:latin typeface="Calibri Bold"/>
              </a:rPr>
              <a:t>G.722 · PCMU · PCMA</a:t>
            </a:r>
            <a:endParaRPr lang="en-GB" sz="1800" b="0" u="none" strike="noStrike">
              <a:solidFill>
                <a:srgbClr val="FFFFFF"/>
              </a:solidFill>
              <a:effectLst/>
              <a:uFillTx/>
              <a:latin typeface="Arial"/>
            </a:endParaRPr>
          </a:p>
        </p:txBody>
      </p:sp>
      <p:sp>
        <p:nvSpPr>
          <p:cNvPr id="73" name="TextBox 13"/>
          <p:cNvSpPr/>
          <p:nvPr/>
        </p:nvSpPr>
        <p:spPr>
          <a:xfrm>
            <a:off x="5577840" y="2971800"/>
            <a:ext cx="62172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Codecs</a:t>
            </a:r>
            <a:endParaRPr lang="en-GB" sz="1100" b="0" u="none" strike="noStrike">
              <a:solidFill>
                <a:srgbClr val="FFFFFF"/>
              </a:solidFill>
              <a:effectLst/>
              <a:uFillTx/>
              <a:latin typeface="Arial"/>
            </a:endParaRPr>
          </a:p>
        </p:txBody>
      </p:sp>
      <p:sp>
        <p:nvSpPr>
          <p:cNvPr id="74" name="Rectangle 14"/>
          <p:cNvSpPr/>
          <p:nvPr/>
        </p:nvSpPr>
        <p:spPr>
          <a:xfrm>
            <a:off x="5577840" y="3337560"/>
            <a:ext cx="5942880" cy="8280"/>
          </a:xfrm>
          <a:prstGeom prst="rect">
            <a:avLst/>
          </a:prstGeom>
          <a:solidFill>
            <a:srgbClr val="2E3D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75" name="TextBox 15"/>
          <p:cNvSpPr/>
          <p:nvPr/>
        </p:nvSpPr>
        <p:spPr>
          <a:xfrm>
            <a:off x="5577840" y="3749040"/>
            <a:ext cx="6217200" cy="547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FFFFFF"/>
                </a:solidFill>
                <a:effectLst/>
                <a:uFillTx/>
                <a:latin typeface="Calibri Bold"/>
              </a:rPr>
              <a:t>Docker / Podman</a:t>
            </a:r>
            <a:endParaRPr lang="en-GB" sz="1800" b="0" u="none" strike="noStrike">
              <a:solidFill>
                <a:srgbClr val="FFFFFF"/>
              </a:solidFill>
              <a:effectLst/>
              <a:uFillTx/>
              <a:latin typeface="Arial"/>
            </a:endParaRPr>
          </a:p>
        </p:txBody>
      </p:sp>
      <p:sp>
        <p:nvSpPr>
          <p:cNvPr id="76" name="TextBox 16"/>
          <p:cNvSpPr/>
          <p:nvPr/>
        </p:nvSpPr>
        <p:spPr>
          <a:xfrm>
            <a:off x="5577840" y="4251960"/>
            <a:ext cx="62172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Deployment</a:t>
            </a:r>
            <a:endParaRPr lang="en-GB" sz="1100" b="0" u="none" strike="noStrike">
              <a:solidFill>
                <a:srgbClr val="FFFFFF"/>
              </a:solidFill>
              <a:effectLst/>
              <a:uFillTx/>
              <a:latin typeface="Arial"/>
            </a:endParaRPr>
          </a:p>
        </p:txBody>
      </p:sp>
      <p:sp>
        <p:nvSpPr>
          <p:cNvPr id="77" name="Rectangle 17"/>
          <p:cNvSpPr/>
          <p:nvPr/>
        </p:nvSpPr>
        <p:spPr>
          <a:xfrm>
            <a:off x="5577840" y="4617720"/>
            <a:ext cx="5942880" cy="8280"/>
          </a:xfrm>
          <a:prstGeom prst="rect">
            <a:avLst/>
          </a:prstGeom>
          <a:solidFill>
            <a:srgbClr val="2E3D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78" name="TextBox 18"/>
          <p:cNvSpPr/>
          <p:nvPr/>
        </p:nvSpPr>
        <p:spPr>
          <a:xfrm>
            <a:off x="5577840" y="5029200"/>
            <a:ext cx="6217200" cy="547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FFFFFF"/>
                </a:solidFill>
                <a:effectLst/>
                <a:uFillTx/>
                <a:latin typeface="Calibri Bold"/>
              </a:rPr>
              <a:t>pcap + WAV per call</a:t>
            </a:r>
            <a:endParaRPr lang="en-GB" sz="1800" b="0" u="none" strike="noStrike">
              <a:solidFill>
                <a:srgbClr val="FFFFFF"/>
              </a:solidFill>
              <a:effectLst/>
              <a:uFillTx/>
              <a:latin typeface="Arial"/>
            </a:endParaRPr>
          </a:p>
        </p:txBody>
      </p:sp>
      <p:sp>
        <p:nvSpPr>
          <p:cNvPr id="79" name="TextBox 19"/>
          <p:cNvSpPr/>
          <p:nvPr/>
        </p:nvSpPr>
        <p:spPr>
          <a:xfrm>
            <a:off x="5577840" y="5532120"/>
            <a:ext cx="62172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Capture</a:t>
            </a:r>
            <a:endParaRPr lang="en-GB" sz="1100" b="0" u="none" strike="noStrike">
              <a:solidFill>
                <a:srgbClr val="FFFFFF"/>
              </a:solidFill>
              <a:effectLst/>
              <a:uFillTx/>
              <a:latin typeface="Arial"/>
            </a:endParaRPr>
          </a:p>
        </p:txBody>
      </p:sp>
      <p:sp>
        <p:nvSpPr>
          <p:cNvPr id="80" name="TextBox 20"/>
          <p:cNvSpPr/>
          <p:nvPr/>
        </p:nvSpPr>
        <p:spPr>
          <a:xfrm>
            <a:off x="5577840" y="6309360"/>
            <a:ext cx="6217200" cy="365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i="1" u="none" strike="noStrike">
                <a:solidFill>
                  <a:srgbClr val="94A3B8"/>
                </a:solidFill>
                <a:effectLst/>
                <a:uFillTx/>
                <a:latin typeface="Calibri"/>
              </a:rPr>
              <a:t>For Developers &amp; Engineers</a:t>
            </a:r>
            <a:endParaRPr lang="en-GB"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81" name="TextBox 1"/>
          <p:cNvSpPr/>
          <p:nvPr/>
        </p:nvSpPr>
        <p:spPr>
          <a:xfrm>
            <a:off x="548640" y="365760"/>
            <a:ext cx="10972080" cy="639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FFFFFF"/>
                </a:solidFill>
                <a:effectLst/>
                <a:uFillTx/>
                <a:latin typeface="Calibri Bold"/>
              </a:rPr>
              <a:t>Problem &amp; Use Cases</a:t>
            </a:r>
            <a:endParaRPr lang="en-GB" sz="3400" b="0" u="none" strike="noStrike">
              <a:solidFill>
                <a:srgbClr val="FFFFFF"/>
              </a:solidFill>
              <a:effectLst/>
              <a:uFillTx/>
              <a:latin typeface="Arial"/>
            </a:endParaRPr>
          </a:p>
        </p:txBody>
      </p:sp>
      <p:sp>
        <p:nvSpPr>
          <p:cNvPr id="82" name="Rectangle 2"/>
          <p:cNvSpPr/>
          <p:nvPr/>
        </p:nvSpPr>
        <p:spPr>
          <a:xfrm>
            <a:off x="548640" y="1051560"/>
            <a:ext cx="109720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83" name="TextBox 3"/>
          <p:cNvSpPr/>
          <p:nvPr/>
        </p:nvSpPr>
        <p:spPr>
          <a:xfrm>
            <a:off x="548640" y="1280160"/>
            <a:ext cx="502848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00D4FF"/>
                </a:solidFill>
                <a:effectLst/>
                <a:uFillTx/>
                <a:latin typeface="Calibri Bold"/>
              </a:rPr>
              <a:t>The Gap</a:t>
            </a:r>
            <a:endParaRPr lang="en-GB" sz="1800" b="0" u="none" strike="noStrike">
              <a:solidFill>
                <a:srgbClr val="FFFFFF"/>
              </a:solidFill>
              <a:effectLst/>
              <a:uFillTx/>
              <a:latin typeface="Arial"/>
            </a:endParaRPr>
          </a:p>
        </p:txBody>
      </p:sp>
      <p:sp>
        <p:nvSpPr>
          <p:cNvPr id="84" name="Rectangle 4"/>
          <p:cNvSpPr/>
          <p:nvPr/>
        </p:nvSpPr>
        <p:spPr>
          <a:xfrm>
            <a:off x="548640" y="1874520"/>
            <a:ext cx="54000" cy="273600"/>
          </a:xfrm>
          <a:prstGeom prst="rect">
            <a:avLst/>
          </a:prstGeom>
          <a:solidFill>
            <a:srgbClr val="DC26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85" name="TextBox 5"/>
          <p:cNvSpPr/>
          <p:nvPr/>
        </p:nvSpPr>
        <p:spPr>
          <a:xfrm>
            <a:off x="749880" y="1783080"/>
            <a:ext cx="457128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F0F4FF"/>
                </a:solidFill>
                <a:effectLst/>
                <a:uFillTx/>
                <a:latin typeface="Calibri"/>
              </a:rPr>
              <a:t>Traditional SIP softphones require audio hardware</a:t>
            </a:r>
            <a:endParaRPr lang="en-GB" sz="1200" b="0" u="none" strike="noStrike">
              <a:solidFill>
                <a:srgbClr val="FFFFFF"/>
              </a:solidFill>
              <a:effectLst/>
              <a:uFillTx/>
              <a:latin typeface="Arial"/>
            </a:endParaRPr>
          </a:p>
        </p:txBody>
      </p:sp>
      <p:sp>
        <p:nvSpPr>
          <p:cNvPr id="86" name="Rectangle 6"/>
          <p:cNvSpPr/>
          <p:nvPr/>
        </p:nvSpPr>
        <p:spPr>
          <a:xfrm>
            <a:off x="548640" y="2350080"/>
            <a:ext cx="54000" cy="273600"/>
          </a:xfrm>
          <a:prstGeom prst="rect">
            <a:avLst/>
          </a:prstGeom>
          <a:solidFill>
            <a:srgbClr val="DC26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87" name="TextBox 7"/>
          <p:cNvSpPr/>
          <p:nvPr/>
        </p:nvSpPr>
        <p:spPr>
          <a:xfrm>
            <a:off x="749880" y="2258640"/>
            <a:ext cx="457128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F0F4FF"/>
                </a:solidFill>
                <a:effectLst/>
                <a:uFillTx/>
                <a:latin typeface="Calibri"/>
              </a:rPr>
              <a:t>Difficult to automate — no headless / API-driven control</a:t>
            </a:r>
            <a:endParaRPr lang="en-GB" sz="1200" b="0" u="none" strike="noStrike">
              <a:solidFill>
                <a:srgbClr val="FFFFFF"/>
              </a:solidFill>
              <a:effectLst/>
              <a:uFillTx/>
              <a:latin typeface="Arial"/>
            </a:endParaRPr>
          </a:p>
        </p:txBody>
      </p:sp>
      <p:sp>
        <p:nvSpPr>
          <p:cNvPr id="88" name="Rectangle 8"/>
          <p:cNvSpPr/>
          <p:nvPr/>
        </p:nvSpPr>
        <p:spPr>
          <a:xfrm>
            <a:off x="548640" y="2825640"/>
            <a:ext cx="54000" cy="273600"/>
          </a:xfrm>
          <a:prstGeom prst="rect">
            <a:avLst/>
          </a:prstGeom>
          <a:solidFill>
            <a:srgbClr val="DC26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89" name="TextBox 9"/>
          <p:cNvSpPr/>
          <p:nvPr/>
        </p:nvSpPr>
        <p:spPr>
          <a:xfrm>
            <a:off x="749880" y="2734200"/>
            <a:ext cx="4571280" cy="272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F0F4FF"/>
                </a:solidFill>
                <a:effectLst/>
                <a:uFillTx/>
                <a:latin typeface="Calibri"/>
              </a:rPr>
              <a:t>No built-in packet capture for SIP/RTP analysis</a:t>
            </a:r>
            <a:endParaRPr lang="en-GB" sz="1200" b="0" u="none" strike="noStrike">
              <a:solidFill>
                <a:srgbClr val="FFFFFF"/>
              </a:solidFill>
              <a:effectLst/>
              <a:uFillTx/>
              <a:latin typeface="Arial"/>
            </a:endParaRPr>
          </a:p>
        </p:txBody>
      </p:sp>
      <p:sp>
        <p:nvSpPr>
          <p:cNvPr id="90" name="Rectangle 10"/>
          <p:cNvSpPr/>
          <p:nvPr/>
        </p:nvSpPr>
        <p:spPr>
          <a:xfrm>
            <a:off x="548640" y="3300840"/>
            <a:ext cx="54000" cy="273600"/>
          </a:xfrm>
          <a:prstGeom prst="rect">
            <a:avLst/>
          </a:prstGeom>
          <a:solidFill>
            <a:srgbClr val="DC26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91" name="TextBox 11"/>
          <p:cNvSpPr/>
          <p:nvPr/>
        </p:nvSpPr>
        <p:spPr>
          <a:xfrm>
            <a:off x="749880" y="3209400"/>
            <a:ext cx="457128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F0F4FF"/>
                </a:solidFill>
                <a:effectLst/>
                <a:uFillTx/>
                <a:latin typeface="Calibri"/>
              </a:rPr>
              <a:t>Difficult to containerise and deploy to cloud</a:t>
            </a:r>
            <a:endParaRPr lang="en-GB" sz="1200" b="0" u="none" strike="noStrike">
              <a:solidFill>
                <a:srgbClr val="FFFFFF"/>
              </a:solidFill>
              <a:effectLst/>
              <a:uFillTx/>
              <a:latin typeface="Arial"/>
            </a:endParaRPr>
          </a:p>
        </p:txBody>
      </p:sp>
      <p:sp>
        <p:nvSpPr>
          <p:cNvPr id="92" name="Rectangle 12"/>
          <p:cNvSpPr/>
          <p:nvPr/>
        </p:nvSpPr>
        <p:spPr>
          <a:xfrm>
            <a:off x="548640" y="3776400"/>
            <a:ext cx="54000" cy="273600"/>
          </a:xfrm>
          <a:prstGeom prst="rect">
            <a:avLst/>
          </a:prstGeom>
          <a:solidFill>
            <a:srgbClr val="DC26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93" name="TextBox 13"/>
          <p:cNvSpPr/>
          <p:nvPr/>
        </p:nvSpPr>
        <p:spPr>
          <a:xfrm>
            <a:off x="749880" y="3684960"/>
            <a:ext cx="457128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F0F4FF"/>
                </a:solidFill>
                <a:effectLst/>
                <a:uFillTx/>
                <a:latin typeface="Calibri"/>
              </a:rPr>
              <a:t>Testing SIP systems usually needs a physical phone</a:t>
            </a:r>
            <a:endParaRPr lang="en-GB" sz="1200" b="0" u="none" strike="noStrike">
              <a:solidFill>
                <a:srgbClr val="FFFFFF"/>
              </a:solidFill>
              <a:effectLst/>
              <a:uFillTx/>
              <a:latin typeface="Arial"/>
            </a:endParaRPr>
          </a:p>
        </p:txBody>
      </p:sp>
      <p:sp>
        <p:nvSpPr>
          <p:cNvPr id="94" name="Rectangle 14"/>
          <p:cNvSpPr/>
          <p:nvPr/>
        </p:nvSpPr>
        <p:spPr>
          <a:xfrm>
            <a:off x="5760720" y="1188720"/>
            <a:ext cx="36000" cy="5302800"/>
          </a:xfrm>
          <a:prstGeom prst="rect">
            <a:avLst/>
          </a:prstGeom>
          <a:solidFill>
            <a:srgbClr val="2E3D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000" tIns="45000" rIns="18000" bIns="45000" anchor="ctr">
            <a:noAutofit/>
          </a:bodyPr>
          <a:p>
            <a:endParaRPr lang="en-US" sz="1800" b="0" u="none" strike="noStrike">
              <a:solidFill>
                <a:schemeClr val="lt1"/>
              </a:solidFill>
              <a:effectLst/>
              <a:uFillTx/>
              <a:latin typeface="Calibri"/>
            </a:endParaRPr>
          </a:p>
        </p:txBody>
      </p:sp>
      <p:sp>
        <p:nvSpPr>
          <p:cNvPr id="95" name="TextBox 15"/>
          <p:cNvSpPr/>
          <p:nvPr/>
        </p:nvSpPr>
        <p:spPr>
          <a:xfrm>
            <a:off x="6035040" y="1280160"/>
            <a:ext cx="5760000" cy="36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00D4FF"/>
                </a:solidFill>
                <a:effectLst/>
                <a:uFillTx/>
                <a:latin typeface="Calibri Bold"/>
              </a:rPr>
              <a:t>Potential Use Cases</a:t>
            </a:r>
            <a:endParaRPr lang="en-GB" sz="1800" b="0" u="none" strike="noStrike">
              <a:solidFill>
                <a:srgbClr val="FFFFFF"/>
              </a:solidFill>
              <a:effectLst/>
              <a:uFillTx/>
              <a:latin typeface="Arial"/>
            </a:endParaRPr>
          </a:p>
        </p:txBody>
      </p:sp>
      <p:sp>
        <p:nvSpPr>
          <p:cNvPr id="96" name="Rectangle 16"/>
          <p:cNvSpPr/>
          <p:nvPr/>
        </p:nvSpPr>
        <p:spPr>
          <a:xfrm>
            <a:off x="6035040" y="1819800"/>
            <a:ext cx="639360" cy="29196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7" name="TextBox 17"/>
          <p:cNvSpPr/>
          <p:nvPr/>
        </p:nvSpPr>
        <p:spPr>
          <a:xfrm>
            <a:off x="6035040" y="1837800"/>
            <a:ext cx="639360" cy="2736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800" b="1" u="none" strike="noStrike">
                <a:solidFill>
                  <a:srgbClr val="FFFFFF"/>
                </a:solidFill>
                <a:effectLst/>
                <a:uFillTx/>
                <a:latin typeface="Calibri Bold"/>
              </a:rPr>
              <a:t>TEST</a:t>
            </a:r>
            <a:endParaRPr lang="en-GB" sz="800" b="0" u="none" strike="noStrike">
              <a:solidFill>
                <a:srgbClr val="FFFFFF"/>
              </a:solidFill>
              <a:effectLst/>
              <a:uFillTx/>
              <a:latin typeface="Arial"/>
            </a:endParaRPr>
          </a:p>
        </p:txBody>
      </p:sp>
      <p:sp>
        <p:nvSpPr>
          <p:cNvPr id="98" name="TextBox 18"/>
          <p:cNvSpPr/>
          <p:nvPr/>
        </p:nvSpPr>
        <p:spPr>
          <a:xfrm>
            <a:off x="6812280" y="1783080"/>
            <a:ext cx="4845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FFFFFF"/>
                </a:solidFill>
                <a:effectLst/>
                <a:uFillTx/>
                <a:latin typeface="Calibri Bold"/>
              </a:rPr>
              <a:t>SIP Testing</a:t>
            </a:r>
            <a:endParaRPr lang="en-GB" sz="1300" b="0" u="none" strike="noStrike">
              <a:solidFill>
                <a:srgbClr val="FFFFFF"/>
              </a:solidFill>
              <a:effectLst/>
              <a:uFillTx/>
              <a:latin typeface="Arial"/>
            </a:endParaRPr>
          </a:p>
        </p:txBody>
      </p:sp>
      <p:sp>
        <p:nvSpPr>
          <p:cNvPr id="99" name="TextBox 19"/>
          <p:cNvSpPr/>
          <p:nvPr/>
        </p:nvSpPr>
        <p:spPr>
          <a:xfrm>
            <a:off x="6812280" y="2103120"/>
            <a:ext cx="4845600" cy="25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Automate call flows with REST API - no physical hardware needed</a:t>
            </a:r>
            <a:endParaRPr lang="en-GB" sz="1100" b="0" u="none" strike="noStrike">
              <a:solidFill>
                <a:srgbClr val="FFFFFF"/>
              </a:solidFill>
              <a:effectLst/>
              <a:uFillTx/>
              <a:latin typeface="Arial"/>
            </a:endParaRPr>
          </a:p>
        </p:txBody>
      </p:sp>
      <p:sp>
        <p:nvSpPr>
          <p:cNvPr id="100" name="Rectangle 20"/>
          <p:cNvSpPr/>
          <p:nvPr/>
        </p:nvSpPr>
        <p:spPr>
          <a:xfrm>
            <a:off x="6035040" y="2734200"/>
            <a:ext cx="639360" cy="29196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1" name="TextBox 21"/>
          <p:cNvSpPr/>
          <p:nvPr/>
        </p:nvSpPr>
        <p:spPr>
          <a:xfrm>
            <a:off x="6035040" y="2752200"/>
            <a:ext cx="639360" cy="2736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800" b="1" u="none" strike="noStrike">
                <a:solidFill>
                  <a:srgbClr val="FFFFFF"/>
                </a:solidFill>
                <a:effectLst/>
                <a:uFillTx/>
                <a:latin typeface="Calibri Bold"/>
              </a:rPr>
              <a:t>PCAP</a:t>
            </a:r>
            <a:endParaRPr lang="en-GB" sz="800" b="0" u="none" strike="noStrike">
              <a:solidFill>
                <a:srgbClr val="FFFFFF"/>
              </a:solidFill>
              <a:effectLst/>
              <a:uFillTx/>
              <a:latin typeface="Arial"/>
            </a:endParaRPr>
          </a:p>
        </p:txBody>
      </p:sp>
      <p:sp>
        <p:nvSpPr>
          <p:cNvPr id="102" name="TextBox 22"/>
          <p:cNvSpPr/>
          <p:nvPr/>
        </p:nvSpPr>
        <p:spPr>
          <a:xfrm>
            <a:off x="6812280" y="2697480"/>
            <a:ext cx="4845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FFFFFF"/>
                </a:solidFill>
                <a:effectLst/>
                <a:uFillTx/>
                <a:latin typeface="Calibri Bold"/>
              </a:rPr>
              <a:t>Network Analysis</a:t>
            </a:r>
            <a:endParaRPr lang="en-GB" sz="1300" b="0" u="none" strike="noStrike">
              <a:solidFill>
                <a:srgbClr val="FFFFFF"/>
              </a:solidFill>
              <a:effectLst/>
              <a:uFillTx/>
              <a:latin typeface="Arial"/>
            </a:endParaRPr>
          </a:p>
        </p:txBody>
      </p:sp>
      <p:sp>
        <p:nvSpPr>
          <p:cNvPr id="103" name="TextBox 23"/>
          <p:cNvSpPr/>
          <p:nvPr/>
        </p:nvSpPr>
        <p:spPr>
          <a:xfrm>
            <a:off x="6812280" y="3017520"/>
            <a:ext cx="4845600" cy="365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Capture SIP + RTP per call, open in Wireshark</a:t>
            </a:r>
            <a:endParaRPr lang="en-GB" sz="1100" b="0" u="none" strike="noStrike">
              <a:solidFill>
                <a:srgbClr val="FFFFFF"/>
              </a:solidFill>
              <a:effectLst/>
              <a:uFillTx/>
              <a:latin typeface="Arial"/>
            </a:endParaRPr>
          </a:p>
        </p:txBody>
      </p:sp>
      <p:sp>
        <p:nvSpPr>
          <p:cNvPr id="104" name="Rectangle 24"/>
          <p:cNvSpPr/>
          <p:nvPr/>
        </p:nvSpPr>
        <p:spPr>
          <a:xfrm>
            <a:off x="6035040" y="3648600"/>
            <a:ext cx="639360" cy="29196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5" name="TextBox 25"/>
          <p:cNvSpPr/>
          <p:nvPr/>
        </p:nvSpPr>
        <p:spPr>
          <a:xfrm>
            <a:off x="6035040" y="3666600"/>
            <a:ext cx="639360" cy="2736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800" b="1" u="none" strike="noStrike">
                <a:solidFill>
                  <a:srgbClr val="FFFFFF"/>
                </a:solidFill>
                <a:effectLst/>
                <a:uFillTx/>
                <a:latin typeface="Calibri Bold"/>
              </a:rPr>
              <a:t>CLOUD</a:t>
            </a:r>
            <a:endParaRPr lang="en-GB" sz="800" b="0" u="none" strike="noStrike">
              <a:solidFill>
                <a:srgbClr val="FFFFFF"/>
              </a:solidFill>
              <a:effectLst/>
              <a:uFillTx/>
              <a:latin typeface="Arial"/>
            </a:endParaRPr>
          </a:p>
        </p:txBody>
      </p:sp>
      <p:sp>
        <p:nvSpPr>
          <p:cNvPr id="106" name="TextBox 26"/>
          <p:cNvSpPr/>
          <p:nvPr/>
        </p:nvSpPr>
        <p:spPr>
          <a:xfrm>
            <a:off x="6812280" y="3611880"/>
            <a:ext cx="4845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FFFFFF"/>
                </a:solidFill>
                <a:effectLst/>
                <a:uFillTx/>
                <a:latin typeface="Calibri Bold"/>
              </a:rPr>
              <a:t>Cloud Deployment</a:t>
            </a:r>
            <a:endParaRPr lang="en-GB" sz="1300" b="0" u="none" strike="noStrike">
              <a:solidFill>
                <a:srgbClr val="FFFFFF"/>
              </a:solidFill>
              <a:effectLst/>
              <a:uFillTx/>
              <a:latin typeface="Arial"/>
            </a:endParaRPr>
          </a:p>
        </p:txBody>
      </p:sp>
      <p:sp>
        <p:nvSpPr>
          <p:cNvPr id="107" name="TextBox 27"/>
          <p:cNvSpPr/>
          <p:nvPr/>
        </p:nvSpPr>
        <p:spPr>
          <a:xfrm>
            <a:off x="6812280" y="3931920"/>
            <a:ext cx="4845600" cy="365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Runs headless on any cloud VM, no audio hardware</a:t>
            </a:r>
            <a:endParaRPr lang="en-GB" sz="1100" b="0" u="none" strike="noStrike">
              <a:solidFill>
                <a:srgbClr val="FFFFFF"/>
              </a:solidFill>
              <a:effectLst/>
              <a:uFillTx/>
              <a:latin typeface="Arial"/>
            </a:endParaRPr>
          </a:p>
        </p:txBody>
      </p:sp>
      <p:sp>
        <p:nvSpPr>
          <p:cNvPr id="108" name="Rectangle 28"/>
          <p:cNvSpPr/>
          <p:nvPr/>
        </p:nvSpPr>
        <p:spPr>
          <a:xfrm>
            <a:off x="6035040" y="4563000"/>
            <a:ext cx="639360" cy="29196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9" name="TextBox 29"/>
          <p:cNvSpPr/>
          <p:nvPr/>
        </p:nvSpPr>
        <p:spPr>
          <a:xfrm>
            <a:off x="6035040" y="4581000"/>
            <a:ext cx="639360" cy="2736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800" b="1" u="none" strike="noStrike">
                <a:solidFill>
                  <a:srgbClr val="FFFFFF"/>
                </a:solidFill>
                <a:effectLst/>
                <a:uFillTx/>
                <a:latin typeface="Calibri Bold"/>
              </a:rPr>
              <a:t>CI/CD</a:t>
            </a:r>
            <a:endParaRPr lang="en-GB" sz="800" b="0" u="none" strike="noStrike">
              <a:solidFill>
                <a:srgbClr val="FFFFFF"/>
              </a:solidFill>
              <a:effectLst/>
              <a:uFillTx/>
              <a:latin typeface="Arial"/>
            </a:endParaRPr>
          </a:p>
        </p:txBody>
      </p:sp>
      <p:sp>
        <p:nvSpPr>
          <p:cNvPr id="110" name="TextBox 30"/>
          <p:cNvSpPr/>
          <p:nvPr/>
        </p:nvSpPr>
        <p:spPr>
          <a:xfrm>
            <a:off x="6812280" y="4526280"/>
            <a:ext cx="4845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FFFFFF"/>
                </a:solidFill>
                <a:effectLst/>
                <a:uFillTx/>
                <a:latin typeface="Calibri Bold"/>
              </a:rPr>
              <a:t>CI/CD Integration</a:t>
            </a:r>
            <a:endParaRPr lang="en-GB" sz="1300" b="0" u="none" strike="noStrike">
              <a:solidFill>
                <a:srgbClr val="FFFFFF"/>
              </a:solidFill>
              <a:effectLst/>
              <a:uFillTx/>
              <a:latin typeface="Arial"/>
            </a:endParaRPr>
          </a:p>
        </p:txBody>
      </p:sp>
      <p:sp>
        <p:nvSpPr>
          <p:cNvPr id="111" name="TextBox 31"/>
          <p:cNvSpPr/>
          <p:nvPr/>
        </p:nvSpPr>
        <p:spPr>
          <a:xfrm>
            <a:off x="6812280" y="4846320"/>
            <a:ext cx="4845600" cy="365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Trigger calls, play audio, verify via API in pipelines</a:t>
            </a:r>
            <a:endParaRPr lang="en-GB" sz="1100" b="0" u="none" strike="noStrike">
              <a:solidFill>
                <a:srgbClr val="FFFFFF"/>
              </a:solidFill>
              <a:effectLst/>
              <a:uFillTx/>
              <a:latin typeface="Arial"/>
            </a:endParaRPr>
          </a:p>
        </p:txBody>
      </p:sp>
      <p:sp>
        <p:nvSpPr>
          <p:cNvPr id="112" name="Rectangle 32"/>
          <p:cNvSpPr/>
          <p:nvPr/>
        </p:nvSpPr>
        <p:spPr>
          <a:xfrm>
            <a:off x="6035040" y="5477400"/>
            <a:ext cx="639360" cy="29196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3" name="TextBox 33"/>
          <p:cNvSpPr/>
          <p:nvPr/>
        </p:nvSpPr>
        <p:spPr>
          <a:xfrm>
            <a:off x="6035040" y="5495400"/>
            <a:ext cx="639360" cy="2736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800" b="1" u="none" strike="noStrike">
                <a:solidFill>
                  <a:srgbClr val="FFFFFF"/>
                </a:solidFill>
                <a:effectLst/>
                <a:uFillTx/>
                <a:latin typeface="Calibri Bold"/>
              </a:rPr>
              <a:t>PHONE</a:t>
            </a:r>
            <a:endParaRPr lang="en-GB" sz="800" b="0" u="none" strike="noStrike">
              <a:solidFill>
                <a:srgbClr val="FFFFFF"/>
              </a:solidFill>
              <a:effectLst/>
              <a:uFillTx/>
              <a:latin typeface="Arial"/>
            </a:endParaRPr>
          </a:p>
        </p:txBody>
      </p:sp>
      <p:sp>
        <p:nvSpPr>
          <p:cNvPr id="114" name="TextBox 34"/>
          <p:cNvSpPr/>
          <p:nvPr/>
        </p:nvSpPr>
        <p:spPr>
          <a:xfrm>
            <a:off x="6812280" y="5440680"/>
            <a:ext cx="4845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FFFFFF"/>
                </a:solidFill>
                <a:effectLst/>
                <a:uFillTx/>
                <a:latin typeface="Calibri Bold"/>
              </a:rPr>
              <a:t>Softphone</a:t>
            </a:r>
            <a:endParaRPr lang="en-GB" sz="1300" b="0" u="none" strike="noStrike">
              <a:solidFill>
                <a:srgbClr val="FFFFFF"/>
              </a:solidFill>
              <a:effectLst/>
              <a:uFillTx/>
              <a:latin typeface="Arial"/>
            </a:endParaRPr>
          </a:p>
        </p:txBody>
      </p:sp>
      <p:sp>
        <p:nvSpPr>
          <p:cNvPr id="115" name="TextBox 35"/>
          <p:cNvSpPr/>
          <p:nvPr/>
        </p:nvSpPr>
        <p:spPr>
          <a:xfrm>
            <a:off x="6812280" y="5760720"/>
            <a:ext cx="4845600" cy="2574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Full-featured web UI for engineers/home lab hobbyists</a:t>
            </a:r>
            <a:endParaRPr lang="en-GB"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116" name="TextBox 1"/>
          <p:cNvSpPr/>
          <p:nvPr/>
        </p:nvSpPr>
        <p:spPr>
          <a:xfrm>
            <a:off x="548640" y="274320"/>
            <a:ext cx="10972080" cy="639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FFFFFF"/>
                </a:solidFill>
                <a:effectLst/>
                <a:uFillTx/>
                <a:latin typeface="Calibri Bold"/>
              </a:rPr>
              <a:t>Architecture Overview</a:t>
            </a:r>
            <a:endParaRPr lang="en-GB" sz="3400" b="0" u="none" strike="noStrike">
              <a:solidFill>
                <a:srgbClr val="FFFFFF"/>
              </a:solidFill>
              <a:effectLst/>
              <a:uFillTx/>
              <a:latin typeface="Arial"/>
            </a:endParaRPr>
          </a:p>
        </p:txBody>
      </p:sp>
      <p:sp>
        <p:nvSpPr>
          <p:cNvPr id="117" name="Rectangle 2"/>
          <p:cNvSpPr/>
          <p:nvPr/>
        </p:nvSpPr>
        <p:spPr>
          <a:xfrm>
            <a:off x="548640" y="960120"/>
            <a:ext cx="109720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18" name="Rectangle 3"/>
          <p:cNvSpPr/>
          <p:nvPr/>
        </p:nvSpPr>
        <p:spPr>
          <a:xfrm>
            <a:off x="457200" y="1188720"/>
            <a:ext cx="11246400" cy="5119920"/>
          </a:xfrm>
          <a:prstGeom prst="rect">
            <a:avLst/>
          </a:prstGeom>
          <a:solidFill>
            <a:srgbClr val="0D23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9" name="Rectangle 4"/>
          <p:cNvSpPr/>
          <p:nvPr/>
        </p:nvSpPr>
        <p:spPr>
          <a:xfrm>
            <a:off x="457200" y="1188720"/>
            <a:ext cx="11246400" cy="3193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0" name="TextBox 5"/>
          <p:cNvSpPr/>
          <p:nvPr/>
        </p:nvSpPr>
        <p:spPr>
          <a:xfrm>
            <a:off x="685800" y="1216080"/>
            <a:ext cx="9143280" cy="273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Docker / Podman Container</a:t>
            </a:r>
            <a:endParaRPr lang="en-GB" sz="1100" b="0" u="none" strike="noStrike">
              <a:solidFill>
                <a:srgbClr val="FFFFFF"/>
              </a:solidFill>
              <a:effectLst/>
              <a:uFillTx/>
              <a:latin typeface="Arial"/>
            </a:endParaRPr>
          </a:p>
        </p:txBody>
      </p:sp>
      <p:sp>
        <p:nvSpPr>
          <p:cNvPr id="121" name="Rectangle 6"/>
          <p:cNvSpPr/>
          <p:nvPr/>
        </p:nvSpPr>
        <p:spPr>
          <a:xfrm>
            <a:off x="731520" y="1828800"/>
            <a:ext cx="2742480" cy="10051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2" name="Rectangle 7"/>
          <p:cNvSpPr/>
          <p:nvPr/>
        </p:nvSpPr>
        <p:spPr>
          <a:xfrm>
            <a:off x="731520" y="1828800"/>
            <a:ext cx="27424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23" name="TextBox 8"/>
          <p:cNvSpPr/>
          <p:nvPr/>
        </p:nvSpPr>
        <p:spPr>
          <a:xfrm>
            <a:off x="822960" y="1920240"/>
            <a:ext cx="2559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1" u="none" strike="noStrike">
                <a:solidFill>
                  <a:srgbClr val="2563EB"/>
                </a:solidFill>
                <a:effectLst/>
                <a:uFillTx/>
                <a:latin typeface="Calibri Bold"/>
              </a:rPr>
              <a:t>server.js</a:t>
            </a:r>
            <a:endParaRPr lang="en-GB" sz="1200" b="0" u="none" strike="noStrike">
              <a:solidFill>
                <a:srgbClr val="FFFFFF"/>
              </a:solidFill>
              <a:effectLst/>
              <a:uFillTx/>
              <a:latin typeface="Arial"/>
            </a:endParaRPr>
          </a:p>
        </p:txBody>
      </p:sp>
      <p:sp>
        <p:nvSpPr>
          <p:cNvPr id="124" name="TextBox 9"/>
          <p:cNvSpPr/>
          <p:nvPr/>
        </p:nvSpPr>
        <p:spPr>
          <a:xfrm>
            <a:off x="822960" y="2267640"/>
            <a:ext cx="255960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94A3B8"/>
                </a:solidFill>
                <a:effectLst/>
                <a:uFillTx/>
                <a:latin typeface="Calibri"/>
              </a:rPr>
              <a:t>Express HTTP</a:t>
            </a:r>
            <a:endParaRPr lang="en-GB" sz="1000" b="0" u="none" strike="noStrike">
              <a:solidFill>
                <a:srgbClr val="FFFFFF"/>
              </a:solidFill>
              <a:effectLst/>
              <a:uFillTx/>
              <a:latin typeface="Arial"/>
            </a:endParaRPr>
          </a:p>
          <a:p>
            <a:pPr defTabSz="457200">
              <a:lnSpc>
                <a:spcPct val="100000"/>
              </a:lnSpc>
            </a:pPr>
            <a:r>
              <a:rPr lang="en-US" sz="1000" b="0" u="none" strike="noStrike">
                <a:solidFill>
                  <a:srgbClr val="94A3B8"/>
                </a:solidFill>
                <a:effectLst/>
                <a:uFillTx/>
                <a:latin typeface="Calibri"/>
              </a:rPr>
              <a:t>REST API + WebSocket</a:t>
            </a:r>
            <a:endParaRPr lang="en-GB" sz="1000" b="0" u="none" strike="noStrike">
              <a:solidFill>
                <a:srgbClr val="FFFFFF"/>
              </a:solidFill>
              <a:effectLst/>
              <a:uFillTx/>
              <a:latin typeface="Arial"/>
            </a:endParaRPr>
          </a:p>
        </p:txBody>
      </p:sp>
      <p:sp>
        <p:nvSpPr>
          <p:cNvPr id="125" name="Rectangle 10"/>
          <p:cNvSpPr/>
          <p:nvPr/>
        </p:nvSpPr>
        <p:spPr>
          <a:xfrm>
            <a:off x="3840480" y="1828800"/>
            <a:ext cx="2742480" cy="10051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6" name="Rectangle 11"/>
          <p:cNvSpPr/>
          <p:nvPr/>
        </p:nvSpPr>
        <p:spPr>
          <a:xfrm>
            <a:off x="3840480" y="1828800"/>
            <a:ext cx="2742480" cy="3600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27" name="TextBox 12"/>
          <p:cNvSpPr/>
          <p:nvPr/>
        </p:nvSpPr>
        <p:spPr>
          <a:xfrm>
            <a:off x="3931920" y="1920240"/>
            <a:ext cx="2559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1" u="none" strike="noStrike">
                <a:solidFill>
                  <a:srgbClr val="7C3AED"/>
                </a:solidFill>
                <a:effectLst/>
                <a:uFillTx/>
                <a:latin typeface="Calibri Bold"/>
              </a:rPr>
              <a:t>sipManager.js</a:t>
            </a:r>
            <a:endParaRPr lang="en-GB" sz="1200" b="0" u="none" strike="noStrike">
              <a:solidFill>
                <a:srgbClr val="FFFFFF"/>
              </a:solidFill>
              <a:effectLst/>
              <a:uFillTx/>
              <a:latin typeface="Arial"/>
            </a:endParaRPr>
          </a:p>
        </p:txBody>
      </p:sp>
      <p:sp>
        <p:nvSpPr>
          <p:cNvPr id="128" name="TextBox 13"/>
          <p:cNvSpPr/>
          <p:nvPr/>
        </p:nvSpPr>
        <p:spPr>
          <a:xfrm>
            <a:off x="3931920" y="2267640"/>
            <a:ext cx="255960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94A3B8"/>
                </a:solidFill>
                <a:effectLst/>
                <a:uFillTx/>
                <a:latin typeface="Calibri"/>
              </a:rPr>
              <a:t>JsSIP UA</a:t>
            </a:r>
            <a:endParaRPr lang="en-GB" sz="1000" b="0" u="none" strike="noStrike">
              <a:solidFill>
                <a:srgbClr val="FFFFFF"/>
              </a:solidFill>
              <a:effectLst/>
              <a:uFillTx/>
              <a:latin typeface="Arial"/>
            </a:endParaRPr>
          </a:p>
          <a:p>
            <a:pPr defTabSz="457200">
              <a:lnSpc>
                <a:spcPct val="100000"/>
              </a:lnSpc>
            </a:pPr>
            <a:r>
              <a:rPr lang="en-US" sz="1000" b="0" u="none" strike="noStrike">
                <a:solidFill>
                  <a:srgbClr val="94A3B8"/>
                </a:solidFill>
                <a:effectLst/>
                <a:uFillTx/>
                <a:latin typeface="Calibri"/>
              </a:rPr>
              <a:t>SIP over WebSocket</a:t>
            </a:r>
            <a:endParaRPr lang="en-GB" sz="1000" b="0" u="none" strike="noStrike">
              <a:solidFill>
                <a:srgbClr val="FFFFFF"/>
              </a:solidFill>
              <a:effectLst/>
              <a:uFillTx/>
              <a:latin typeface="Arial"/>
            </a:endParaRPr>
          </a:p>
        </p:txBody>
      </p:sp>
      <p:sp>
        <p:nvSpPr>
          <p:cNvPr id="129" name="Rectangle 14"/>
          <p:cNvSpPr/>
          <p:nvPr/>
        </p:nvSpPr>
        <p:spPr>
          <a:xfrm>
            <a:off x="6949440" y="1828800"/>
            <a:ext cx="2742480" cy="10051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0" name="Rectangle 15"/>
          <p:cNvSpPr/>
          <p:nvPr/>
        </p:nvSpPr>
        <p:spPr>
          <a:xfrm>
            <a:off x="6949440" y="1828800"/>
            <a:ext cx="2742480" cy="3600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31" name="TextBox 16"/>
          <p:cNvSpPr/>
          <p:nvPr/>
        </p:nvSpPr>
        <p:spPr>
          <a:xfrm>
            <a:off x="7040880" y="1920240"/>
            <a:ext cx="2559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1" u="none" strike="noStrike">
                <a:solidFill>
                  <a:srgbClr val="059669"/>
                </a:solidFill>
                <a:effectLst/>
                <a:uFillTx/>
                <a:latin typeface="Calibri Bold"/>
              </a:rPr>
              <a:t>captureManager.js</a:t>
            </a:r>
            <a:endParaRPr lang="en-GB" sz="1200" b="0" u="none" strike="noStrike">
              <a:solidFill>
                <a:srgbClr val="FFFFFF"/>
              </a:solidFill>
              <a:effectLst/>
              <a:uFillTx/>
              <a:latin typeface="Arial"/>
            </a:endParaRPr>
          </a:p>
        </p:txBody>
      </p:sp>
      <p:sp>
        <p:nvSpPr>
          <p:cNvPr id="132" name="TextBox 17"/>
          <p:cNvSpPr/>
          <p:nvPr/>
        </p:nvSpPr>
        <p:spPr>
          <a:xfrm>
            <a:off x="7040880" y="2267640"/>
            <a:ext cx="255960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94A3B8"/>
                </a:solidFill>
                <a:effectLst/>
                <a:uFillTx/>
                <a:latin typeface="Calibri"/>
              </a:rPr>
              <a:t>pcap writer</a:t>
            </a:r>
            <a:endParaRPr lang="en-GB" sz="1000" b="0" u="none" strike="noStrike">
              <a:solidFill>
                <a:srgbClr val="FFFFFF"/>
              </a:solidFill>
              <a:effectLst/>
              <a:uFillTx/>
              <a:latin typeface="Arial"/>
            </a:endParaRPr>
          </a:p>
          <a:p>
            <a:pPr defTabSz="457200">
              <a:lnSpc>
                <a:spcPct val="100000"/>
              </a:lnSpc>
            </a:pPr>
            <a:r>
              <a:rPr lang="en-US" sz="1000" b="0" u="none" strike="noStrike">
                <a:solidFill>
                  <a:srgbClr val="94A3B8"/>
                </a:solidFill>
                <a:effectLst/>
                <a:uFillTx/>
                <a:latin typeface="Calibri"/>
              </a:rPr>
              <a:t>Pure Node.js</a:t>
            </a:r>
            <a:endParaRPr lang="en-GB" sz="1000" b="0" u="none" strike="noStrike">
              <a:solidFill>
                <a:srgbClr val="FFFFFF"/>
              </a:solidFill>
              <a:effectLst/>
              <a:uFillTx/>
              <a:latin typeface="Arial"/>
            </a:endParaRPr>
          </a:p>
        </p:txBody>
      </p:sp>
      <p:sp>
        <p:nvSpPr>
          <p:cNvPr id="133" name="Rectangle 18"/>
          <p:cNvSpPr/>
          <p:nvPr/>
        </p:nvSpPr>
        <p:spPr>
          <a:xfrm>
            <a:off x="731520" y="3200400"/>
            <a:ext cx="2742480" cy="10051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4" name="Rectangle 19"/>
          <p:cNvSpPr/>
          <p:nvPr/>
        </p:nvSpPr>
        <p:spPr>
          <a:xfrm>
            <a:off x="731520" y="3200400"/>
            <a:ext cx="2742480" cy="3600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35" name="TextBox 20"/>
          <p:cNvSpPr/>
          <p:nvPr/>
        </p:nvSpPr>
        <p:spPr>
          <a:xfrm>
            <a:off x="822960" y="3291840"/>
            <a:ext cx="2559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1" u="none" strike="noStrike">
                <a:solidFill>
                  <a:srgbClr val="D97706"/>
                </a:solidFill>
                <a:effectLst/>
                <a:uFillTx/>
                <a:latin typeface="Calibri Bold"/>
              </a:rPr>
              <a:t>audioDecoder.js</a:t>
            </a:r>
            <a:endParaRPr lang="en-GB" sz="1200" b="0" u="none" strike="noStrike">
              <a:solidFill>
                <a:srgbClr val="FFFFFF"/>
              </a:solidFill>
              <a:effectLst/>
              <a:uFillTx/>
              <a:latin typeface="Arial"/>
            </a:endParaRPr>
          </a:p>
        </p:txBody>
      </p:sp>
      <p:sp>
        <p:nvSpPr>
          <p:cNvPr id="136" name="TextBox 21"/>
          <p:cNvSpPr/>
          <p:nvPr/>
        </p:nvSpPr>
        <p:spPr>
          <a:xfrm>
            <a:off x="822960" y="3639240"/>
            <a:ext cx="255960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94A3B8"/>
                </a:solidFill>
                <a:effectLst/>
                <a:uFillTx/>
                <a:latin typeface="Calibri"/>
              </a:rPr>
              <a:t>G.722/PCMU decode</a:t>
            </a:r>
            <a:endParaRPr lang="en-GB" sz="1000" b="0" u="none" strike="noStrike">
              <a:solidFill>
                <a:srgbClr val="FFFFFF"/>
              </a:solidFill>
              <a:effectLst/>
              <a:uFillTx/>
              <a:latin typeface="Arial"/>
            </a:endParaRPr>
          </a:p>
          <a:p>
            <a:pPr defTabSz="457200">
              <a:lnSpc>
                <a:spcPct val="100000"/>
              </a:lnSpc>
            </a:pPr>
            <a:r>
              <a:rPr lang="en-US" sz="1000" b="0" u="none" strike="noStrike">
                <a:solidFill>
                  <a:srgbClr val="94A3B8"/>
                </a:solidFill>
                <a:effectLst/>
                <a:uFillTx/>
                <a:latin typeface="Calibri"/>
              </a:rPr>
              <a:t>Inbound WAV rec.</a:t>
            </a:r>
            <a:endParaRPr lang="en-GB" sz="1000" b="0" u="none" strike="noStrike">
              <a:solidFill>
                <a:srgbClr val="FFFFFF"/>
              </a:solidFill>
              <a:effectLst/>
              <a:uFillTx/>
              <a:latin typeface="Arial"/>
            </a:endParaRPr>
          </a:p>
        </p:txBody>
      </p:sp>
      <p:sp>
        <p:nvSpPr>
          <p:cNvPr id="137" name="Rectangle 22"/>
          <p:cNvSpPr/>
          <p:nvPr/>
        </p:nvSpPr>
        <p:spPr>
          <a:xfrm>
            <a:off x="3840480" y="3200400"/>
            <a:ext cx="2742480" cy="10051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8" name="Rectangle 23"/>
          <p:cNvSpPr/>
          <p:nvPr/>
        </p:nvSpPr>
        <p:spPr>
          <a:xfrm>
            <a:off x="3840480" y="3200400"/>
            <a:ext cx="2742480" cy="36000"/>
          </a:xfrm>
          <a:prstGeom prst="rect">
            <a:avLst/>
          </a:prstGeom>
          <a:solidFill>
            <a:srgbClr val="06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39" name="TextBox 24"/>
          <p:cNvSpPr/>
          <p:nvPr/>
        </p:nvSpPr>
        <p:spPr>
          <a:xfrm>
            <a:off x="3931920" y="3291840"/>
            <a:ext cx="2559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1" u="none" strike="noStrike">
                <a:solidFill>
                  <a:srgbClr val="069669"/>
                </a:solidFill>
                <a:effectLst/>
                <a:uFillTx/>
                <a:latin typeface="Calibri Bold"/>
              </a:rPr>
              <a:t>callHistory.js</a:t>
            </a:r>
            <a:endParaRPr lang="en-GB" sz="1200" b="0" u="none" strike="noStrike">
              <a:solidFill>
                <a:srgbClr val="FFFFFF"/>
              </a:solidFill>
              <a:effectLst/>
              <a:uFillTx/>
              <a:latin typeface="Arial"/>
            </a:endParaRPr>
          </a:p>
        </p:txBody>
      </p:sp>
      <p:sp>
        <p:nvSpPr>
          <p:cNvPr id="140" name="TextBox 25"/>
          <p:cNvSpPr/>
          <p:nvPr/>
        </p:nvSpPr>
        <p:spPr>
          <a:xfrm>
            <a:off x="3931920" y="3639240"/>
            <a:ext cx="255960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94A3B8"/>
                </a:solidFill>
                <a:effectLst/>
                <a:uFillTx/>
                <a:latin typeface="Calibri"/>
              </a:rPr>
              <a:t>Persistent history</a:t>
            </a:r>
            <a:endParaRPr lang="en-GB" sz="1000" b="0" u="none" strike="noStrike">
              <a:solidFill>
                <a:srgbClr val="FFFFFF"/>
              </a:solidFill>
              <a:effectLst/>
              <a:uFillTx/>
              <a:latin typeface="Arial"/>
            </a:endParaRPr>
          </a:p>
          <a:p>
            <a:pPr defTabSz="457200">
              <a:lnSpc>
                <a:spcPct val="100000"/>
              </a:lnSpc>
            </a:pPr>
            <a:r>
              <a:rPr lang="en-US" sz="1000" b="0" u="none" strike="noStrike">
                <a:solidFill>
                  <a:srgbClr val="94A3B8"/>
                </a:solidFill>
                <a:effectLst/>
                <a:uFillTx/>
                <a:latin typeface="Calibri"/>
              </a:rPr>
              <a:t>JSON + CSV</a:t>
            </a:r>
            <a:endParaRPr lang="en-GB" sz="1000" b="0" u="none" strike="noStrike">
              <a:solidFill>
                <a:srgbClr val="FFFFFF"/>
              </a:solidFill>
              <a:effectLst/>
              <a:uFillTx/>
              <a:latin typeface="Arial"/>
            </a:endParaRPr>
          </a:p>
        </p:txBody>
      </p:sp>
      <p:sp>
        <p:nvSpPr>
          <p:cNvPr id="141" name="Rectangle 26"/>
          <p:cNvSpPr/>
          <p:nvPr/>
        </p:nvSpPr>
        <p:spPr>
          <a:xfrm>
            <a:off x="6949440" y="3200400"/>
            <a:ext cx="2742480" cy="10051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2" name="Rectangle 27"/>
          <p:cNvSpPr/>
          <p:nvPr/>
        </p:nvSpPr>
        <p:spPr>
          <a:xfrm>
            <a:off x="6949440" y="3200400"/>
            <a:ext cx="2742480" cy="3600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43" name="TextBox 28"/>
          <p:cNvSpPr/>
          <p:nvPr/>
        </p:nvSpPr>
        <p:spPr>
          <a:xfrm>
            <a:off x="7040880" y="3291840"/>
            <a:ext cx="255960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1" u="none" strike="noStrike">
                <a:solidFill>
                  <a:srgbClr val="00D4FF"/>
                </a:solidFill>
                <a:effectLst/>
                <a:uFillTx/>
                <a:latin typeface="Calibri Bold"/>
              </a:rPr>
              <a:t>RtpBridge</a:t>
            </a:r>
            <a:endParaRPr lang="en-GB" sz="1200" b="0" u="none" strike="noStrike">
              <a:solidFill>
                <a:srgbClr val="FFFFFF"/>
              </a:solidFill>
              <a:effectLst/>
              <a:uFillTx/>
              <a:latin typeface="Arial"/>
            </a:endParaRPr>
          </a:p>
        </p:txBody>
      </p:sp>
      <p:sp>
        <p:nvSpPr>
          <p:cNvPr id="144" name="TextBox 29"/>
          <p:cNvSpPr/>
          <p:nvPr/>
        </p:nvSpPr>
        <p:spPr>
          <a:xfrm>
            <a:off x="7040880" y="3639240"/>
            <a:ext cx="255960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94A3B8"/>
                </a:solidFill>
                <a:effectLst/>
                <a:uFillTx/>
                <a:latin typeface="Calibri"/>
              </a:rPr>
              <a:t>dgram UDP sockets</a:t>
            </a:r>
            <a:endParaRPr lang="en-GB" sz="1000" b="0" u="none" strike="noStrike">
              <a:solidFill>
                <a:srgbClr val="FFFFFF"/>
              </a:solidFill>
              <a:effectLst/>
              <a:uFillTx/>
              <a:latin typeface="Arial"/>
            </a:endParaRPr>
          </a:p>
          <a:p>
            <a:pPr defTabSz="457200">
              <a:lnSpc>
                <a:spcPct val="100000"/>
              </a:lnSpc>
            </a:pPr>
            <a:r>
              <a:rPr lang="en-US" sz="1000" b="0" u="none" strike="noStrike">
                <a:solidFill>
                  <a:srgbClr val="94A3B8"/>
                </a:solidFill>
                <a:effectLst/>
                <a:uFillTx/>
                <a:latin typeface="Calibri"/>
              </a:rPr>
              <a:t>G.722 inject</a:t>
            </a:r>
            <a:endParaRPr lang="en-GB" sz="1000" b="0" u="none" strike="noStrike">
              <a:solidFill>
                <a:srgbClr val="FFFFFF"/>
              </a:solidFill>
              <a:effectLst/>
              <a:uFillTx/>
              <a:latin typeface="Arial"/>
            </a:endParaRPr>
          </a:p>
        </p:txBody>
      </p:sp>
      <p:sp>
        <p:nvSpPr>
          <p:cNvPr id="145" name="Rectangle 30"/>
          <p:cNvSpPr/>
          <p:nvPr/>
        </p:nvSpPr>
        <p:spPr>
          <a:xfrm>
            <a:off x="731520" y="4663440"/>
            <a:ext cx="4114080" cy="685080"/>
          </a:xfrm>
          <a:prstGeom prst="rect">
            <a:avLst/>
          </a:prstGeom>
          <a:solidFill>
            <a:srgbClr val="1A2E5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6" name="TextBox 31"/>
          <p:cNvSpPr/>
          <p:nvPr/>
        </p:nvSpPr>
        <p:spPr>
          <a:xfrm>
            <a:off x="914400" y="4754880"/>
            <a:ext cx="374832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SIP PBX (Asterisk / FreePBX / Kamailio)</a:t>
            </a:r>
            <a:endParaRPr lang="en-GB" sz="1100" b="0" u="none" strike="noStrike">
              <a:solidFill>
                <a:srgbClr val="FFFFFF"/>
              </a:solidFill>
              <a:effectLst/>
              <a:uFillTx/>
              <a:latin typeface="Arial"/>
            </a:endParaRPr>
          </a:p>
        </p:txBody>
      </p:sp>
      <p:sp>
        <p:nvSpPr>
          <p:cNvPr id="147" name="Rectangle 32"/>
          <p:cNvSpPr/>
          <p:nvPr/>
        </p:nvSpPr>
        <p:spPr>
          <a:xfrm>
            <a:off x="5303520" y="4663440"/>
            <a:ext cx="4114080" cy="685080"/>
          </a:xfrm>
          <a:prstGeom prst="rect">
            <a:avLst/>
          </a:prstGeom>
          <a:solidFill>
            <a:srgbClr val="1A2E5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8" name="TextBox 33"/>
          <p:cNvSpPr/>
          <p:nvPr/>
        </p:nvSpPr>
        <p:spPr>
          <a:xfrm>
            <a:off x="5486400" y="4754880"/>
            <a:ext cx="374832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Browser / REST Client</a:t>
            </a:r>
            <a:endParaRPr lang="en-GB" sz="1100" b="0" u="none" strike="noStrike">
              <a:solidFill>
                <a:srgbClr val="FFFFFF"/>
              </a:solidFill>
              <a:effectLst/>
              <a:uFillTx/>
              <a:latin typeface="Arial"/>
            </a:endParaRPr>
          </a:p>
        </p:txBody>
      </p:sp>
      <p:sp>
        <p:nvSpPr>
          <p:cNvPr id="149" name="Rectangle 34"/>
          <p:cNvSpPr/>
          <p:nvPr/>
        </p:nvSpPr>
        <p:spPr>
          <a:xfrm>
            <a:off x="9784080" y="4663440"/>
            <a:ext cx="1828080" cy="685080"/>
          </a:xfrm>
          <a:prstGeom prst="rect">
            <a:avLst/>
          </a:prstGeom>
          <a:solidFill>
            <a:srgbClr val="1A2E5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0" name="TextBox 35"/>
          <p:cNvSpPr/>
          <p:nvPr/>
        </p:nvSpPr>
        <p:spPr>
          <a:xfrm>
            <a:off x="9966960" y="4754880"/>
            <a:ext cx="1645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Wireshark</a:t>
            </a:r>
            <a:endParaRPr lang="en-GB" sz="1100" b="0" u="none" strike="noStrike">
              <a:solidFill>
                <a:srgbClr val="FFFFFF"/>
              </a:solidFill>
              <a:effectLst/>
              <a:uFillTx/>
              <a:latin typeface="Arial"/>
            </a:endParaRPr>
          </a:p>
        </p:txBody>
      </p:sp>
      <p:sp>
        <p:nvSpPr>
          <p:cNvPr id="151" name="TextBox 36"/>
          <p:cNvSpPr/>
          <p:nvPr/>
        </p:nvSpPr>
        <p:spPr>
          <a:xfrm>
            <a:off x="1645920" y="4343400"/>
            <a:ext cx="1828080" cy="273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00" b="0" i="1" u="none" strike="noStrike">
                <a:solidFill>
                  <a:srgbClr val="94A3B8"/>
                </a:solidFill>
                <a:effectLst/>
                <a:uFillTx/>
                <a:latin typeface="Calibri"/>
              </a:rPr>
              <a:t>SIP/WS  ←→</a:t>
            </a:r>
            <a:endParaRPr lang="en-GB" sz="900" b="0" u="none" strike="noStrike">
              <a:solidFill>
                <a:srgbClr val="FFFFFF"/>
              </a:solidFill>
              <a:effectLst/>
              <a:uFillTx/>
              <a:latin typeface="Arial"/>
            </a:endParaRPr>
          </a:p>
        </p:txBody>
      </p:sp>
      <p:sp>
        <p:nvSpPr>
          <p:cNvPr id="152" name="TextBox 37"/>
          <p:cNvSpPr/>
          <p:nvPr/>
        </p:nvSpPr>
        <p:spPr>
          <a:xfrm>
            <a:off x="6400800" y="4343400"/>
            <a:ext cx="1828080" cy="273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00" b="0" i="1" u="none" strike="noStrike">
                <a:solidFill>
                  <a:srgbClr val="94A3B8"/>
                </a:solidFill>
                <a:effectLst/>
                <a:uFillTx/>
                <a:latin typeface="Calibri"/>
              </a:rPr>
              <a:t>RTP/UDP ←→</a:t>
            </a:r>
            <a:endParaRPr lang="en-GB" sz="900" b="0" u="none" strike="noStrike">
              <a:solidFill>
                <a:srgbClr val="FFFFFF"/>
              </a:solidFill>
              <a:effectLst/>
              <a:uFillTx/>
              <a:latin typeface="Arial"/>
            </a:endParaRPr>
          </a:p>
        </p:txBody>
      </p:sp>
      <p:sp>
        <p:nvSpPr>
          <p:cNvPr id="153" name="TextBox 38"/>
          <p:cNvSpPr/>
          <p:nvPr/>
        </p:nvSpPr>
        <p:spPr>
          <a:xfrm>
            <a:off x="4572000" y="4343400"/>
            <a:ext cx="1828080" cy="273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00" b="0" i="1" u="none" strike="noStrike">
                <a:solidFill>
                  <a:srgbClr val="94A3B8"/>
                </a:solidFill>
                <a:effectLst/>
                <a:uFillTx/>
                <a:latin typeface="Calibri"/>
              </a:rPr>
              <a:t>HTTP/WS ←→</a:t>
            </a:r>
            <a:endParaRPr lang="en-GB" sz="900" b="0" u="none" strike="noStrike">
              <a:solidFill>
                <a:srgbClr val="FFFFFF"/>
              </a:solidFill>
              <a:effectLst/>
              <a:uFillTx/>
              <a:latin typeface="Arial"/>
            </a:endParaRPr>
          </a:p>
        </p:txBody>
      </p:sp>
      <p:sp>
        <p:nvSpPr>
          <p:cNvPr id="154" name="TextBox 39"/>
          <p:cNvSpPr/>
          <p:nvPr/>
        </p:nvSpPr>
        <p:spPr>
          <a:xfrm>
            <a:off x="10058400" y="4343400"/>
            <a:ext cx="1370880" cy="273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00" b="0" i="1" u="none" strike="noStrike">
                <a:solidFill>
                  <a:srgbClr val="94A3B8"/>
                </a:solidFill>
                <a:effectLst/>
                <a:uFillTx/>
                <a:latin typeface="Calibri"/>
              </a:rPr>
              <a:t>.pcap</a:t>
            </a:r>
            <a:endParaRPr lang="en-GB"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155" name="TextBox 1"/>
          <p:cNvSpPr/>
          <p:nvPr/>
        </p:nvSpPr>
        <p:spPr>
          <a:xfrm>
            <a:off x="548640" y="274320"/>
            <a:ext cx="10972080" cy="639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FFFFFF"/>
                </a:solidFill>
                <a:effectLst/>
                <a:uFillTx/>
                <a:latin typeface="Calibri Bold"/>
              </a:rPr>
              <a:t>SIP &amp; Media Stack</a:t>
            </a:r>
            <a:endParaRPr lang="en-GB" sz="3400" b="0" u="none" strike="noStrike">
              <a:solidFill>
                <a:srgbClr val="FFFFFF"/>
              </a:solidFill>
              <a:effectLst/>
              <a:uFillTx/>
              <a:latin typeface="Arial"/>
            </a:endParaRPr>
          </a:p>
        </p:txBody>
      </p:sp>
      <p:sp>
        <p:nvSpPr>
          <p:cNvPr id="156" name="Rectangle 2"/>
          <p:cNvSpPr/>
          <p:nvPr/>
        </p:nvSpPr>
        <p:spPr>
          <a:xfrm>
            <a:off x="548640" y="960120"/>
            <a:ext cx="109720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57" name="TextBox 3"/>
          <p:cNvSpPr/>
          <p:nvPr/>
        </p:nvSpPr>
        <p:spPr>
          <a:xfrm>
            <a:off x="548640" y="1188720"/>
            <a:ext cx="548568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00D4FF"/>
                </a:solidFill>
                <a:effectLst/>
                <a:uFillTx/>
                <a:latin typeface="Calibri Bold"/>
              </a:rPr>
              <a:t>SIP Signalling</a:t>
            </a:r>
            <a:endParaRPr lang="en-GB" sz="1800" b="0" u="none" strike="noStrike">
              <a:solidFill>
                <a:srgbClr val="FFFFFF"/>
              </a:solidFill>
              <a:effectLst/>
              <a:uFillTx/>
              <a:latin typeface="Arial"/>
            </a:endParaRPr>
          </a:p>
        </p:txBody>
      </p:sp>
      <p:sp>
        <p:nvSpPr>
          <p:cNvPr id="158" name="TextBox 4"/>
          <p:cNvSpPr/>
          <p:nvPr/>
        </p:nvSpPr>
        <p:spPr>
          <a:xfrm>
            <a:off x="548640" y="169164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Library:</a:t>
            </a:r>
            <a:endParaRPr lang="en-GB" sz="1100" b="0" u="none" strike="noStrike">
              <a:solidFill>
                <a:srgbClr val="FFFFFF"/>
              </a:solidFill>
              <a:effectLst/>
              <a:uFillTx/>
              <a:latin typeface="Arial"/>
            </a:endParaRPr>
          </a:p>
        </p:txBody>
      </p:sp>
      <p:sp>
        <p:nvSpPr>
          <p:cNvPr id="159" name="TextBox 5"/>
          <p:cNvSpPr/>
          <p:nvPr/>
        </p:nvSpPr>
        <p:spPr>
          <a:xfrm>
            <a:off x="1920240" y="1691640"/>
            <a:ext cx="3931200" cy="25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JsSIP 3.10 - battle-tested WebSocket SIP stack</a:t>
            </a:r>
            <a:endParaRPr lang="en-GB" sz="1100" b="0" u="none" strike="noStrike">
              <a:solidFill>
                <a:srgbClr val="FFFFFF"/>
              </a:solidFill>
              <a:effectLst/>
              <a:uFillTx/>
              <a:latin typeface="Arial"/>
            </a:endParaRPr>
          </a:p>
        </p:txBody>
      </p:sp>
      <p:sp>
        <p:nvSpPr>
          <p:cNvPr id="160" name="TextBox 6"/>
          <p:cNvSpPr/>
          <p:nvPr/>
        </p:nvSpPr>
        <p:spPr>
          <a:xfrm>
            <a:off x="548640" y="225864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Transport:</a:t>
            </a:r>
            <a:endParaRPr lang="en-GB" sz="1100" b="0" u="none" strike="noStrike">
              <a:solidFill>
                <a:srgbClr val="FFFFFF"/>
              </a:solidFill>
              <a:effectLst/>
              <a:uFillTx/>
              <a:latin typeface="Arial"/>
            </a:endParaRPr>
          </a:p>
        </p:txBody>
      </p:sp>
      <p:sp>
        <p:nvSpPr>
          <p:cNvPr id="161" name="TextBox 7"/>
          <p:cNvSpPr/>
          <p:nvPr/>
        </p:nvSpPr>
        <p:spPr>
          <a:xfrm>
            <a:off x="1920240" y="2258640"/>
            <a:ext cx="3931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WebSocket (ws:// or wss://) to PBX port 8088</a:t>
            </a:r>
            <a:endParaRPr lang="en-GB" sz="1100" b="0" u="none" strike="noStrike">
              <a:solidFill>
                <a:srgbClr val="FFFFFF"/>
              </a:solidFill>
              <a:effectLst/>
              <a:uFillTx/>
              <a:latin typeface="Arial"/>
            </a:endParaRPr>
          </a:p>
        </p:txBody>
      </p:sp>
      <p:sp>
        <p:nvSpPr>
          <p:cNvPr id="162" name="TextBox 8"/>
          <p:cNvSpPr/>
          <p:nvPr/>
        </p:nvSpPr>
        <p:spPr>
          <a:xfrm>
            <a:off x="548640" y="282564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Node.js fix:</a:t>
            </a:r>
            <a:endParaRPr lang="en-GB" sz="1100" b="0" u="none" strike="noStrike">
              <a:solidFill>
                <a:srgbClr val="FFFFFF"/>
              </a:solidFill>
              <a:effectLst/>
              <a:uFillTx/>
              <a:latin typeface="Arial"/>
            </a:endParaRPr>
          </a:p>
        </p:txBody>
      </p:sp>
      <p:sp>
        <p:nvSpPr>
          <p:cNvPr id="163" name="TextBox 9"/>
          <p:cNvSpPr/>
          <p:nvPr/>
        </p:nvSpPr>
        <p:spPr>
          <a:xfrm>
            <a:off x="1920240" y="2825640"/>
            <a:ext cx="3931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global.WebSocket + RTCPeerConnection stubs</a:t>
            </a:r>
            <a:endParaRPr lang="en-GB" sz="1100" b="0" u="none" strike="noStrike">
              <a:solidFill>
                <a:srgbClr val="FFFFFF"/>
              </a:solidFill>
              <a:effectLst/>
              <a:uFillTx/>
              <a:latin typeface="Arial"/>
            </a:endParaRPr>
          </a:p>
        </p:txBody>
      </p:sp>
      <p:sp>
        <p:nvSpPr>
          <p:cNvPr id="164" name="TextBox 10"/>
          <p:cNvSpPr/>
          <p:nvPr/>
        </p:nvSpPr>
        <p:spPr>
          <a:xfrm>
            <a:off x="548640" y="339228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ICE bypass:</a:t>
            </a:r>
            <a:endParaRPr lang="en-GB" sz="1100" b="0" u="none" strike="noStrike">
              <a:solidFill>
                <a:srgbClr val="FFFFFF"/>
              </a:solidFill>
              <a:effectLst/>
              <a:uFillTx/>
              <a:latin typeface="Arial"/>
            </a:endParaRPr>
          </a:p>
        </p:txBody>
      </p:sp>
      <p:sp>
        <p:nvSpPr>
          <p:cNvPr id="165" name="TextBox 11"/>
          <p:cNvSpPr/>
          <p:nvPr/>
        </p:nvSpPr>
        <p:spPr>
          <a:xfrm>
            <a:off x="1920240" y="3392280"/>
            <a:ext cx="3931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onicecandidate(null) fired immediately in setLocalDescription</a:t>
            </a:r>
            <a:endParaRPr lang="en-GB" sz="1100" b="0" u="none" strike="noStrike">
              <a:solidFill>
                <a:srgbClr val="FFFFFF"/>
              </a:solidFill>
              <a:effectLst/>
              <a:uFillTx/>
              <a:latin typeface="Arial"/>
            </a:endParaRPr>
          </a:p>
        </p:txBody>
      </p:sp>
      <p:sp>
        <p:nvSpPr>
          <p:cNvPr id="166" name="TextBox 12"/>
          <p:cNvSpPr/>
          <p:nvPr/>
        </p:nvSpPr>
        <p:spPr>
          <a:xfrm>
            <a:off x="548640" y="395928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SDP:</a:t>
            </a:r>
            <a:endParaRPr lang="en-GB" sz="1100" b="0" u="none" strike="noStrike">
              <a:solidFill>
                <a:srgbClr val="FFFFFF"/>
              </a:solidFill>
              <a:effectLst/>
              <a:uFillTx/>
              <a:latin typeface="Arial"/>
            </a:endParaRPr>
          </a:p>
        </p:txBody>
      </p:sp>
      <p:sp>
        <p:nvSpPr>
          <p:cNvPr id="167" name="TextBox 13"/>
          <p:cNvSpPr/>
          <p:nvPr/>
        </p:nvSpPr>
        <p:spPr>
          <a:xfrm>
            <a:off x="1920240" y="3959280"/>
            <a:ext cx="3931200" cy="25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Hand-built offer/answer - G.722 + PCMU + PCMA + tel-event</a:t>
            </a:r>
            <a:endParaRPr lang="en-GB" sz="1100" b="0" u="none" strike="noStrike">
              <a:solidFill>
                <a:srgbClr val="FFFFFF"/>
              </a:solidFill>
              <a:effectLst/>
              <a:uFillTx/>
              <a:latin typeface="Arial"/>
            </a:endParaRPr>
          </a:p>
        </p:txBody>
      </p:sp>
      <p:sp>
        <p:nvSpPr>
          <p:cNvPr id="168" name="TextBox 14"/>
          <p:cNvSpPr/>
          <p:nvPr/>
        </p:nvSpPr>
        <p:spPr>
          <a:xfrm>
            <a:off x="548640" y="452628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Hold:</a:t>
            </a:r>
            <a:endParaRPr lang="en-GB" sz="1100" b="0" u="none" strike="noStrike">
              <a:solidFill>
                <a:srgbClr val="FFFFFF"/>
              </a:solidFill>
              <a:effectLst/>
              <a:uFillTx/>
              <a:latin typeface="Arial"/>
            </a:endParaRPr>
          </a:p>
        </p:txBody>
      </p:sp>
      <p:sp>
        <p:nvSpPr>
          <p:cNvPr id="169" name="TextBox 15"/>
          <p:cNvSpPr/>
          <p:nvPr/>
        </p:nvSpPr>
        <p:spPr>
          <a:xfrm>
            <a:off x="1920240" y="4526280"/>
            <a:ext cx="3931200" cy="25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Raw re-INVITE via transport._ws - avoids getSenders()</a:t>
            </a:r>
            <a:endParaRPr lang="en-GB" sz="1100" b="0" u="none" strike="noStrike">
              <a:solidFill>
                <a:srgbClr val="FFFFFF"/>
              </a:solidFill>
              <a:effectLst/>
              <a:uFillTx/>
              <a:latin typeface="Arial"/>
            </a:endParaRPr>
          </a:p>
        </p:txBody>
      </p:sp>
      <p:sp>
        <p:nvSpPr>
          <p:cNvPr id="170" name="TextBox 16"/>
          <p:cNvSpPr/>
          <p:nvPr/>
        </p:nvSpPr>
        <p:spPr>
          <a:xfrm>
            <a:off x="548640" y="509328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Transfer:</a:t>
            </a:r>
            <a:endParaRPr lang="en-GB" sz="1100" b="0" u="none" strike="noStrike">
              <a:solidFill>
                <a:srgbClr val="FFFFFF"/>
              </a:solidFill>
              <a:effectLst/>
              <a:uFillTx/>
              <a:latin typeface="Arial"/>
            </a:endParaRPr>
          </a:p>
        </p:txBody>
      </p:sp>
      <p:sp>
        <p:nvSpPr>
          <p:cNvPr id="171" name="TextBox 17"/>
          <p:cNvSpPr/>
          <p:nvPr/>
        </p:nvSpPr>
        <p:spPr>
          <a:xfrm>
            <a:off x="1920240" y="5093280"/>
            <a:ext cx="3931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REFER (blind) and REFER+Replaces (attended)</a:t>
            </a:r>
            <a:endParaRPr lang="en-GB" sz="1100" b="0" u="none" strike="noStrike">
              <a:solidFill>
                <a:srgbClr val="FFFFFF"/>
              </a:solidFill>
              <a:effectLst/>
              <a:uFillTx/>
              <a:latin typeface="Arial"/>
            </a:endParaRPr>
          </a:p>
        </p:txBody>
      </p:sp>
      <p:sp>
        <p:nvSpPr>
          <p:cNvPr id="172" name="TextBox 18"/>
          <p:cNvSpPr/>
          <p:nvPr/>
        </p:nvSpPr>
        <p:spPr>
          <a:xfrm>
            <a:off x="548640" y="566028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DTMF:</a:t>
            </a:r>
            <a:endParaRPr lang="en-GB" sz="1100" b="0" u="none" strike="noStrike">
              <a:solidFill>
                <a:srgbClr val="FFFFFF"/>
              </a:solidFill>
              <a:effectLst/>
              <a:uFillTx/>
              <a:latin typeface="Arial"/>
            </a:endParaRPr>
          </a:p>
        </p:txBody>
      </p:sp>
      <p:sp>
        <p:nvSpPr>
          <p:cNvPr id="173" name="TextBox 19"/>
          <p:cNvSpPr/>
          <p:nvPr/>
        </p:nvSpPr>
        <p:spPr>
          <a:xfrm>
            <a:off x="1920240" y="5660280"/>
            <a:ext cx="3931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RFC 2833 telephone-event via session.sendDTMF()</a:t>
            </a:r>
            <a:endParaRPr lang="en-GB" sz="1100" b="0" u="none" strike="noStrike">
              <a:solidFill>
                <a:srgbClr val="FFFFFF"/>
              </a:solidFill>
              <a:effectLst/>
              <a:uFillTx/>
              <a:latin typeface="Arial"/>
            </a:endParaRPr>
          </a:p>
        </p:txBody>
      </p:sp>
      <p:sp>
        <p:nvSpPr>
          <p:cNvPr id="174" name="Rectangle 20"/>
          <p:cNvSpPr/>
          <p:nvPr/>
        </p:nvSpPr>
        <p:spPr>
          <a:xfrm>
            <a:off x="6126480" y="1097280"/>
            <a:ext cx="36000" cy="5394240"/>
          </a:xfrm>
          <a:prstGeom prst="rect">
            <a:avLst/>
          </a:prstGeom>
          <a:solidFill>
            <a:srgbClr val="2E3D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000" tIns="45000" rIns="18000" bIns="45000" anchor="ctr">
            <a:noAutofit/>
          </a:bodyPr>
          <a:p>
            <a:endParaRPr lang="en-US" sz="1800" b="0" u="none" strike="noStrike">
              <a:solidFill>
                <a:schemeClr val="lt1"/>
              </a:solidFill>
              <a:effectLst/>
              <a:uFillTx/>
              <a:latin typeface="Calibri"/>
            </a:endParaRPr>
          </a:p>
        </p:txBody>
      </p:sp>
      <p:sp>
        <p:nvSpPr>
          <p:cNvPr id="175" name="TextBox 21"/>
          <p:cNvSpPr/>
          <p:nvPr/>
        </p:nvSpPr>
        <p:spPr>
          <a:xfrm>
            <a:off x="6400800" y="1188720"/>
            <a:ext cx="548568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00D4FF"/>
                </a:solidFill>
                <a:effectLst/>
                <a:uFillTx/>
                <a:latin typeface="Calibri Bold"/>
              </a:rPr>
              <a:t>RTP Media</a:t>
            </a:r>
            <a:endParaRPr lang="en-GB" sz="1800" b="0" u="none" strike="noStrike">
              <a:solidFill>
                <a:srgbClr val="FFFFFF"/>
              </a:solidFill>
              <a:effectLst/>
              <a:uFillTx/>
              <a:latin typeface="Arial"/>
            </a:endParaRPr>
          </a:p>
        </p:txBody>
      </p:sp>
      <p:sp>
        <p:nvSpPr>
          <p:cNvPr id="176" name="TextBox 22"/>
          <p:cNvSpPr/>
          <p:nvPr/>
        </p:nvSpPr>
        <p:spPr>
          <a:xfrm>
            <a:off x="6400800" y="169164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Engine:</a:t>
            </a:r>
            <a:endParaRPr lang="en-GB" sz="1100" b="0" u="none" strike="noStrike">
              <a:solidFill>
                <a:srgbClr val="FFFFFF"/>
              </a:solidFill>
              <a:effectLst/>
              <a:uFillTx/>
              <a:latin typeface="Arial"/>
            </a:endParaRPr>
          </a:p>
        </p:txBody>
      </p:sp>
      <p:sp>
        <p:nvSpPr>
          <p:cNvPr id="177" name="TextBox 23"/>
          <p:cNvSpPr/>
          <p:nvPr/>
        </p:nvSpPr>
        <p:spPr>
          <a:xfrm>
            <a:off x="7818120" y="1691640"/>
            <a:ext cx="3931200" cy="25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Node.js dgram UDP - no WebRTC, no audio hardware</a:t>
            </a:r>
            <a:endParaRPr lang="en-GB" sz="1100" b="0" u="none" strike="noStrike">
              <a:solidFill>
                <a:srgbClr val="FFFFFF"/>
              </a:solidFill>
              <a:effectLst/>
              <a:uFillTx/>
              <a:latin typeface="Arial"/>
            </a:endParaRPr>
          </a:p>
        </p:txBody>
      </p:sp>
      <p:sp>
        <p:nvSpPr>
          <p:cNvPr id="178" name="TextBox 24"/>
          <p:cNvSpPr/>
          <p:nvPr/>
        </p:nvSpPr>
        <p:spPr>
          <a:xfrm>
            <a:off x="6400800" y="225864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Codecs:</a:t>
            </a:r>
            <a:endParaRPr lang="en-GB" sz="1100" b="0" u="none" strike="noStrike">
              <a:solidFill>
                <a:srgbClr val="FFFFFF"/>
              </a:solidFill>
              <a:effectLst/>
              <a:uFillTx/>
              <a:latin typeface="Arial"/>
            </a:endParaRPr>
          </a:p>
        </p:txBody>
      </p:sp>
      <p:sp>
        <p:nvSpPr>
          <p:cNvPr id="179" name="TextBox 25"/>
          <p:cNvSpPr/>
          <p:nvPr/>
        </p:nvSpPr>
        <p:spPr>
          <a:xfrm>
            <a:off x="7818120" y="2258640"/>
            <a:ext cx="3931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G.722 (preferred) · PCMU/G.711μ · PCMA/G.711A</a:t>
            </a:r>
            <a:endParaRPr lang="en-GB" sz="1100" b="0" u="none" strike="noStrike">
              <a:solidFill>
                <a:srgbClr val="FFFFFF"/>
              </a:solidFill>
              <a:effectLst/>
              <a:uFillTx/>
              <a:latin typeface="Arial"/>
            </a:endParaRPr>
          </a:p>
        </p:txBody>
      </p:sp>
      <p:sp>
        <p:nvSpPr>
          <p:cNvPr id="180" name="TextBox 26"/>
          <p:cNvSpPr/>
          <p:nvPr/>
        </p:nvSpPr>
        <p:spPr>
          <a:xfrm>
            <a:off x="6400800" y="282564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G.722:</a:t>
            </a:r>
            <a:endParaRPr lang="en-GB" sz="1100" b="0" u="none" strike="noStrike">
              <a:solidFill>
                <a:srgbClr val="FFFFFF"/>
              </a:solidFill>
              <a:effectLst/>
              <a:uFillTx/>
              <a:latin typeface="Arial"/>
            </a:endParaRPr>
          </a:p>
        </p:txBody>
      </p:sp>
      <p:sp>
        <p:nvSpPr>
          <p:cNvPr id="181" name="TextBox 27"/>
          <p:cNvSpPr/>
          <p:nvPr/>
        </p:nvSpPr>
        <p:spPr>
          <a:xfrm>
            <a:off x="7818120" y="2825640"/>
            <a:ext cx="3931200" cy="25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16kHz wideband ADPCM - RTP clock 8000 per RFC 3551</a:t>
            </a:r>
            <a:endParaRPr lang="en-GB" sz="1100" b="0" u="none" strike="noStrike">
              <a:solidFill>
                <a:srgbClr val="FFFFFF"/>
              </a:solidFill>
              <a:effectLst/>
              <a:uFillTx/>
              <a:latin typeface="Arial"/>
            </a:endParaRPr>
          </a:p>
        </p:txBody>
      </p:sp>
      <p:sp>
        <p:nvSpPr>
          <p:cNvPr id="182" name="TextBox 28"/>
          <p:cNvSpPr/>
          <p:nvPr/>
        </p:nvSpPr>
        <p:spPr>
          <a:xfrm>
            <a:off x="6400800" y="339228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Framing:</a:t>
            </a:r>
            <a:endParaRPr lang="en-GB" sz="1100" b="0" u="none" strike="noStrike">
              <a:solidFill>
                <a:srgbClr val="FFFFFF"/>
              </a:solidFill>
              <a:effectLst/>
              <a:uFillTx/>
              <a:latin typeface="Arial"/>
            </a:endParaRPr>
          </a:p>
        </p:txBody>
      </p:sp>
      <p:sp>
        <p:nvSpPr>
          <p:cNvPr id="183" name="TextBox 29"/>
          <p:cNvSpPr/>
          <p:nvPr/>
        </p:nvSpPr>
        <p:spPr>
          <a:xfrm>
            <a:off x="7818120" y="3392280"/>
            <a:ext cx="3931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20ms frames, 160 bytes @ G.722 (64kbps)</a:t>
            </a:r>
            <a:endParaRPr lang="en-GB" sz="1100" b="0" u="none" strike="noStrike">
              <a:solidFill>
                <a:srgbClr val="FFFFFF"/>
              </a:solidFill>
              <a:effectLst/>
              <a:uFillTx/>
              <a:latin typeface="Arial"/>
            </a:endParaRPr>
          </a:p>
        </p:txBody>
      </p:sp>
      <p:sp>
        <p:nvSpPr>
          <p:cNvPr id="184" name="TextBox 30"/>
          <p:cNvSpPr/>
          <p:nvPr/>
        </p:nvSpPr>
        <p:spPr>
          <a:xfrm>
            <a:off x="6400800" y="395928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Playback:</a:t>
            </a:r>
            <a:endParaRPr lang="en-GB" sz="1100" b="0" u="none" strike="noStrike">
              <a:solidFill>
                <a:srgbClr val="FFFFFF"/>
              </a:solidFill>
              <a:effectLst/>
              <a:uFillTx/>
              <a:latin typeface="Arial"/>
            </a:endParaRPr>
          </a:p>
        </p:txBody>
      </p:sp>
      <p:sp>
        <p:nvSpPr>
          <p:cNvPr id="185" name="TextBox 31"/>
          <p:cNvSpPr/>
          <p:nvPr/>
        </p:nvSpPr>
        <p:spPr>
          <a:xfrm>
            <a:off x="7818120" y="3959280"/>
            <a:ext cx="3931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Pre-encoded G.722 file → injected into stream SSRC</a:t>
            </a:r>
            <a:endParaRPr lang="en-GB" sz="1100" b="0" u="none" strike="noStrike">
              <a:solidFill>
                <a:srgbClr val="FFFFFF"/>
              </a:solidFill>
              <a:effectLst/>
              <a:uFillTx/>
              <a:latin typeface="Arial"/>
            </a:endParaRPr>
          </a:p>
        </p:txBody>
      </p:sp>
      <p:sp>
        <p:nvSpPr>
          <p:cNvPr id="186" name="TextBox 32"/>
          <p:cNvSpPr/>
          <p:nvPr/>
        </p:nvSpPr>
        <p:spPr>
          <a:xfrm>
            <a:off x="6400800" y="452628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Recording:</a:t>
            </a:r>
            <a:endParaRPr lang="en-GB" sz="1100" b="0" u="none" strike="noStrike">
              <a:solidFill>
                <a:srgbClr val="FFFFFF"/>
              </a:solidFill>
              <a:effectLst/>
              <a:uFillTx/>
              <a:latin typeface="Arial"/>
            </a:endParaRPr>
          </a:p>
        </p:txBody>
      </p:sp>
      <p:sp>
        <p:nvSpPr>
          <p:cNvPr id="187" name="TextBox 33"/>
          <p:cNvSpPr/>
          <p:nvPr/>
        </p:nvSpPr>
        <p:spPr>
          <a:xfrm>
            <a:off x="7818120" y="4526280"/>
            <a:ext cx="3931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G.722 decoder → 16kHz PCM → WAV file per call</a:t>
            </a:r>
            <a:endParaRPr lang="en-GB" sz="1100" b="0" u="none" strike="noStrike">
              <a:solidFill>
                <a:srgbClr val="FFFFFF"/>
              </a:solidFill>
              <a:effectLst/>
              <a:uFillTx/>
              <a:latin typeface="Arial"/>
            </a:endParaRPr>
          </a:p>
        </p:txBody>
      </p:sp>
      <p:sp>
        <p:nvSpPr>
          <p:cNvPr id="188" name="TextBox 34"/>
          <p:cNvSpPr/>
          <p:nvPr/>
        </p:nvSpPr>
        <p:spPr>
          <a:xfrm>
            <a:off x="6400800" y="509328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Capture:</a:t>
            </a:r>
            <a:endParaRPr lang="en-GB" sz="1100" b="0" u="none" strike="noStrike">
              <a:solidFill>
                <a:srgbClr val="FFFFFF"/>
              </a:solidFill>
              <a:effectLst/>
              <a:uFillTx/>
              <a:latin typeface="Arial"/>
            </a:endParaRPr>
          </a:p>
        </p:txBody>
      </p:sp>
      <p:sp>
        <p:nvSpPr>
          <p:cNvPr id="189" name="TextBox 35"/>
          <p:cNvSpPr/>
          <p:nvPr/>
        </p:nvSpPr>
        <p:spPr>
          <a:xfrm>
            <a:off x="7818120" y="5093280"/>
            <a:ext cx="3931200" cy="456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libpcap-format .pcap, pure Node.js, no tcpdump</a:t>
            </a:r>
            <a:endParaRPr lang="en-GB" sz="1100" b="0" u="none" strike="noStrike">
              <a:solidFill>
                <a:srgbClr val="FFFFFF"/>
              </a:solidFill>
              <a:effectLst/>
              <a:uFillTx/>
              <a:latin typeface="Arial"/>
            </a:endParaRPr>
          </a:p>
        </p:txBody>
      </p:sp>
      <p:sp>
        <p:nvSpPr>
          <p:cNvPr id="190" name="TextBox 36"/>
          <p:cNvSpPr/>
          <p:nvPr/>
        </p:nvSpPr>
        <p:spPr>
          <a:xfrm>
            <a:off x="6400800" y="5660280"/>
            <a:ext cx="1279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2563EB"/>
                </a:solidFill>
                <a:effectLst/>
                <a:uFillTx/>
                <a:latin typeface="Calibri Bold"/>
              </a:rPr>
              <a:t>Cloud NAT:</a:t>
            </a:r>
            <a:endParaRPr lang="en-GB" sz="1100" b="0" u="none" strike="noStrike">
              <a:solidFill>
                <a:srgbClr val="FFFFFF"/>
              </a:solidFill>
              <a:effectLst/>
              <a:uFillTx/>
              <a:latin typeface="Arial"/>
            </a:endParaRPr>
          </a:p>
        </p:txBody>
      </p:sp>
      <p:sp>
        <p:nvSpPr>
          <p:cNvPr id="191" name="TextBox 37"/>
          <p:cNvSpPr/>
          <p:nvPr/>
        </p:nvSpPr>
        <p:spPr>
          <a:xfrm>
            <a:off x="7818120" y="5660280"/>
            <a:ext cx="3931200" cy="25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F0F4FF"/>
                </a:solidFill>
                <a:effectLst/>
                <a:uFillTx/>
                <a:latin typeface="Calibri"/>
              </a:rPr>
              <a:t>No audio HW needed - works on any cloud VM</a:t>
            </a:r>
            <a:endParaRPr lang="en-GB"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192" name="TextBox 1"/>
          <p:cNvSpPr/>
          <p:nvPr/>
        </p:nvSpPr>
        <p:spPr>
          <a:xfrm>
            <a:off x="548640" y="274320"/>
            <a:ext cx="10972080" cy="639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FFFFFF"/>
                </a:solidFill>
                <a:effectLst/>
                <a:uFillTx/>
                <a:latin typeface="Calibri Bold"/>
              </a:rPr>
              <a:t>Feature Set</a:t>
            </a:r>
            <a:endParaRPr lang="en-GB" sz="3400" b="0" u="none" strike="noStrike">
              <a:solidFill>
                <a:srgbClr val="FFFFFF"/>
              </a:solidFill>
              <a:effectLst/>
              <a:uFillTx/>
              <a:latin typeface="Arial"/>
            </a:endParaRPr>
          </a:p>
        </p:txBody>
      </p:sp>
      <p:sp>
        <p:nvSpPr>
          <p:cNvPr id="193" name="Rectangle 2"/>
          <p:cNvSpPr/>
          <p:nvPr/>
        </p:nvSpPr>
        <p:spPr>
          <a:xfrm>
            <a:off x="548640" y="960120"/>
            <a:ext cx="109720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94" name="Rectangle 3"/>
          <p:cNvSpPr/>
          <p:nvPr/>
        </p:nvSpPr>
        <p:spPr>
          <a:xfrm>
            <a:off x="457200" y="1280160"/>
            <a:ext cx="3656880" cy="23767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5" name="Rectangle 4"/>
          <p:cNvSpPr/>
          <p:nvPr/>
        </p:nvSpPr>
        <p:spPr>
          <a:xfrm>
            <a:off x="457200" y="1280160"/>
            <a:ext cx="36568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196" name="Rectangle 5"/>
          <p:cNvSpPr/>
          <p:nvPr/>
        </p:nvSpPr>
        <p:spPr>
          <a:xfrm>
            <a:off x="457200" y="1316880"/>
            <a:ext cx="45000" cy="2340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197" name="TextBox 6"/>
          <p:cNvSpPr/>
          <p:nvPr/>
        </p:nvSpPr>
        <p:spPr>
          <a:xfrm>
            <a:off x="594360" y="1371600"/>
            <a:ext cx="338256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2563EB"/>
                </a:solidFill>
                <a:effectLst/>
                <a:uFillTx/>
                <a:latin typeface="Calibri Bold"/>
              </a:rPr>
              <a:t>Call Control</a:t>
            </a:r>
            <a:endParaRPr lang="en-GB" sz="1300" b="0" u="none" strike="noStrike">
              <a:solidFill>
                <a:srgbClr val="FFFFFF"/>
              </a:solidFill>
              <a:effectLst/>
              <a:uFillTx/>
              <a:latin typeface="Arial"/>
            </a:endParaRPr>
          </a:p>
        </p:txBody>
      </p:sp>
      <p:sp>
        <p:nvSpPr>
          <p:cNvPr id="198" name="Rectangle 7"/>
          <p:cNvSpPr/>
          <p:nvPr/>
        </p:nvSpPr>
        <p:spPr>
          <a:xfrm>
            <a:off x="594360" y="1874520"/>
            <a:ext cx="54000" cy="20052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199" name="TextBox 8"/>
          <p:cNvSpPr/>
          <p:nvPr/>
        </p:nvSpPr>
        <p:spPr>
          <a:xfrm>
            <a:off x="731520" y="181044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Outbound INVITE with custom SDP</a:t>
            </a:r>
            <a:endParaRPr lang="en-GB" sz="1050" b="0" u="none" strike="noStrike">
              <a:solidFill>
                <a:srgbClr val="FFFFFF"/>
              </a:solidFill>
              <a:effectLst/>
              <a:uFillTx/>
              <a:latin typeface="Arial"/>
            </a:endParaRPr>
          </a:p>
        </p:txBody>
      </p:sp>
      <p:sp>
        <p:nvSpPr>
          <p:cNvPr id="200" name="Rectangle 9"/>
          <p:cNvSpPr/>
          <p:nvPr/>
        </p:nvSpPr>
        <p:spPr>
          <a:xfrm>
            <a:off x="594360" y="2295000"/>
            <a:ext cx="54000" cy="20052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01" name="TextBox 10"/>
          <p:cNvSpPr/>
          <p:nvPr/>
        </p:nvSpPr>
        <p:spPr>
          <a:xfrm>
            <a:off x="731520" y="223128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Inbound answer / reject</a:t>
            </a:r>
            <a:endParaRPr lang="en-GB" sz="1050" b="0" u="none" strike="noStrike">
              <a:solidFill>
                <a:srgbClr val="FFFFFF"/>
              </a:solidFill>
              <a:effectLst/>
              <a:uFillTx/>
              <a:latin typeface="Arial"/>
            </a:endParaRPr>
          </a:p>
        </p:txBody>
      </p:sp>
      <p:sp>
        <p:nvSpPr>
          <p:cNvPr id="202" name="Rectangle 11"/>
          <p:cNvSpPr/>
          <p:nvPr/>
        </p:nvSpPr>
        <p:spPr>
          <a:xfrm>
            <a:off x="594360" y="2715840"/>
            <a:ext cx="54000" cy="20052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03" name="TextBox 12"/>
          <p:cNvSpPr/>
          <p:nvPr/>
        </p:nvSpPr>
        <p:spPr>
          <a:xfrm>
            <a:off x="731520" y="265176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Hold &amp; resume via re-INVITE</a:t>
            </a:r>
            <a:endParaRPr lang="en-GB" sz="1050" b="0" u="none" strike="noStrike">
              <a:solidFill>
                <a:srgbClr val="FFFFFF"/>
              </a:solidFill>
              <a:effectLst/>
              <a:uFillTx/>
              <a:latin typeface="Arial"/>
            </a:endParaRPr>
          </a:p>
        </p:txBody>
      </p:sp>
      <p:sp>
        <p:nvSpPr>
          <p:cNvPr id="204" name="Rectangle 13"/>
          <p:cNvSpPr/>
          <p:nvPr/>
        </p:nvSpPr>
        <p:spPr>
          <a:xfrm>
            <a:off x="594360" y="3136320"/>
            <a:ext cx="54000" cy="20052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05" name="TextBox 14"/>
          <p:cNvSpPr/>
          <p:nvPr/>
        </p:nvSpPr>
        <p:spPr>
          <a:xfrm>
            <a:off x="731520" y="307224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DTMF RFC 2833</a:t>
            </a:r>
            <a:endParaRPr lang="en-GB" sz="1050" b="0" u="none" strike="noStrike">
              <a:solidFill>
                <a:srgbClr val="FFFFFF"/>
              </a:solidFill>
              <a:effectLst/>
              <a:uFillTx/>
              <a:latin typeface="Arial"/>
            </a:endParaRPr>
          </a:p>
        </p:txBody>
      </p:sp>
      <p:sp>
        <p:nvSpPr>
          <p:cNvPr id="206" name="Rectangle 15"/>
          <p:cNvSpPr/>
          <p:nvPr/>
        </p:nvSpPr>
        <p:spPr>
          <a:xfrm>
            <a:off x="4343400" y="1280160"/>
            <a:ext cx="3656880" cy="23767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7" name="Rectangle 16"/>
          <p:cNvSpPr/>
          <p:nvPr/>
        </p:nvSpPr>
        <p:spPr>
          <a:xfrm>
            <a:off x="4343400" y="1280160"/>
            <a:ext cx="3656880" cy="3600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208" name="Rectangle 17"/>
          <p:cNvSpPr/>
          <p:nvPr/>
        </p:nvSpPr>
        <p:spPr>
          <a:xfrm>
            <a:off x="4343400" y="1316880"/>
            <a:ext cx="45000" cy="234000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209" name="TextBox 18"/>
          <p:cNvSpPr/>
          <p:nvPr/>
        </p:nvSpPr>
        <p:spPr>
          <a:xfrm>
            <a:off x="4480560" y="1371600"/>
            <a:ext cx="338256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7C3AED"/>
                </a:solidFill>
                <a:effectLst/>
                <a:uFillTx/>
                <a:latin typeface="Calibri Bold"/>
              </a:rPr>
              <a:t>Transfer</a:t>
            </a:r>
            <a:endParaRPr lang="en-GB" sz="1300" b="0" u="none" strike="noStrike">
              <a:solidFill>
                <a:srgbClr val="FFFFFF"/>
              </a:solidFill>
              <a:effectLst/>
              <a:uFillTx/>
              <a:latin typeface="Arial"/>
            </a:endParaRPr>
          </a:p>
        </p:txBody>
      </p:sp>
      <p:sp>
        <p:nvSpPr>
          <p:cNvPr id="210" name="Rectangle 19"/>
          <p:cNvSpPr/>
          <p:nvPr/>
        </p:nvSpPr>
        <p:spPr>
          <a:xfrm>
            <a:off x="4480560" y="1874520"/>
            <a:ext cx="54000" cy="20052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11" name="TextBox 20"/>
          <p:cNvSpPr/>
          <p:nvPr/>
        </p:nvSpPr>
        <p:spPr>
          <a:xfrm>
            <a:off x="4617720" y="181044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Blind transfer (REFER)</a:t>
            </a:r>
            <a:endParaRPr lang="en-GB" sz="1050" b="0" u="none" strike="noStrike">
              <a:solidFill>
                <a:srgbClr val="FFFFFF"/>
              </a:solidFill>
              <a:effectLst/>
              <a:uFillTx/>
              <a:latin typeface="Arial"/>
            </a:endParaRPr>
          </a:p>
        </p:txBody>
      </p:sp>
      <p:sp>
        <p:nvSpPr>
          <p:cNvPr id="212" name="Rectangle 21"/>
          <p:cNvSpPr/>
          <p:nvPr/>
        </p:nvSpPr>
        <p:spPr>
          <a:xfrm>
            <a:off x="4480560" y="2295000"/>
            <a:ext cx="54000" cy="20052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13" name="TextBox 22"/>
          <p:cNvSpPr/>
          <p:nvPr/>
        </p:nvSpPr>
        <p:spPr>
          <a:xfrm>
            <a:off x="4617720" y="223128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Attended transfer (REFER+Replaces)</a:t>
            </a:r>
            <a:endParaRPr lang="en-GB" sz="1050" b="0" u="none" strike="noStrike">
              <a:solidFill>
                <a:srgbClr val="FFFFFF"/>
              </a:solidFill>
              <a:effectLst/>
              <a:uFillTx/>
              <a:latin typeface="Arial"/>
            </a:endParaRPr>
          </a:p>
        </p:txBody>
      </p:sp>
      <p:sp>
        <p:nvSpPr>
          <p:cNvPr id="214" name="Rectangle 23"/>
          <p:cNvSpPr/>
          <p:nvPr/>
        </p:nvSpPr>
        <p:spPr>
          <a:xfrm>
            <a:off x="4480560" y="2715840"/>
            <a:ext cx="54000" cy="20052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15" name="TextBox 24"/>
          <p:cNvSpPr/>
          <p:nvPr/>
        </p:nvSpPr>
        <p:spPr>
          <a:xfrm>
            <a:off x="4617720" y="265176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3-way conference bridge</a:t>
            </a:r>
            <a:endParaRPr lang="en-GB" sz="1050" b="0" u="none" strike="noStrike">
              <a:solidFill>
                <a:srgbClr val="FFFFFF"/>
              </a:solidFill>
              <a:effectLst/>
              <a:uFillTx/>
              <a:latin typeface="Arial"/>
            </a:endParaRPr>
          </a:p>
        </p:txBody>
      </p:sp>
      <p:sp>
        <p:nvSpPr>
          <p:cNvPr id="216" name="Rectangle 25"/>
          <p:cNvSpPr/>
          <p:nvPr/>
        </p:nvSpPr>
        <p:spPr>
          <a:xfrm>
            <a:off x="4480560" y="3136320"/>
            <a:ext cx="54000" cy="20052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17" name="TextBox 26"/>
          <p:cNvSpPr/>
          <p:nvPr/>
        </p:nvSpPr>
        <p:spPr>
          <a:xfrm>
            <a:off x="4617720" y="307224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Drop conference leg only</a:t>
            </a:r>
            <a:endParaRPr lang="en-GB" sz="1050" b="0" u="none" strike="noStrike">
              <a:solidFill>
                <a:srgbClr val="FFFFFF"/>
              </a:solidFill>
              <a:effectLst/>
              <a:uFillTx/>
              <a:latin typeface="Arial"/>
            </a:endParaRPr>
          </a:p>
        </p:txBody>
      </p:sp>
      <p:sp>
        <p:nvSpPr>
          <p:cNvPr id="218" name="Rectangle 27"/>
          <p:cNvSpPr/>
          <p:nvPr/>
        </p:nvSpPr>
        <p:spPr>
          <a:xfrm>
            <a:off x="8229600" y="1280160"/>
            <a:ext cx="3656880" cy="23767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9" name="Rectangle 28"/>
          <p:cNvSpPr/>
          <p:nvPr/>
        </p:nvSpPr>
        <p:spPr>
          <a:xfrm>
            <a:off x="8229600" y="1280160"/>
            <a:ext cx="3656880" cy="3600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220" name="Rectangle 29"/>
          <p:cNvSpPr/>
          <p:nvPr/>
        </p:nvSpPr>
        <p:spPr>
          <a:xfrm>
            <a:off x="8229600" y="1316880"/>
            <a:ext cx="45000" cy="234000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221" name="TextBox 30"/>
          <p:cNvSpPr/>
          <p:nvPr/>
        </p:nvSpPr>
        <p:spPr>
          <a:xfrm>
            <a:off x="8366760" y="1371600"/>
            <a:ext cx="338256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D97706"/>
                </a:solidFill>
                <a:effectLst/>
                <a:uFillTx/>
                <a:latin typeface="Calibri Bold"/>
              </a:rPr>
              <a:t>WAV Playback</a:t>
            </a:r>
            <a:endParaRPr lang="en-GB" sz="1300" b="0" u="none" strike="noStrike">
              <a:solidFill>
                <a:srgbClr val="FFFFFF"/>
              </a:solidFill>
              <a:effectLst/>
              <a:uFillTx/>
              <a:latin typeface="Arial"/>
            </a:endParaRPr>
          </a:p>
        </p:txBody>
      </p:sp>
      <p:sp>
        <p:nvSpPr>
          <p:cNvPr id="222" name="Rectangle 31"/>
          <p:cNvSpPr/>
          <p:nvPr/>
        </p:nvSpPr>
        <p:spPr>
          <a:xfrm>
            <a:off x="8366760" y="1874520"/>
            <a:ext cx="54000" cy="20052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23" name="TextBox 32"/>
          <p:cNvSpPr/>
          <p:nvPr/>
        </p:nvSpPr>
        <p:spPr>
          <a:xfrm>
            <a:off x="8503920" y="1810440"/>
            <a:ext cx="3199680" cy="250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Upload any WAV - auto G.722 convert</a:t>
            </a:r>
            <a:endParaRPr lang="en-GB" sz="1050" b="0" u="none" strike="noStrike">
              <a:solidFill>
                <a:srgbClr val="FFFFFF"/>
              </a:solidFill>
              <a:effectLst/>
              <a:uFillTx/>
              <a:latin typeface="Arial"/>
            </a:endParaRPr>
          </a:p>
        </p:txBody>
      </p:sp>
      <p:sp>
        <p:nvSpPr>
          <p:cNvPr id="224" name="Rectangle 33"/>
          <p:cNvSpPr/>
          <p:nvPr/>
        </p:nvSpPr>
        <p:spPr>
          <a:xfrm>
            <a:off x="8366760" y="2295000"/>
            <a:ext cx="54000" cy="20052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25" name="TextBox 34"/>
          <p:cNvSpPr/>
          <p:nvPr/>
        </p:nvSpPr>
        <p:spPr>
          <a:xfrm>
            <a:off x="8503920" y="223128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Inject into live RTP stream</a:t>
            </a:r>
            <a:endParaRPr lang="en-GB" sz="1050" b="0" u="none" strike="noStrike">
              <a:solidFill>
                <a:srgbClr val="FFFFFF"/>
              </a:solidFill>
              <a:effectLst/>
              <a:uFillTx/>
              <a:latin typeface="Arial"/>
            </a:endParaRPr>
          </a:p>
        </p:txBody>
      </p:sp>
      <p:sp>
        <p:nvSpPr>
          <p:cNvPr id="226" name="Rectangle 35"/>
          <p:cNvSpPr/>
          <p:nvPr/>
        </p:nvSpPr>
        <p:spPr>
          <a:xfrm>
            <a:off x="8366760" y="2715840"/>
            <a:ext cx="54000" cy="20052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27" name="TextBox 36"/>
          <p:cNvSpPr/>
          <p:nvPr/>
        </p:nvSpPr>
        <p:spPr>
          <a:xfrm>
            <a:off x="8503920" y="265176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Syncs to stream SSRC/seq/ts</a:t>
            </a:r>
            <a:endParaRPr lang="en-GB" sz="1050" b="0" u="none" strike="noStrike">
              <a:solidFill>
                <a:srgbClr val="FFFFFF"/>
              </a:solidFill>
              <a:effectLst/>
              <a:uFillTx/>
              <a:latin typeface="Arial"/>
            </a:endParaRPr>
          </a:p>
        </p:txBody>
      </p:sp>
      <p:sp>
        <p:nvSpPr>
          <p:cNvPr id="228" name="Rectangle 37"/>
          <p:cNvSpPr/>
          <p:nvPr/>
        </p:nvSpPr>
        <p:spPr>
          <a:xfrm>
            <a:off x="8366760" y="3136320"/>
            <a:ext cx="54000" cy="20052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29" name="TextBox 38"/>
          <p:cNvSpPr/>
          <p:nvPr/>
        </p:nvSpPr>
        <p:spPr>
          <a:xfrm>
            <a:off x="8503920" y="307224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Play · Stop via API</a:t>
            </a:r>
            <a:endParaRPr lang="en-GB" sz="1050" b="0" u="none" strike="noStrike">
              <a:solidFill>
                <a:srgbClr val="FFFFFF"/>
              </a:solidFill>
              <a:effectLst/>
              <a:uFillTx/>
              <a:latin typeface="Arial"/>
            </a:endParaRPr>
          </a:p>
        </p:txBody>
      </p:sp>
      <p:sp>
        <p:nvSpPr>
          <p:cNvPr id="230" name="Rectangle 39"/>
          <p:cNvSpPr/>
          <p:nvPr/>
        </p:nvSpPr>
        <p:spPr>
          <a:xfrm>
            <a:off x="457200" y="3931920"/>
            <a:ext cx="3656880" cy="23767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1" name="Rectangle 40"/>
          <p:cNvSpPr/>
          <p:nvPr/>
        </p:nvSpPr>
        <p:spPr>
          <a:xfrm>
            <a:off x="457200" y="3931920"/>
            <a:ext cx="3656880" cy="3600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232" name="Rectangle 41"/>
          <p:cNvSpPr/>
          <p:nvPr/>
        </p:nvSpPr>
        <p:spPr>
          <a:xfrm>
            <a:off x="457200" y="3968640"/>
            <a:ext cx="45000" cy="234000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233" name="TextBox 42"/>
          <p:cNvSpPr/>
          <p:nvPr/>
        </p:nvSpPr>
        <p:spPr>
          <a:xfrm>
            <a:off x="594360" y="4023360"/>
            <a:ext cx="338256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059669"/>
                </a:solidFill>
                <a:effectLst/>
                <a:uFillTx/>
                <a:latin typeface="Calibri Bold"/>
              </a:rPr>
              <a:t>Packet Capture</a:t>
            </a:r>
            <a:endParaRPr lang="en-GB" sz="1300" b="0" u="none" strike="noStrike">
              <a:solidFill>
                <a:srgbClr val="FFFFFF"/>
              </a:solidFill>
              <a:effectLst/>
              <a:uFillTx/>
              <a:latin typeface="Arial"/>
            </a:endParaRPr>
          </a:p>
        </p:txBody>
      </p:sp>
      <p:sp>
        <p:nvSpPr>
          <p:cNvPr id="234" name="Rectangle 43"/>
          <p:cNvSpPr/>
          <p:nvPr/>
        </p:nvSpPr>
        <p:spPr>
          <a:xfrm>
            <a:off x="594360" y="4526280"/>
            <a:ext cx="54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35" name="TextBox 44"/>
          <p:cNvSpPr/>
          <p:nvPr/>
        </p:nvSpPr>
        <p:spPr>
          <a:xfrm>
            <a:off x="731520" y="446220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Per-call .pcap (libpcap format)</a:t>
            </a:r>
            <a:endParaRPr lang="en-GB" sz="1050" b="0" u="none" strike="noStrike">
              <a:solidFill>
                <a:srgbClr val="FFFFFF"/>
              </a:solidFill>
              <a:effectLst/>
              <a:uFillTx/>
              <a:latin typeface="Arial"/>
            </a:endParaRPr>
          </a:p>
        </p:txBody>
      </p:sp>
      <p:sp>
        <p:nvSpPr>
          <p:cNvPr id="236" name="Rectangle 45"/>
          <p:cNvSpPr/>
          <p:nvPr/>
        </p:nvSpPr>
        <p:spPr>
          <a:xfrm>
            <a:off x="594360" y="4946760"/>
            <a:ext cx="54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37" name="TextBox 46"/>
          <p:cNvSpPr/>
          <p:nvPr/>
        </p:nvSpPr>
        <p:spPr>
          <a:xfrm>
            <a:off x="731520" y="488304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Wireshark-compatible</a:t>
            </a:r>
            <a:endParaRPr lang="en-GB" sz="1050" b="0" u="none" strike="noStrike">
              <a:solidFill>
                <a:srgbClr val="FFFFFF"/>
              </a:solidFill>
              <a:effectLst/>
              <a:uFillTx/>
              <a:latin typeface="Arial"/>
            </a:endParaRPr>
          </a:p>
        </p:txBody>
      </p:sp>
      <p:sp>
        <p:nvSpPr>
          <p:cNvPr id="238" name="Rectangle 47"/>
          <p:cNvSpPr/>
          <p:nvPr/>
        </p:nvSpPr>
        <p:spPr>
          <a:xfrm>
            <a:off x="594360" y="5367600"/>
            <a:ext cx="54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39" name="TextBox 48"/>
          <p:cNvSpPr/>
          <p:nvPr/>
        </p:nvSpPr>
        <p:spPr>
          <a:xfrm>
            <a:off x="731520" y="530352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Inbound RTP decoded to .wav</a:t>
            </a:r>
            <a:endParaRPr lang="en-GB" sz="1050" b="0" u="none" strike="noStrike">
              <a:solidFill>
                <a:srgbClr val="FFFFFF"/>
              </a:solidFill>
              <a:effectLst/>
              <a:uFillTx/>
              <a:latin typeface="Arial"/>
            </a:endParaRPr>
          </a:p>
        </p:txBody>
      </p:sp>
      <p:sp>
        <p:nvSpPr>
          <p:cNvPr id="240" name="Rectangle 49"/>
          <p:cNvSpPr/>
          <p:nvPr/>
        </p:nvSpPr>
        <p:spPr>
          <a:xfrm>
            <a:off x="594360" y="5788080"/>
            <a:ext cx="54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41" name="TextBox 50"/>
          <p:cNvSpPr/>
          <p:nvPr/>
        </p:nvSpPr>
        <p:spPr>
          <a:xfrm>
            <a:off x="731520" y="572400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Download via UI or API</a:t>
            </a:r>
            <a:endParaRPr lang="en-GB" sz="1050" b="0" u="none" strike="noStrike">
              <a:solidFill>
                <a:srgbClr val="FFFFFF"/>
              </a:solidFill>
              <a:effectLst/>
              <a:uFillTx/>
              <a:latin typeface="Arial"/>
            </a:endParaRPr>
          </a:p>
        </p:txBody>
      </p:sp>
      <p:sp>
        <p:nvSpPr>
          <p:cNvPr id="242" name="Rectangle 51"/>
          <p:cNvSpPr/>
          <p:nvPr/>
        </p:nvSpPr>
        <p:spPr>
          <a:xfrm>
            <a:off x="4343400" y="3931920"/>
            <a:ext cx="3656880" cy="23767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3" name="Rectangle 52"/>
          <p:cNvSpPr/>
          <p:nvPr/>
        </p:nvSpPr>
        <p:spPr>
          <a:xfrm>
            <a:off x="4343400" y="3931920"/>
            <a:ext cx="3656880" cy="3600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244" name="Rectangle 53"/>
          <p:cNvSpPr/>
          <p:nvPr/>
        </p:nvSpPr>
        <p:spPr>
          <a:xfrm>
            <a:off x="4343400" y="3968640"/>
            <a:ext cx="45000" cy="234000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245" name="TextBox 54"/>
          <p:cNvSpPr/>
          <p:nvPr/>
        </p:nvSpPr>
        <p:spPr>
          <a:xfrm>
            <a:off x="4480560" y="4023360"/>
            <a:ext cx="338256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00D4FF"/>
                </a:solidFill>
                <a:effectLst/>
                <a:uFillTx/>
                <a:latin typeface="Calibri Bold"/>
              </a:rPr>
              <a:t>History &amp; Logging</a:t>
            </a:r>
            <a:endParaRPr lang="en-GB" sz="1300" b="0" u="none" strike="noStrike">
              <a:solidFill>
                <a:srgbClr val="FFFFFF"/>
              </a:solidFill>
              <a:effectLst/>
              <a:uFillTx/>
              <a:latin typeface="Arial"/>
            </a:endParaRPr>
          </a:p>
        </p:txBody>
      </p:sp>
      <p:sp>
        <p:nvSpPr>
          <p:cNvPr id="246" name="Rectangle 55"/>
          <p:cNvSpPr/>
          <p:nvPr/>
        </p:nvSpPr>
        <p:spPr>
          <a:xfrm>
            <a:off x="4480560" y="4526280"/>
            <a:ext cx="54000" cy="2005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47" name="TextBox 56"/>
          <p:cNvSpPr/>
          <p:nvPr/>
        </p:nvSpPr>
        <p:spPr>
          <a:xfrm>
            <a:off x="4617720" y="446220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Persistent call history (JSON)</a:t>
            </a:r>
            <a:endParaRPr lang="en-GB" sz="1050" b="0" u="none" strike="noStrike">
              <a:solidFill>
                <a:srgbClr val="FFFFFF"/>
              </a:solidFill>
              <a:effectLst/>
              <a:uFillTx/>
              <a:latin typeface="Arial"/>
            </a:endParaRPr>
          </a:p>
        </p:txBody>
      </p:sp>
      <p:sp>
        <p:nvSpPr>
          <p:cNvPr id="248" name="Rectangle 57"/>
          <p:cNvSpPr/>
          <p:nvPr/>
        </p:nvSpPr>
        <p:spPr>
          <a:xfrm>
            <a:off x="4480560" y="4946760"/>
            <a:ext cx="54000" cy="2005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49" name="TextBox 58"/>
          <p:cNvSpPr/>
          <p:nvPr/>
        </p:nvSpPr>
        <p:spPr>
          <a:xfrm>
            <a:off x="4617720" y="488304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CSV export</a:t>
            </a:r>
            <a:endParaRPr lang="en-GB" sz="1050" b="0" u="none" strike="noStrike">
              <a:solidFill>
                <a:srgbClr val="FFFFFF"/>
              </a:solidFill>
              <a:effectLst/>
              <a:uFillTx/>
              <a:latin typeface="Arial"/>
            </a:endParaRPr>
          </a:p>
        </p:txBody>
      </p:sp>
      <p:sp>
        <p:nvSpPr>
          <p:cNvPr id="250" name="Rectangle 59"/>
          <p:cNvSpPr/>
          <p:nvPr/>
        </p:nvSpPr>
        <p:spPr>
          <a:xfrm>
            <a:off x="4480560" y="5367600"/>
            <a:ext cx="54000" cy="2005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51" name="TextBox 60"/>
          <p:cNvSpPr/>
          <p:nvPr/>
        </p:nvSpPr>
        <p:spPr>
          <a:xfrm>
            <a:off x="4617720" y="530352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Real-time system log</a:t>
            </a:r>
            <a:endParaRPr lang="en-GB" sz="1050" b="0" u="none" strike="noStrike">
              <a:solidFill>
                <a:srgbClr val="FFFFFF"/>
              </a:solidFill>
              <a:effectLst/>
              <a:uFillTx/>
              <a:latin typeface="Arial"/>
            </a:endParaRPr>
          </a:p>
        </p:txBody>
      </p:sp>
      <p:sp>
        <p:nvSpPr>
          <p:cNvPr id="252" name="Rectangle 61"/>
          <p:cNvSpPr/>
          <p:nvPr/>
        </p:nvSpPr>
        <p:spPr>
          <a:xfrm>
            <a:off x="4480560" y="5788080"/>
            <a:ext cx="54000" cy="2005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53" name="TextBox 62"/>
          <p:cNvSpPr/>
          <p:nvPr/>
        </p:nvSpPr>
        <p:spPr>
          <a:xfrm>
            <a:off x="4617720" y="572400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Expandable log panel in UI</a:t>
            </a:r>
            <a:endParaRPr lang="en-GB" sz="1050" b="0" u="none" strike="noStrike">
              <a:solidFill>
                <a:srgbClr val="FFFFFF"/>
              </a:solidFill>
              <a:effectLst/>
              <a:uFillTx/>
              <a:latin typeface="Arial"/>
            </a:endParaRPr>
          </a:p>
        </p:txBody>
      </p:sp>
      <p:sp>
        <p:nvSpPr>
          <p:cNvPr id="254" name="Rectangle 63"/>
          <p:cNvSpPr/>
          <p:nvPr/>
        </p:nvSpPr>
        <p:spPr>
          <a:xfrm>
            <a:off x="8229600" y="3931920"/>
            <a:ext cx="3656880" cy="23767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5" name="Rectangle 64"/>
          <p:cNvSpPr/>
          <p:nvPr/>
        </p:nvSpPr>
        <p:spPr>
          <a:xfrm>
            <a:off x="8229600" y="3931920"/>
            <a:ext cx="3656880" cy="36000"/>
          </a:xfrm>
          <a:prstGeom prst="rect">
            <a:avLst/>
          </a:prstGeom>
          <a:solidFill>
            <a:srgbClr val="0678D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256" name="Rectangle 65"/>
          <p:cNvSpPr/>
          <p:nvPr/>
        </p:nvSpPr>
        <p:spPr>
          <a:xfrm>
            <a:off x="8229600" y="3968640"/>
            <a:ext cx="45000" cy="2340000"/>
          </a:xfrm>
          <a:prstGeom prst="rect">
            <a:avLst/>
          </a:prstGeom>
          <a:solidFill>
            <a:srgbClr val="0678D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257" name="TextBox 66"/>
          <p:cNvSpPr/>
          <p:nvPr/>
        </p:nvSpPr>
        <p:spPr>
          <a:xfrm>
            <a:off x="8366760" y="4023360"/>
            <a:ext cx="338256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0678DB"/>
                </a:solidFill>
                <a:effectLst/>
                <a:uFillTx/>
                <a:latin typeface="Calibri Bold"/>
              </a:rPr>
              <a:t>REST API</a:t>
            </a:r>
            <a:endParaRPr lang="en-GB" sz="1300" b="0" u="none" strike="noStrike">
              <a:solidFill>
                <a:srgbClr val="FFFFFF"/>
              </a:solidFill>
              <a:effectLst/>
              <a:uFillTx/>
              <a:latin typeface="Arial"/>
            </a:endParaRPr>
          </a:p>
        </p:txBody>
      </p:sp>
      <p:sp>
        <p:nvSpPr>
          <p:cNvPr id="258" name="Rectangle 67"/>
          <p:cNvSpPr/>
          <p:nvPr/>
        </p:nvSpPr>
        <p:spPr>
          <a:xfrm>
            <a:off x="8366760" y="4526280"/>
            <a:ext cx="54000" cy="200520"/>
          </a:xfrm>
          <a:prstGeom prst="rect">
            <a:avLst/>
          </a:prstGeom>
          <a:solidFill>
            <a:srgbClr val="0678D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59" name="TextBox 68"/>
          <p:cNvSpPr/>
          <p:nvPr/>
        </p:nvSpPr>
        <p:spPr>
          <a:xfrm>
            <a:off x="8503920" y="4462200"/>
            <a:ext cx="3199680" cy="250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24 endpoints - fully documented</a:t>
            </a:r>
            <a:endParaRPr lang="en-GB" sz="1050" b="0" u="none" strike="noStrike">
              <a:solidFill>
                <a:srgbClr val="FFFFFF"/>
              </a:solidFill>
              <a:effectLst/>
              <a:uFillTx/>
              <a:latin typeface="Arial"/>
            </a:endParaRPr>
          </a:p>
        </p:txBody>
      </p:sp>
      <p:sp>
        <p:nvSpPr>
          <p:cNvPr id="260" name="Rectangle 69"/>
          <p:cNvSpPr/>
          <p:nvPr/>
        </p:nvSpPr>
        <p:spPr>
          <a:xfrm>
            <a:off x="8366760" y="4946760"/>
            <a:ext cx="54000" cy="200520"/>
          </a:xfrm>
          <a:prstGeom prst="rect">
            <a:avLst/>
          </a:prstGeom>
          <a:solidFill>
            <a:srgbClr val="0678D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61" name="TextBox 70"/>
          <p:cNvSpPr/>
          <p:nvPr/>
        </p:nvSpPr>
        <p:spPr>
          <a:xfrm>
            <a:off x="8503920" y="488304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OpenAPI 3.1 spec included</a:t>
            </a:r>
            <a:endParaRPr lang="en-GB" sz="1050" b="0" u="none" strike="noStrike">
              <a:solidFill>
                <a:srgbClr val="FFFFFF"/>
              </a:solidFill>
              <a:effectLst/>
              <a:uFillTx/>
              <a:latin typeface="Arial"/>
            </a:endParaRPr>
          </a:p>
        </p:txBody>
      </p:sp>
      <p:sp>
        <p:nvSpPr>
          <p:cNvPr id="262" name="Rectangle 71"/>
          <p:cNvSpPr/>
          <p:nvPr/>
        </p:nvSpPr>
        <p:spPr>
          <a:xfrm>
            <a:off x="8366760" y="5367600"/>
            <a:ext cx="54000" cy="200520"/>
          </a:xfrm>
          <a:prstGeom prst="rect">
            <a:avLst/>
          </a:prstGeom>
          <a:solidFill>
            <a:srgbClr val="0678D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63" name="TextBox 72"/>
          <p:cNvSpPr/>
          <p:nvPr/>
        </p:nvSpPr>
        <p:spPr>
          <a:xfrm>
            <a:off x="8503920" y="530352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WebSocket real-time events</a:t>
            </a:r>
            <a:endParaRPr lang="en-GB" sz="1050" b="0" u="none" strike="noStrike">
              <a:solidFill>
                <a:srgbClr val="FFFFFF"/>
              </a:solidFill>
              <a:effectLst/>
              <a:uFillTx/>
              <a:latin typeface="Arial"/>
            </a:endParaRPr>
          </a:p>
        </p:txBody>
      </p:sp>
      <p:sp>
        <p:nvSpPr>
          <p:cNvPr id="264" name="Rectangle 73"/>
          <p:cNvSpPr/>
          <p:nvPr/>
        </p:nvSpPr>
        <p:spPr>
          <a:xfrm>
            <a:off x="8366760" y="5788080"/>
            <a:ext cx="54000" cy="200520"/>
          </a:xfrm>
          <a:prstGeom prst="rect">
            <a:avLst/>
          </a:prstGeom>
          <a:solidFill>
            <a:srgbClr val="0678D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265" name="TextBox 74"/>
          <p:cNvSpPr/>
          <p:nvPr/>
        </p:nvSpPr>
        <p:spPr>
          <a:xfrm>
            <a:off x="8503920" y="5724000"/>
            <a:ext cx="319968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Headless / CI/CD ready</a:t>
            </a:r>
            <a:endParaRPr lang="en-GB"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266" name="TextBox 1"/>
          <p:cNvSpPr/>
          <p:nvPr/>
        </p:nvSpPr>
        <p:spPr>
          <a:xfrm>
            <a:off x="548640" y="274320"/>
            <a:ext cx="10972080" cy="639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FFFFFF"/>
                </a:solidFill>
                <a:effectLst/>
                <a:uFillTx/>
                <a:latin typeface="Calibri Bold"/>
              </a:rPr>
              <a:t>REST API &amp; WebSocket Events</a:t>
            </a:r>
            <a:endParaRPr lang="en-GB" sz="3400" b="0" u="none" strike="noStrike">
              <a:solidFill>
                <a:srgbClr val="FFFFFF"/>
              </a:solidFill>
              <a:effectLst/>
              <a:uFillTx/>
              <a:latin typeface="Arial"/>
            </a:endParaRPr>
          </a:p>
        </p:txBody>
      </p:sp>
      <p:sp>
        <p:nvSpPr>
          <p:cNvPr id="267" name="Rectangle 2"/>
          <p:cNvSpPr/>
          <p:nvPr/>
        </p:nvSpPr>
        <p:spPr>
          <a:xfrm>
            <a:off x="548640" y="960120"/>
            <a:ext cx="109720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268" name="TextBox 3"/>
          <p:cNvSpPr/>
          <p:nvPr/>
        </p:nvSpPr>
        <p:spPr>
          <a:xfrm>
            <a:off x="548640" y="1143000"/>
            <a:ext cx="10972080" cy="365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00D4FF"/>
                </a:solidFill>
                <a:effectLst/>
                <a:uFillTx/>
                <a:latin typeface="Calibri Bold"/>
              </a:rPr>
              <a:t>REST Endpoints  (27 total · OpenAPI 3.1 spec included)</a:t>
            </a:r>
            <a:endParaRPr lang="en-GB" sz="1300" b="0" u="none" strike="noStrike">
              <a:solidFill>
                <a:srgbClr val="FFFFFF"/>
              </a:solidFill>
              <a:effectLst/>
              <a:uFillTx/>
              <a:latin typeface="Arial"/>
            </a:endParaRPr>
          </a:p>
        </p:txBody>
      </p:sp>
      <p:sp>
        <p:nvSpPr>
          <p:cNvPr id="269" name="Rectangle 4"/>
          <p:cNvSpPr/>
          <p:nvPr/>
        </p:nvSpPr>
        <p:spPr>
          <a:xfrm>
            <a:off x="548640" y="1600200"/>
            <a:ext cx="1828080" cy="38340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0" name="TextBox 5"/>
          <p:cNvSpPr/>
          <p:nvPr/>
        </p:nvSpPr>
        <p:spPr>
          <a:xfrm>
            <a:off x="640080" y="1654920"/>
            <a:ext cx="1645200" cy="291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1" u="none" strike="noStrike">
                <a:solidFill>
                  <a:srgbClr val="2563EB"/>
                </a:solidFill>
                <a:effectLst/>
                <a:uFillTx/>
                <a:latin typeface="Calibri Bold"/>
              </a:rPr>
              <a:t>Registration</a:t>
            </a:r>
            <a:endParaRPr lang="en-GB" sz="1000" b="0" u="none" strike="noStrike">
              <a:solidFill>
                <a:srgbClr val="FFFFFF"/>
              </a:solidFill>
              <a:effectLst/>
              <a:uFillTx/>
              <a:latin typeface="Arial"/>
            </a:endParaRPr>
          </a:p>
        </p:txBody>
      </p:sp>
      <p:sp>
        <p:nvSpPr>
          <p:cNvPr id="271" name="TextBox 6"/>
          <p:cNvSpPr/>
          <p:nvPr/>
        </p:nvSpPr>
        <p:spPr>
          <a:xfrm>
            <a:off x="2514600" y="1645920"/>
            <a:ext cx="905184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F0F4FF"/>
                </a:solidFill>
                <a:effectLst/>
                <a:uFillTx/>
                <a:latin typeface="Consolas"/>
              </a:rPr>
              <a:t>GET /api/status · POST /api/register · POST /api/unregister</a:t>
            </a:r>
            <a:endParaRPr lang="en-GB" sz="1000" b="0" u="none" strike="noStrike">
              <a:solidFill>
                <a:srgbClr val="FFFFFF"/>
              </a:solidFill>
              <a:effectLst/>
              <a:uFillTx/>
              <a:latin typeface="Arial"/>
            </a:endParaRPr>
          </a:p>
        </p:txBody>
      </p:sp>
      <p:sp>
        <p:nvSpPr>
          <p:cNvPr id="272" name="Rectangle 7"/>
          <p:cNvSpPr/>
          <p:nvPr/>
        </p:nvSpPr>
        <p:spPr>
          <a:xfrm>
            <a:off x="548640" y="1993320"/>
            <a:ext cx="1106352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273" name="Rectangle 8"/>
          <p:cNvSpPr/>
          <p:nvPr/>
        </p:nvSpPr>
        <p:spPr>
          <a:xfrm>
            <a:off x="548640" y="2094120"/>
            <a:ext cx="1828080" cy="38340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4" name="TextBox 9"/>
          <p:cNvSpPr/>
          <p:nvPr/>
        </p:nvSpPr>
        <p:spPr>
          <a:xfrm>
            <a:off x="640080" y="2148840"/>
            <a:ext cx="1645200" cy="291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1" u="none" strike="noStrike">
                <a:solidFill>
                  <a:srgbClr val="2563EB"/>
                </a:solidFill>
                <a:effectLst/>
                <a:uFillTx/>
                <a:latin typeface="Calibri Bold"/>
              </a:rPr>
              <a:t>Calls</a:t>
            </a:r>
            <a:endParaRPr lang="en-GB" sz="1000" b="0" u="none" strike="noStrike">
              <a:solidFill>
                <a:srgbClr val="FFFFFF"/>
              </a:solidFill>
              <a:effectLst/>
              <a:uFillTx/>
              <a:latin typeface="Arial"/>
            </a:endParaRPr>
          </a:p>
        </p:txBody>
      </p:sp>
      <p:sp>
        <p:nvSpPr>
          <p:cNvPr id="275" name="TextBox 10"/>
          <p:cNvSpPr/>
          <p:nvPr/>
        </p:nvSpPr>
        <p:spPr>
          <a:xfrm>
            <a:off x="2514600" y="2139840"/>
            <a:ext cx="905184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F0F4FF"/>
                </a:solidFill>
                <a:effectLst/>
                <a:uFillTx/>
                <a:latin typeface="Consolas"/>
              </a:rPr>
              <a:t>POST /api/call · /api/answer · /api/hangup · /api/reject · /api/dtmf</a:t>
            </a:r>
            <a:endParaRPr lang="en-GB" sz="1000" b="0" u="none" strike="noStrike">
              <a:solidFill>
                <a:srgbClr val="FFFFFF"/>
              </a:solidFill>
              <a:effectLst/>
              <a:uFillTx/>
              <a:latin typeface="Arial"/>
            </a:endParaRPr>
          </a:p>
        </p:txBody>
      </p:sp>
      <p:sp>
        <p:nvSpPr>
          <p:cNvPr id="276" name="Rectangle 11"/>
          <p:cNvSpPr/>
          <p:nvPr/>
        </p:nvSpPr>
        <p:spPr>
          <a:xfrm>
            <a:off x="548640" y="2487240"/>
            <a:ext cx="1106352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277" name="Rectangle 12"/>
          <p:cNvSpPr/>
          <p:nvPr/>
        </p:nvSpPr>
        <p:spPr>
          <a:xfrm>
            <a:off x="548640" y="2587680"/>
            <a:ext cx="1828080" cy="38340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8" name="TextBox 13"/>
          <p:cNvSpPr/>
          <p:nvPr/>
        </p:nvSpPr>
        <p:spPr>
          <a:xfrm>
            <a:off x="640080" y="2642760"/>
            <a:ext cx="1645200" cy="291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1" u="none" strike="noStrike">
                <a:solidFill>
                  <a:srgbClr val="2563EB"/>
                </a:solidFill>
                <a:effectLst/>
                <a:uFillTx/>
                <a:latin typeface="Calibri Bold"/>
              </a:rPr>
              <a:t>Hold</a:t>
            </a:r>
            <a:endParaRPr lang="en-GB" sz="1000" b="0" u="none" strike="noStrike">
              <a:solidFill>
                <a:srgbClr val="FFFFFF"/>
              </a:solidFill>
              <a:effectLst/>
              <a:uFillTx/>
              <a:latin typeface="Arial"/>
            </a:endParaRPr>
          </a:p>
        </p:txBody>
      </p:sp>
      <p:sp>
        <p:nvSpPr>
          <p:cNvPr id="279" name="TextBox 14"/>
          <p:cNvSpPr/>
          <p:nvPr/>
        </p:nvSpPr>
        <p:spPr>
          <a:xfrm>
            <a:off x="2514600" y="2633400"/>
            <a:ext cx="905184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F0F4FF"/>
                </a:solidFill>
                <a:effectLst/>
                <a:uFillTx/>
                <a:latin typeface="Consolas"/>
              </a:rPr>
              <a:t>POST /api/hold · POST /api/resume</a:t>
            </a:r>
            <a:endParaRPr lang="en-GB" sz="1000" b="0" u="none" strike="noStrike">
              <a:solidFill>
                <a:srgbClr val="FFFFFF"/>
              </a:solidFill>
              <a:effectLst/>
              <a:uFillTx/>
              <a:latin typeface="Arial"/>
            </a:endParaRPr>
          </a:p>
        </p:txBody>
      </p:sp>
      <p:sp>
        <p:nvSpPr>
          <p:cNvPr id="280" name="Rectangle 15"/>
          <p:cNvSpPr/>
          <p:nvPr/>
        </p:nvSpPr>
        <p:spPr>
          <a:xfrm>
            <a:off x="548640" y="2980800"/>
            <a:ext cx="1106352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281" name="Rectangle 16"/>
          <p:cNvSpPr/>
          <p:nvPr/>
        </p:nvSpPr>
        <p:spPr>
          <a:xfrm>
            <a:off x="548640" y="3081600"/>
            <a:ext cx="1828080" cy="38340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2" name="TextBox 17"/>
          <p:cNvSpPr/>
          <p:nvPr/>
        </p:nvSpPr>
        <p:spPr>
          <a:xfrm>
            <a:off x="640080" y="3136320"/>
            <a:ext cx="1645200" cy="291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1" u="none" strike="noStrike">
                <a:solidFill>
                  <a:srgbClr val="2563EB"/>
                </a:solidFill>
                <a:effectLst/>
                <a:uFillTx/>
                <a:latin typeface="Calibri Bold"/>
              </a:rPr>
              <a:t>Transfer</a:t>
            </a:r>
            <a:endParaRPr lang="en-GB" sz="1000" b="0" u="none" strike="noStrike">
              <a:solidFill>
                <a:srgbClr val="FFFFFF"/>
              </a:solidFill>
              <a:effectLst/>
              <a:uFillTx/>
              <a:latin typeface="Arial"/>
            </a:endParaRPr>
          </a:p>
        </p:txBody>
      </p:sp>
      <p:sp>
        <p:nvSpPr>
          <p:cNvPr id="283" name="TextBox 18"/>
          <p:cNvSpPr/>
          <p:nvPr/>
        </p:nvSpPr>
        <p:spPr>
          <a:xfrm>
            <a:off x="2514600" y="3127320"/>
            <a:ext cx="905184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F0F4FF"/>
                </a:solidFill>
                <a:effectLst/>
                <a:uFillTx/>
                <a:latin typeface="Consolas"/>
              </a:rPr>
              <a:t>POST /api/transfer/blind · POST /api/transfer/attended</a:t>
            </a:r>
            <a:endParaRPr lang="en-GB" sz="1000" b="0" u="none" strike="noStrike">
              <a:solidFill>
                <a:srgbClr val="FFFFFF"/>
              </a:solidFill>
              <a:effectLst/>
              <a:uFillTx/>
              <a:latin typeface="Arial"/>
            </a:endParaRPr>
          </a:p>
        </p:txBody>
      </p:sp>
      <p:sp>
        <p:nvSpPr>
          <p:cNvPr id="284" name="Rectangle 19"/>
          <p:cNvSpPr/>
          <p:nvPr/>
        </p:nvSpPr>
        <p:spPr>
          <a:xfrm>
            <a:off x="548640" y="3474720"/>
            <a:ext cx="1106352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285" name="Rectangle 20"/>
          <p:cNvSpPr/>
          <p:nvPr/>
        </p:nvSpPr>
        <p:spPr>
          <a:xfrm>
            <a:off x="548640" y="3575160"/>
            <a:ext cx="1828080" cy="38340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6" name="TextBox 21"/>
          <p:cNvSpPr/>
          <p:nvPr/>
        </p:nvSpPr>
        <p:spPr>
          <a:xfrm>
            <a:off x="640080" y="3630240"/>
            <a:ext cx="1645200" cy="291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1" u="none" strike="noStrike">
                <a:solidFill>
                  <a:srgbClr val="2563EB"/>
                </a:solidFill>
                <a:effectLst/>
                <a:uFillTx/>
                <a:latin typeface="Calibri Bold"/>
              </a:rPr>
              <a:t>Conference</a:t>
            </a:r>
            <a:endParaRPr lang="en-GB" sz="1000" b="0" u="none" strike="noStrike">
              <a:solidFill>
                <a:srgbClr val="FFFFFF"/>
              </a:solidFill>
              <a:effectLst/>
              <a:uFillTx/>
              <a:latin typeface="Arial"/>
            </a:endParaRPr>
          </a:p>
        </p:txBody>
      </p:sp>
      <p:sp>
        <p:nvSpPr>
          <p:cNvPr id="287" name="TextBox 22"/>
          <p:cNvSpPr/>
          <p:nvPr/>
        </p:nvSpPr>
        <p:spPr>
          <a:xfrm>
            <a:off x="2514600" y="3620880"/>
            <a:ext cx="905184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F0F4FF"/>
                </a:solidFill>
                <a:effectLst/>
                <a:uFillTx/>
                <a:latin typeface="Consolas"/>
              </a:rPr>
              <a:t>POST /api/conference · POST /api/conference/end</a:t>
            </a:r>
            <a:endParaRPr lang="en-GB" sz="1000" b="0" u="none" strike="noStrike">
              <a:solidFill>
                <a:srgbClr val="FFFFFF"/>
              </a:solidFill>
              <a:effectLst/>
              <a:uFillTx/>
              <a:latin typeface="Arial"/>
            </a:endParaRPr>
          </a:p>
        </p:txBody>
      </p:sp>
      <p:sp>
        <p:nvSpPr>
          <p:cNvPr id="288" name="Rectangle 23"/>
          <p:cNvSpPr/>
          <p:nvPr/>
        </p:nvSpPr>
        <p:spPr>
          <a:xfrm>
            <a:off x="548640" y="3968640"/>
            <a:ext cx="1106352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289" name="Rectangle 24"/>
          <p:cNvSpPr/>
          <p:nvPr/>
        </p:nvSpPr>
        <p:spPr>
          <a:xfrm>
            <a:off x="548640" y="4069080"/>
            <a:ext cx="1828080" cy="38340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0" name="TextBox 25"/>
          <p:cNvSpPr/>
          <p:nvPr/>
        </p:nvSpPr>
        <p:spPr>
          <a:xfrm>
            <a:off x="640080" y="4123800"/>
            <a:ext cx="1645200" cy="291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1" u="none" strike="noStrike">
                <a:solidFill>
                  <a:srgbClr val="2563EB"/>
                </a:solidFill>
                <a:effectLst/>
                <a:uFillTx/>
                <a:latin typeface="Calibri Bold"/>
              </a:rPr>
              <a:t>WAV Playback</a:t>
            </a:r>
            <a:endParaRPr lang="en-GB" sz="1000" b="0" u="none" strike="noStrike">
              <a:solidFill>
                <a:srgbClr val="FFFFFF"/>
              </a:solidFill>
              <a:effectLst/>
              <a:uFillTx/>
              <a:latin typeface="Arial"/>
            </a:endParaRPr>
          </a:p>
        </p:txBody>
      </p:sp>
      <p:sp>
        <p:nvSpPr>
          <p:cNvPr id="291" name="TextBox 26"/>
          <p:cNvSpPr/>
          <p:nvPr/>
        </p:nvSpPr>
        <p:spPr>
          <a:xfrm>
            <a:off x="2514600" y="4114800"/>
            <a:ext cx="905184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F0F4FF"/>
                </a:solidFill>
                <a:effectLst/>
                <a:uFillTx/>
                <a:latin typeface="Consolas"/>
              </a:rPr>
              <a:t>GET /api/wavfiles · POST /api/wavfiles/upload · POST /api/play · POST /api/play/stop</a:t>
            </a:r>
            <a:endParaRPr lang="en-GB" sz="1000" b="0" u="none" strike="noStrike">
              <a:solidFill>
                <a:srgbClr val="FFFFFF"/>
              </a:solidFill>
              <a:effectLst/>
              <a:uFillTx/>
              <a:latin typeface="Arial"/>
            </a:endParaRPr>
          </a:p>
        </p:txBody>
      </p:sp>
      <p:sp>
        <p:nvSpPr>
          <p:cNvPr id="292" name="Rectangle 27"/>
          <p:cNvSpPr/>
          <p:nvPr/>
        </p:nvSpPr>
        <p:spPr>
          <a:xfrm>
            <a:off x="548640" y="4462200"/>
            <a:ext cx="1106352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293" name="Rectangle 28"/>
          <p:cNvSpPr/>
          <p:nvPr/>
        </p:nvSpPr>
        <p:spPr>
          <a:xfrm>
            <a:off x="548640" y="4563000"/>
            <a:ext cx="1828080" cy="38340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4" name="TextBox 29"/>
          <p:cNvSpPr/>
          <p:nvPr/>
        </p:nvSpPr>
        <p:spPr>
          <a:xfrm>
            <a:off x="640080" y="4617720"/>
            <a:ext cx="1645200" cy="291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1" u="none" strike="noStrike">
                <a:solidFill>
                  <a:srgbClr val="2563EB"/>
                </a:solidFill>
                <a:effectLst/>
                <a:uFillTx/>
                <a:latin typeface="Calibri Bold"/>
              </a:rPr>
              <a:t>Captures</a:t>
            </a:r>
            <a:endParaRPr lang="en-GB" sz="1000" b="0" u="none" strike="noStrike">
              <a:solidFill>
                <a:srgbClr val="FFFFFF"/>
              </a:solidFill>
              <a:effectLst/>
              <a:uFillTx/>
              <a:latin typeface="Arial"/>
            </a:endParaRPr>
          </a:p>
        </p:txBody>
      </p:sp>
      <p:sp>
        <p:nvSpPr>
          <p:cNvPr id="295" name="TextBox 30"/>
          <p:cNvSpPr/>
          <p:nvPr/>
        </p:nvSpPr>
        <p:spPr>
          <a:xfrm>
            <a:off x="2514600" y="4608720"/>
            <a:ext cx="905184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F0F4FF"/>
                </a:solidFill>
                <a:effectLst/>
                <a:uFillTx/>
                <a:latin typeface="Consolas"/>
              </a:rPr>
              <a:t>GET /api/captures · DELETE /api/captures/:filename</a:t>
            </a:r>
            <a:endParaRPr lang="en-GB" sz="1000" b="0" u="none" strike="noStrike">
              <a:solidFill>
                <a:srgbClr val="FFFFFF"/>
              </a:solidFill>
              <a:effectLst/>
              <a:uFillTx/>
              <a:latin typeface="Arial"/>
            </a:endParaRPr>
          </a:p>
        </p:txBody>
      </p:sp>
      <p:sp>
        <p:nvSpPr>
          <p:cNvPr id="296" name="Rectangle 31"/>
          <p:cNvSpPr/>
          <p:nvPr/>
        </p:nvSpPr>
        <p:spPr>
          <a:xfrm>
            <a:off x="548640" y="4956120"/>
            <a:ext cx="1106352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297" name="Rectangle 32"/>
          <p:cNvSpPr/>
          <p:nvPr/>
        </p:nvSpPr>
        <p:spPr>
          <a:xfrm>
            <a:off x="548640" y="5056560"/>
            <a:ext cx="1828080" cy="38340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8" name="TextBox 33"/>
          <p:cNvSpPr/>
          <p:nvPr/>
        </p:nvSpPr>
        <p:spPr>
          <a:xfrm>
            <a:off x="640080" y="5111640"/>
            <a:ext cx="1645200" cy="291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1" u="none" strike="noStrike">
                <a:solidFill>
                  <a:srgbClr val="2563EB"/>
                </a:solidFill>
                <a:effectLst/>
                <a:uFillTx/>
                <a:latin typeface="Calibri Bold"/>
              </a:rPr>
              <a:t>History/Logs</a:t>
            </a:r>
            <a:endParaRPr lang="en-GB" sz="1000" b="0" u="none" strike="noStrike">
              <a:solidFill>
                <a:srgbClr val="FFFFFF"/>
              </a:solidFill>
              <a:effectLst/>
              <a:uFillTx/>
              <a:latin typeface="Arial"/>
            </a:endParaRPr>
          </a:p>
        </p:txBody>
      </p:sp>
      <p:sp>
        <p:nvSpPr>
          <p:cNvPr id="299" name="TextBox 34"/>
          <p:cNvSpPr/>
          <p:nvPr/>
        </p:nvSpPr>
        <p:spPr>
          <a:xfrm>
            <a:off x="2514600" y="5102280"/>
            <a:ext cx="905184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F0F4FF"/>
                </a:solidFill>
                <a:effectLst/>
                <a:uFillTx/>
                <a:latin typeface="Consolas"/>
              </a:rPr>
              <a:t>GET /api/history · GET /api/history/export · DELETE /api/history · GET /api/log/export · GET /api/stats · POST /api/record/start · POST /api/record/stop</a:t>
            </a:r>
            <a:endParaRPr lang="en-GB" sz="1000" b="0" u="none" strike="noStrike">
              <a:solidFill>
                <a:srgbClr val="FFFFFF"/>
              </a:solidFill>
              <a:effectLst/>
              <a:uFillTx/>
              <a:latin typeface="Arial"/>
            </a:endParaRPr>
          </a:p>
        </p:txBody>
      </p:sp>
      <p:sp>
        <p:nvSpPr>
          <p:cNvPr id="300" name="Rectangle 35"/>
          <p:cNvSpPr/>
          <p:nvPr/>
        </p:nvSpPr>
        <p:spPr>
          <a:xfrm>
            <a:off x="548640" y="5449680"/>
            <a:ext cx="1106352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301" name="TextBox 36"/>
          <p:cNvSpPr/>
          <p:nvPr/>
        </p:nvSpPr>
        <p:spPr>
          <a:xfrm>
            <a:off x="548640" y="5806440"/>
            <a:ext cx="10972080" cy="365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00D4FF"/>
                </a:solidFill>
                <a:effectLst/>
                <a:uFillTx/>
                <a:latin typeface="Calibri Bold"/>
              </a:rPr>
              <a:t>WebSocket Events  (ws://host:3000)</a:t>
            </a:r>
            <a:endParaRPr lang="en-GB" sz="1300" b="0" u="none" strike="noStrike">
              <a:solidFill>
                <a:srgbClr val="FFFFFF"/>
              </a:solidFill>
              <a:effectLst/>
              <a:uFillTx/>
              <a:latin typeface="Arial"/>
            </a:endParaRPr>
          </a:p>
        </p:txBody>
      </p:sp>
      <p:sp>
        <p:nvSpPr>
          <p:cNvPr id="302" name="Rectangle 37"/>
          <p:cNvSpPr/>
          <p:nvPr/>
        </p:nvSpPr>
        <p:spPr>
          <a:xfrm>
            <a:off x="548640" y="6236280"/>
            <a:ext cx="662400" cy="25524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3" name="TextBox 38"/>
          <p:cNvSpPr/>
          <p:nvPr/>
        </p:nvSpPr>
        <p:spPr>
          <a:xfrm>
            <a:off x="603360" y="6263640"/>
            <a:ext cx="570960" cy="200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50" b="0" u="none" strike="noStrike">
                <a:solidFill>
                  <a:srgbClr val="00D4FF"/>
                </a:solidFill>
                <a:effectLst/>
                <a:uFillTx/>
                <a:latin typeface="Consolas"/>
              </a:rPr>
              <a:t>state</a:t>
            </a:r>
            <a:endParaRPr lang="en-GB" sz="950" b="0" u="none" strike="noStrike">
              <a:solidFill>
                <a:srgbClr val="FFFFFF"/>
              </a:solidFill>
              <a:effectLst/>
              <a:uFillTx/>
              <a:latin typeface="Arial"/>
            </a:endParaRPr>
          </a:p>
        </p:txBody>
      </p:sp>
      <p:sp>
        <p:nvSpPr>
          <p:cNvPr id="304" name="Rectangle 39"/>
          <p:cNvSpPr/>
          <p:nvPr/>
        </p:nvSpPr>
        <p:spPr>
          <a:xfrm>
            <a:off x="1321200" y="6236280"/>
            <a:ext cx="1096560" cy="25524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5" name="TextBox 40"/>
          <p:cNvSpPr/>
          <p:nvPr/>
        </p:nvSpPr>
        <p:spPr>
          <a:xfrm>
            <a:off x="1376280" y="6263640"/>
            <a:ext cx="1005120" cy="200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50" b="0" u="none" strike="noStrike">
                <a:solidFill>
                  <a:srgbClr val="00D4FF"/>
                </a:solidFill>
                <a:effectLst/>
                <a:uFillTx/>
                <a:latin typeface="Consolas"/>
              </a:rPr>
              <a:t>registered</a:t>
            </a:r>
            <a:endParaRPr lang="en-GB" sz="950" b="0" u="none" strike="noStrike">
              <a:solidFill>
                <a:srgbClr val="FFFFFF"/>
              </a:solidFill>
              <a:effectLst/>
              <a:uFillTx/>
              <a:latin typeface="Arial"/>
            </a:endParaRPr>
          </a:p>
        </p:txBody>
      </p:sp>
      <p:sp>
        <p:nvSpPr>
          <p:cNvPr id="306" name="Rectangle 41"/>
          <p:cNvSpPr/>
          <p:nvPr/>
        </p:nvSpPr>
        <p:spPr>
          <a:xfrm>
            <a:off x="2528280" y="6236280"/>
            <a:ext cx="1270440" cy="25524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7" name="TextBox 42"/>
          <p:cNvSpPr/>
          <p:nvPr/>
        </p:nvSpPr>
        <p:spPr>
          <a:xfrm>
            <a:off x="2583000" y="6263640"/>
            <a:ext cx="1179000" cy="200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50" b="0" u="none" strike="noStrike">
                <a:solidFill>
                  <a:srgbClr val="00D4FF"/>
                </a:solidFill>
                <a:effectLst/>
                <a:uFillTx/>
                <a:latin typeface="Consolas"/>
              </a:rPr>
              <a:t>unregistered</a:t>
            </a:r>
            <a:endParaRPr lang="en-GB" sz="950" b="0" u="none" strike="noStrike">
              <a:solidFill>
                <a:srgbClr val="FFFFFF"/>
              </a:solidFill>
              <a:effectLst/>
              <a:uFillTx/>
              <a:latin typeface="Arial"/>
            </a:endParaRPr>
          </a:p>
        </p:txBody>
      </p:sp>
      <p:sp>
        <p:nvSpPr>
          <p:cNvPr id="308" name="Rectangle 43"/>
          <p:cNvSpPr/>
          <p:nvPr/>
        </p:nvSpPr>
        <p:spPr>
          <a:xfrm>
            <a:off x="3909240" y="6236280"/>
            <a:ext cx="1791360" cy="25524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9" name="TextBox 44"/>
          <p:cNvSpPr/>
          <p:nvPr/>
        </p:nvSpPr>
        <p:spPr>
          <a:xfrm>
            <a:off x="3963960" y="6263640"/>
            <a:ext cx="1699920" cy="200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50" b="0" u="none" strike="noStrike">
                <a:solidFill>
                  <a:srgbClr val="00D4FF"/>
                </a:solidFill>
                <a:effectLst/>
                <a:uFillTx/>
                <a:latin typeface="Consolas"/>
              </a:rPr>
              <a:t>registrationFailed</a:t>
            </a:r>
            <a:endParaRPr lang="en-GB" sz="950" b="0" u="none" strike="noStrike">
              <a:solidFill>
                <a:srgbClr val="FFFFFF"/>
              </a:solidFill>
              <a:effectLst/>
              <a:uFillTx/>
              <a:latin typeface="Arial"/>
            </a:endParaRPr>
          </a:p>
        </p:txBody>
      </p:sp>
      <p:sp>
        <p:nvSpPr>
          <p:cNvPr id="310" name="Rectangle 45"/>
          <p:cNvSpPr/>
          <p:nvPr/>
        </p:nvSpPr>
        <p:spPr>
          <a:xfrm>
            <a:off x="5811120" y="6236280"/>
            <a:ext cx="1270440" cy="25524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1" name="TextBox 46"/>
          <p:cNvSpPr/>
          <p:nvPr/>
        </p:nvSpPr>
        <p:spPr>
          <a:xfrm>
            <a:off x="5865840" y="6263640"/>
            <a:ext cx="1179000" cy="200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50" b="0" u="none" strike="noStrike">
                <a:solidFill>
                  <a:srgbClr val="00D4FF"/>
                </a:solidFill>
                <a:effectLst/>
                <a:uFillTx/>
                <a:latin typeface="Consolas"/>
              </a:rPr>
              <a:t>incomingCall</a:t>
            </a:r>
            <a:endParaRPr lang="en-GB" sz="950" b="0" u="none" strike="noStrike">
              <a:solidFill>
                <a:srgbClr val="FFFFFF"/>
              </a:solidFill>
              <a:effectLst/>
              <a:uFillTx/>
              <a:latin typeface="Arial"/>
            </a:endParaRPr>
          </a:p>
        </p:txBody>
      </p:sp>
      <p:sp>
        <p:nvSpPr>
          <p:cNvPr id="312" name="Rectangle 47"/>
          <p:cNvSpPr/>
          <p:nvPr/>
        </p:nvSpPr>
        <p:spPr>
          <a:xfrm>
            <a:off x="7191720" y="6236280"/>
            <a:ext cx="1357200" cy="25524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3" name="TextBox 48"/>
          <p:cNvSpPr/>
          <p:nvPr/>
        </p:nvSpPr>
        <p:spPr>
          <a:xfrm>
            <a:off x="7246800" y="6263640"/>
            <a:ext cx="1265760" cy="200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50" b="0" u="none" strike="noStrike">
                <a:solidFill>
                  <a:srgbClr val="00D4FF"/>
                </a:solidFill>
                <a:effectLst/>
                <a:uFillTx/>
                <a:latin typeface="Consolas"/>
              </a:rPr>
              <a:t>callConnected</a:t>
            </a:r>
            <a:endParaRPr lang="en-GB" sz="950" b="0" u="none" strike="noStrike">
              <a:solidFill>
                <a:srgbClr val="FFFFFF"/>
              </a:solidFill>
              <a:effectLst/>
              <a:uFillTx/>
              <a:latin typeface="Arial"/>
            </a:endParaRPr>
          </a:p>
        </p:txBody>
      </p:sp>
      <p:sp>
        <p:nvSpPr>
          <p:cNvPr id="314" name="Rectangle 49"/>
          <p:cNvSpPr/>
          <p:nvPr/>
        </p:nvSpPr>
        <p:spPr>
          <a:xfrm>
            <a:off x="8659440" y="6236280"/>
            <a:ext cx="1009800" cy="25524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5" name="TextBox 50"/>
          <p:cNvSpPr/>
          <p:nvPr/>
        </p:nvSpPr>
        <p:spPr>
          <a:xfrm>
            <a:off x="8714160" y="6263640"/>
            <a:ext cx="918360" cy="200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50" b="0" u="none" strike="noStrike">
                <a:solidFill>
                  <a:srgbClr val="00D4FF"/>
                </a:solidFill>
                <a:effectLst/>
                <a:uFillTx/>
                <a:latin typeface="Consolas"/>
              </a:rPr>
              <a:t>callEnded</a:t>
            </a:r>
            <a:endParaRPr lang="en-GB" sz="950" b="0" u="none" strike="noStrike">
              <a:solidFill>
                <a:srgbClr val="FFFFFF"/>
              </a:solidFill>
              <a:effectLst/>
              <a:uFillTx/>
              <a:latin typeface="Arial"/>
            </a:endParaRPr>
          </a:p>
        </p:txBody>
      </p:sp>
      <p:sp>
        <p:nvSpPr>
          <p:cNvPr id="316" name="Rectangle 51"/>
          <p:cNvSpPr/>
          <p:nvPr/>
        </p:nvSpPr>
        <p:spPr>
          <a:xfrm>
            <a:off x="9779400" y="6236280"/>
            <a:ext cx="1096560" cy="25524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7" name="TextBox 52"/>
          <p:cNvSpPr/>
          <p:nvPr/>
        </p:nvSpPr>
        <p:spPr>
          <a:xfrm>
            <a:off x="9834480" y="6263640"/>
            <a:ext cx="1005120" cy="200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50" b="0" u="none" strike="noStrike">
                <a:solidFill>
                  <a:srgbClr val="00D4FF"/>
                </a:solidFill>
                <a:effectLst/>
                <a:uFillTx/>
                <a:latin typeface="Consolas"/>
              </a:rPr>
              <a:t>callFailed</a:t>
            </a:r>
            <a:endParaRPr lang="en-GB" sz="950" b="0" u="none" strike="noStrike">
              <a:solidFill>
                <a:srgbClr val="FFFFFF"/>
              </a:solidFill>
              <a:effectLst/>
              <a:uFillTx/>
              <a:latin typeface="Arial"/>
            </a:endParaRPr>
          </a:p>
        </p:txBody>
      </p:sp>
      <p:sp>
        <p:nvSpPr>
          <p:cNvPr id="318" name="Rectangle 53"/>
          <p:cNvSpPr/>
          <p:nvPr/>
        </p:nvSpPr>
        <p:spPr>
          <a:xfrm>
            <a:off x="10986480" y="6236280"/>
            <a:ext cx="922680" cy="255240"/>
          </a:xfrm>
          <a:prstGeom prst="rect">
            <a:avLst/>
          </a:prstGeom>
          <a:solidFill>
            <a:srgbClr val="1A29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9" name="TextBox 54"/>
          <p:cNvSpPr/>
          <p:nvPr/>
        </p:nvSpPr>
        <p:spPr>
          <a:xfrm>
            <a:off x="11041560" y="6263640"/>
            <a:ext cx="831240" cy="200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950" b="0" u="none" strike="noStrike">
                <a:solidFill>
                  <a:srgbClr val="00D4FF"/>
                </a:solidFill>
                <a:effectLst/>
                <a:uFillTx/>
                <a:latin typeface="Consolas"/>
              </a:rPr>
              <a:t>callHeld</a:t>
            </a:r>
            <a:endParaRPr lang="en-GB" sz="9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320" name="TextBox 1"/>
          <p:cNvSpPr/>
          <p:nvPr/>
        </p:nvSpPr>
        <p:spPr>
          <a:xfrm>
            <a:off x="548640" y="274320"/>
            <a:ext cx="10972080" cy="639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Bold"/>
              </a:rPr>
              <a:t>Packet Capture &amp; Audio Recording</a:t>
            </a:r>
            <a:endParaRPr lang="en-GB" sz="3200" b="0" u="none" strike="noStrike">
              <a:solidFill>
                <a:srgbClr val="FFFFFF"/>
              </a:solidFill>
              <a:effectLst/>
              <a:uFillTx/>
              <a:latin typeface="Arial"/>
            </a:endParaRPr>
          </a:p>
        </p:txBody>
      </p:sp>
      <p:sp>
        <p:nvSpPr>
          <p:cNvPr id="321" name="Rectangle 2"/>
          <p:cNvSpPr/>
          <p:nvPr/>
        </p:nvSpPr>
        <p:spPr>
          <a:xfrm>
            <a:off x="548640" y="960120"/>
            <a:ext cx="109720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322" name="TextBox 3"/>
          <p:cNvSpPr/>
          <p:nvPr/>
        </p:nvSpPr>
        <p:spPr>
          <a:xfrm>
            <a:off x="548640" y="1188720"/>
            <a:ext cx="5485680" cy="364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00D4FF"/>
                </a:solidFill>
                <a:effectLst/>
                <a:uFillTx/>
                <a:latin typeface="Calibri Bold"/>
              </a:rPr>
              <a:t>.pcap  - SIP + RTP Capture</a:t>
            </a:r>
            <a:endParaRPr lang="en-GB" sz="1800" b="0" u="none" strike="noStrike">
              <a:solidFill>
                <a:srgbClr val="FFFFFF"/>
              </a:solidFill>
              <a:effectLst/>
              <a:uFillTx/>
              <a:latin typeface="Arial"/>
            </a:endParaRPr>
          </a:p>
        </p:txBody>
      </p:sp>
      <p:sp>
        <p:nvSpPr>
          <p:cNvPr id="323" name="Rectangle 4"/>
          <p:cNvSpPr/>
          <p:nvPr/>
        </p:nvSpPr>
        <p:spPr>
          <a:xfrm>
            <a:off x="548640" y="1828800"/>
            <a:ext cx="54000" cy="25524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24" name="TextBox 5"/>
          <p:cNvSpPr/>
          <p:nvPr/>
        </p:nvSpPr>
        <p:spPr>
          <a:xfrm>
            <a:off x="749880" y="1737360"/>
            <a:ext cx="5119920" cy="265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Pure Node.js - no tcpdump, no raw socket permissions</a:t>
            </a:r>
            <a:endParaRPr lang="en-GB" sz="1150" b="0" u="none" strike="noStrike">
              <a:solidFill>
                <a:srgbClr val="FFFFFF"/>
              </a:solidFill>
              <a:effectLst/>
              <a:uFillTx/>
              <a:latin typeface="Arial"/>
            </a:endParaRPr>
          </a:p>
        </p:txBody>
      </p:sp>
      <p:sp>
        <p:nvSpPr>
          <p:cNvPr id="325" name="Rectangle 6"/>
          <p:cNvSpPr/>
          <p:nvPr/>
        </p:nvSpPr>
        <p:spPr>
          <a:xfrm>
            <a:off x="548640" y="2350080"/>
            <a:ext cx="54000" cy="25524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26" name="TextBox 7"/>
          <p:cNvSpPr/>
          <p:nvPr/>
        </p:nvSpPr>
        <p:spPr>
          <a:xfrm>
            <a:off x="749880" y="225864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libpcap binary format (magic 0xa1b2c3d4)</a:t>
            </a:r>
            <a:endParaRPr lang="en-GB" sz="1150" b="0" u="none" strike="noStrike">
              <a:solidFill>
                <a:srgbClr val="FFFFFF"/>
              </a:solidFill>
              <a:effectLst/>
              <a:uFillTx/>
              <a:latin typeface="Arial"/>
            </a:endParaRPr>
          </a:p>
        </p:txBody>
      </p:sp>
      <p:sp>
        <p:nvSpPr>
          <p:cNvPr id="327" name="Rectangle 8"/>
          <p:cNvSpPr/>
          <p:nvPr/>
        </p:nvSpPr>
        <p:spPr>
          <a:xfrm>
            <a:off x="548640" y="2871360"/>
            <a:ext cx="54000" cy="25524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28" name="TextBox 9"/>
          <p:cNvSpPr/>
          <p:nvPr/>
        </p:nvSpPr>
        <p:spPr>
          <a:xfrm>
            <a:off x="749880" y="2779920"/>
            <a:ext cx="5119920" cy="265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Link type 228 - Raw IPv4 (no fake Ethernet headers)</a:t>
            </a:r>
            <a:endParaRPr lang="en-GB" sz="1150" b="0" u="none" strike="noStrike">
              <a:solidFill>
                <a:srgbClr val="FFFFFF"/>
              </a:solidFill>
              <a:effectLst/>
              <a:uFillTx/>
              <a:latin typeface="Arial"/>
            </a:endParaRPr>
          </a:p>
        </p:txBody>
      </p:sp>
      <p:sp>
        <p:nvSpPr>
          <p:cNvPr id="329" name="Rectangle 10"/>
          <p:cNvSpPr/>
          <p:nvPr/>
        </p:nvSpPr>
        <p:spPr>
          <a:xfrm>
            <a:off x="548640" y="3392280"/>
            <a:ext cx="54000" cy="25524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30" name="TextBox 11"/>
          <p:cNvSpPr/>
          <p:nvPr/>
        </p:nvSpPr>
        <p:spPr>
          <a:xfrm>
            <a:off x="749880" y="330084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SIP messages captured via JsSIP transport._ws hook</a:t>
            </a:r>
            <a:endParaRPr lang="en-GB" sz="1150" b="0" u="none" strike="noStrike">
              <a:solidFill>
                <a:srgbClr val="FFFFFF"/>
              </a:solidFill>
              <a:effectLst/>
              <a:uFillTx/>
              <a:latin typeface="Arial"/>
            </a:endParaRPr>
          </a:p>
        </p:txBody>
      </p:sp>
      <p:sp>
        <p:nvSpPr>
          <p:cNvPr id="331" name="Rectangle 12"/>
          <p:cNvSpPr/>
          <p:nvPr/>
        </p:nvSpPr>
        <p:spPr>
          <a:xfrm>
            <a:off x="548640" y="3913560"/>
            <a:ext cx="54000" cy="25524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32" name="TextBox 13"/>
          <p:cNvSpPr/>
          <p:nvPr/>
        </p:nvSpPr>
        <p:spPr>
          <a:xfrm>
            <a:off x="749880" y="382212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RTP packets written from dgram socket message events</a:t>
            </a:r>
            <a:endParaRPr lang="en-GB" sz="1150" b="0" u="none" strike="noStrike">
              <a:solidFill>
                <a:srgbClr val="FFFFFF"/>
              </a:solidFill>
              <a:effectLst/>
              <a:uFillTx/>
              <a:latin typeface="Arial"/>
            </a:endParaRPr>
          </a:p>
        </p:txBody>
      </p:sp>
      <p:sp>
        <p:nvSpPr>
          <p:cNvPr id="333" name="Rectangle 14"/>
          <p:cNvSpPr/>
          <p:nvPr/>
        </p:nvSpPr>
        <p:spPr>
          <a:xfrm>
            <a:off x="548640" y="4434840"/>
            <a:ext cx="54000" cy="25524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34" name="TextBox 15"/>
          <p:cNvSpPr/>
          <p:nvPr/>
        </p:nvSpPr>
        <p:spPr>
          <a:xfrm>
            <a:off x="749880" y="434340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One file per call, named with timestamp + call ID prefix</a:t>
            </a:r>
            <a:endParaRPr lang="en-GB" sz="1150" b="0" u="none" strike="noStrike">
              <a:solidFill>
                <a:srgbClr val="FFFFFF"/>
              </a:solidFill>
              <a:effectLst/>
              <a:uFillTx/>
              <a:latin typeface="Arial"/>
            </a:endParaRPr>
          </a:p>
        </p:txBody>
      </p:sp>
      <p:sp>
        <p:nvSpPr>
          <p:cNvPr id="335" name="Rectangle 16"/>
          <p:cNvSpPr/>
          <p:nvPr/>
        </p:nvSpPr>
        <p:spPr>
          <a:xfrm>
            <a:off x="548640" y="4956120"/>
            <a:ext cx="54000" cy="25524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36" name="TextBox 17"/>
          <p:cNvSpPr/>
          <p:nvPr/>
        </p:nvSpPr>
        <p:spPr>
          <a:xfrm>
            <a:off x="749880" y="486468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Download via UI (↓ PCAP button) or GET /api/captures</a:t>
            </a:r>
            <a:endParaRPr lang="en-GB" sz="1150" b="0" u="none" strike="noStrike">
              <a:solidFill>
                <a:srgbClr val="FFFFFF"/>
              </a:solidFill>
              <a:effectLst/>
              <a:uFillTx/>
              <a:latin typeface="Arial"/>
            </a:endParaRPr>
          </a:p>
        </p:txBody>
      </p:sp>
      <p:sp>
        <p:nvSpPr>
          <p:cNvPr id="337" name="Rectangle 18"/>
          <p:cNvSpPr/>
          <p:nvPr/>
        </p:nvSpPr>
        <p:spPr>
          <a:xfrm>
            <a:off x="548640" y="5477400"/>
            <a:ext cx="54000" cy="25524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38" name="TextBox 19"/>
          <p:cNvSpPr/>
          <p:nvPr/>
        </p:nvSpPr>
        <p:spPr>
          <a:xfrm>
            <a:off x="749880" y="538596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Open in Wireshark → Telephony → VoIP Calls</a:t>
            </a:r>
            <a:endParaRPr lang="en-GB" sz="1150" b="0" u="none" strike="noStrike">
              <a:solidFill>
                <a:srgbClr val="FFFFFF"/>
              </a:solidFill>
              <a:effectLst/>
              <a:uFillTx/>
              <a:latin typeface="Arial"/>
            </a:endParaRPr>
          </a:p>
        </p:txBody>
      </p:sp>
      <p:sp>
        <p:nvSpPr>
          <p:cNvPr id="339" name="Rectangle 20"/>
          <p:cNvSpPr/>
          <p:nvPr/>
        </p:nvSpPr>
        <p:spPr>
          <a:xfrm>
            <a:off x="6126480" y="1097280"/>
            <a:ext cx="36000" cy="5394240"/>
          </a:xfrm>
          <a:prstGeom prst="rect">
            <a:avLst/>
          </a:prstGeom>
          <a:solidFill>
            <a:srgbClr val="2E3D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000" tIns="45000" rIns="18000" bIns="45000" anchor="ctr">
            <a:noAutofit/>
          </a:bodyPr>
          <a:p>
            <a:endParaRPr lang="en-US" sz="1800" b="0" u="none" strike="noStrike">
              <a:solidFill>
                <a:schemeClr val="lt1"/>
              </a:solidFill>
              <a:effectLst/>
              <a:uFillTx/>
              <a:latin typeface="Calibri"/>
            </a:endParaRPr>
          </a:p>
        </p:txBody>
      </p:sp>
      <p:sp>
        <p:nvSpPr>
          <p:cNvPr id="340" name="TextBox 21"/>
          <p:cNvSpPr/>
          <p:nvPr/>
        </p:nvSpPr>
        <p:spPr>
          <a:xfrm>
            <a:off x="6400800" y="1188720"/>
            <a:ext cx="5485680" cy="364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D97706"/>
                </a:solidFill>
                <a:effectLst/>
                <a:uFillTx/>
                <a:latin typeface="Calibri Bold"/>
              </a:rPr>
              <a:t>.wav  - Inbound Audio Recording</a:t>
            </a:r>
            <a:endParaRPr lang="en-GB" sz="1800" b="0" u="none" strike="noStrike">
              <a:solidFill>
                <a:srgbClr val="FFFFFF"/>
              </a:solidFill>
              <a:effectLst/>
              <a:uFillTx/>
              <a:latin typeface="Arial"/>
            </a:endParaRPr>
          </a:p>
        </p:txBody>
      </p:sp>
      <p:sp>
        <p:nvSpPr>
          <p:cNvPr id="341" name="Rectangle 22"/>
          <p:cNvSpPr/>
          <p:nvPr/>
        </p:nvSpPr>
        <p:spPr>
          <a:xfrm>
            <a:off x="6400800" y="1828800"/>
            <a:ext cx="54000" cy="25524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42" name="TextBox 23"/>
          <p:cNvSpPr/>
          <p:nvPr/>
        </p:nvSpPr>
        <p:spPr>
          <a:xfrm>
            <a:off x="6602040" y="173736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Decodes inbound RTP payload in real time</a:t>
            </a:r>
            <a:endParaRPr lang="en-GB" sz="1150" b="0" u="none" strike="noStrike">
              <a:solidFill>
                <a:srgbClr val="FFFFFF"/>
              </a:solidFill>
              <a:effectLst/>
              <a:uFillTx/>
              <a:latin typeface="Arial"/>
            </a:endParaRPr>
          </a:p>
        </p:txBody>
      </p:sp>
      <p:sp>
        <p:nvSpPr>
          <p:cNvPr id="343" name="Rectangle 24"/>
          <p:cNvSpPr/>
          <p:nvPr/>
        </p:nvSpPr>
        <p:spPr>
          <a:xfrm>
            <a:off x="6400800" y="2350080"/>
            <a:ext cx="54000" cy="25524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44" name="TextBox 25"/>
          <p:cNvSpPr/>
          <p:nvPr/>
        </p:nvSpPr>
        <p:spPr>
          <a:xfrm>
            <a:off x="6602040" y="225864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 xml:space="preserve">G.722 → 16kHz 16-bit </a:t>
            </a:r>
            <a:r>
              <a:rPr lang="en-US" sz="1150" b="0" u="none" strike="noStrike">
                <a:solidFill>
                  <a:srgbClr val="F0F4FF"/>
                </a:solidFill>
                <a:effectLst/>
                <a:uFillTx/>
                <a:latin typeface="Calibri"/>
              </a:rPr>
              <a:t xml:space="preserve">PCM (sub-band ADPCM </a:t>
            </a:r>
            <a:r>
              <a:rPr lang="en-US" sz="1150" b="0" u="none" strike="noStrike">
                <a:solidFill>
                  <a:srgbClr val="F0F4FF"/>
                </a:solidFill>
                <a:effectLst/>
                <a:uFillTx/>
                <a:latin typeface="Calibri"/>
              </a:rPr>
              <a:t>decoder)</a:t>
            </a:r>
            <a:endParaRPr lang="en-GB" sz="1150" b="0" u="none" strike="noStrike">
              <a:solidFill>
                <a:srgbClr val="FFFFFF"/>
              </a:solidFill>
              <a:effectLst/>
              <a:uFillTx/>
              <a:latin typeface="Arial"/>
            </a:endParaRPr>
          </a:p>
        </p:txBody>
      </p:sp>
      <p:sp>
        <p:nvSpPr>
          <p:cNvPr id="345" name="Rectangle 26"/>
          <p:cNvSpPr/>
          <p:nvPr/>
        </p:nvSpPr>
        <p:spPr>
          <a:xfrm>
            <a:off x="6400800" y="2871360"/>
            <a:ext cx="54000" cy="25524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46" name="TextBox 27"/>
          <p:cNvSpPr/>
          <p:nvPr/>
        </p:nvSpPr>
        <p:spPr>
          <a:xfrm>
            <a:off x="6602040" y="277992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PCMU → 8kHz PCM via μ-law table</a:t>
            </a:r>
            <a:endParaRPr lang="en-GB" sz="1150" b="0" u="none" strike="noStrike">
              <a:solidFill>
                <a:srgbClr val="FFFFFF"/>
              </a:solidFill>
              <a:effectLst/>
              <a:uFillTx/>
              <a:latin typeface="Arial"/>
            </a:endParaRPr>
          </a:p>
        </p:txBody>
      </p:sp>
      <p:sp>
        <p:nvSpPr>
          <p:cNvPr id="347" name="Rectangle 28"/>
          <p:cNvSpPr/>
          <p:nvPr/>
        </p:nvSpPr>
        <p:spPr>
          <a:xfrm>
            <a:off x="6400800" y="3392280"/>
            <a:ext cx="54000" cy="25524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48" name="TextBox 29"/>
          <p:cNvSpPr/>
          <p:nvPr/>
        </p:nvSpPr>
        <p:spPr>
          <a:xfrm>
            <a:off x="6602040" y="330084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 xml:space="preserve">PCMA → 8kHz </a:t>
            </a:r>
            <a:r>
              <a:rPr lang="en-US" sz="1150" b="0" u="none" strike="noStrike">
                <a:solidFill>
                  <a:srgbClr val="F0F4FF"/>
                </a:solidFill>
                <a:effectLst/>
                <a:uFillTx/>
                <a:latin typeface="Calibri"/>
              </a:rPr>
              <a:t xml:space="preserve">PCM via A-law </a:t>
            </a:r>
            <a:r>
              <a:rPr lang="en-US" sz="1150" b="0" u="none" strike="noStrike">
                <a:solidFill>
                  <a:srgbClr val="F0F4FF"/>
                </a:solidFill>
                <a:effectLst/>
                <a:uFillTx/>
                <a:latin typeface="Calibri"/>
              </a:rPr>
              <a:t>table</a:t>
            </a:r>
            <a:endParaRPr lang="en-GB" sz="1150" b="0" u="none" strike="noStrike">
              <a:solidFill>
                <a:srgbClr val="FFFFFF"/>
              </a:solidFill>
              <a:effectLst/>
              <a:uFillTx/>
              <a:latin typeface="Arial"/>
            </a:endParaRPr>
          </a:p>
        </p:txBody>
      </p:sp>
      <p:sp>
        <p:nvSpPr>
          <p:cNvPr id="349" name="Rectangle 30"/>
          <p:cNvSpPr/>
          <p:nvPr/>
        </p:nvSpPr>
        <p:spPr>
          <a:xfrm>
            <a:off x="6400800" y="3913560"/>
            <a:ext cx="54000" cy="25524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50" name="TextBox 31"/>
          <p:cNvSpPr/>
          <p:nvPr/>
        </p:nvSpPr>
        <p:spPr>
          <a:xfrm>
            <a:off x="6602040" y="382212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Writes PCM samples directly to file during call</a:t>
            </a:r>
            <a:endParaRPr lang="en-GB" sz="1150" b="0" u="none" strike="noStrike">
              <a:solidFill>
                <a:srgbClr val="FFFFFF"/>
              </a:solidFill>
              <a:effectLst/>
              <a:uFillTx/>
              <a:latin typeface="Arial"/>
            </a:endParaRPr>
          </a:p>
        </p:txBody>
      </p:sp>
      <p:sp>
        <p:nvSpPr>
          <p:cNvPr id="351" name="Rectangle 32"/>
          <p:cNvSpPr/>
          <p:nvPr/>
        </p:nvSpPr>
        <p:spPr>
          <a:xfrm>
            <a:off x="6400800" y="4434840"/>
            <a:ext cx="54000" cy="25524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52" name="TextBox 33"/>
          <p:cNvSpPr/>
          <p:nvPr/>
        </p:nvSpPr>
        <p:spPr>
          <a:xfrm>
            <a:off x="6602040" y="434340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WAV header written on call end (knows sample count)</a:t>
            </a:r>
            <a:endParaRPr lang="en-GB" sz="1150" b="0" u="none" strike="noStrike">
              <a:solidFill>
                <a:srgbClr val="FFFFFF"/>
              </a:solidFill>
              <a:effectLst/>
              <a:uFillTx/>
              <a:latin typeface="Arial"/>
            </a:endParaRPr>
          </a:p>
        </p:txBody>
      </p:sp>
      <p:sp>
        <p:nvSpPr>
          <p:cNvPr id="353" name="Rectangle 34"/>
          <p:cNvSpPr/>
          <p:nvPr/>
        </p:nvSpPr>
        <p:spPr>
          <a:xfrm>
            <a:off x="6400800" y="4956120"/>
            <a:ext cx="54000" cy="25524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54" name="TextBox 35"/>
          <p:cNvSpPr/>
          <p:nvPr/>
        </p:nvSpPr>
        <p:spPr>
          <a:xfrm>
            <a:off x="6602040" y="486468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One .wav per call, linked to matching .pcap in UI</a:t>
            </a:r>
            <a:endParaRPr lang="en-GB" sz="1150" b="0" u="none" strike="noStrike">
              <a:solidFill>
                <a:srgbClr val="FFFFFF"/>
              </a:solidFill>
              <a:effectLst/>
              <a:uFillTx/>
              <a:latin typeface="Arial"/>
            </a:endParaRPr>
          </a:p>
        </p:txBody>
      </p:sp>
      <p:sp>
        <p:nvSpPr>
          <p:cNvPr id="355" name="Rectangle 36"/>
          <p:cNvSpPr/>
          <p:nvPr/>
        </p:nvSpPr>
        <p:spPr>
          <a:xfrm>
            <a:off x="6400800" y="5477400"/>
            <a:ext cx="54000" cy="25524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356" name="TextBox 37"/>
          <p:cNvSpPr/>
          <p:nvPr/>
        </p:nvSpPr>
        <p:spPr>
          <a:xfrm>
            <a:off x="6602040" y="5385960"/>
            <a:ext cx="511992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50" b="0" u="none" strike="noStrike">
                <a:solidFill>
                  <a:srgbClr val="F0F4FF"/>
                </a:solidFill>
                <a:effectLst/>
                <a:uFillTx/>
                <a:latin typeface="Calibri"/>
              </a:rPr>
              <a:t>Download via ↓ WAV button or /captures/audio_*.wav</a:t>
            </a:r>
            <a:endParaRPr lang="en-GB" sz="11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357" name="TextBox 1"/>
          <p:cNvSpPr/>
          <p:nvPr/>
        </p:nvSpPr>
        <p:spPr>
          <a:xfrm>
            <a:off x="548640" y="274320"/>
            <a:ext cx="10972080" cy="639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FFFFFF"/>
                </a:solidFill>
                <a:effectLst/>
                <a:uFillTx/>
                <a:latin typeface="Calibri Bold"/>
              </a:rPr>
              <a:t>Deployment</a:t>
            </a:r>
            <a:endParaRPr lang="en-GB" sz="3400" b="0" u="none" strike="noStrike">
              <a:solidFill>
                <a:srgbClr val="FFFFFF"/>
              </a:solidFill>
              <a:effectLst/>
              <a:uFillTx/>
              <a:latin typeface="Arial"/>
            </a:endParaRPr>
          </a:p>
        </p:txBody>
      </p:sp>
      <p:sp>
        <p:nvSpPr>
          <p:cNvPr id="358" name="Rectangle 2"/>
          <p:cNvSpPr/>
          <p:nvPr/>
        </p:nvSpPr>
        <p:spPr>
          <a:xfrm>
            <a:off x="548640" y="960120"/>
            <a:ext cx="109720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359" name="Rectangle 3"/>
          <p:cNvSpPr/>
          <p:nvPr/>
        </p:nvSpPr>
        <p:spPr>
          <a:xfrm>
            <a:off x="457200" y="1188720"/>
            <a:ext cx="3656880" cy="4564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0" name="TextBox 4"/>
          <p:cNvSpPr/>
          <p:nvPr/>
        </p:nvSpPr>
        <p:spPr>
          <a:xfrm>
            <a:off x="594360" y="1252800"/>
            <a:ext cx="3382560" cy="3466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1" u="none" strike="noStrike">
                <a:solidFill>
                  <a:srgbClr val="FFFFFF"/>
                </a:solidFill>
                <a:effectLst/>
                <a:uFillTx/>
                <a:latin typeface="Calibri Bold"/>
              </a:rPr>
              <a:t>Docker</a:t>
            </a:r>
            <a:endParaRPr lang="en-GB" sz="1600" b="0" u="none" strike="noStrike">
              <a:solidFill>
                <a:srgbClr val="FFFFFF"/>
              </a:solidFill>
              <a:effectLst/>
              <a:uFillTx/>
              <a:latin typeface="Arial"/>
            </a:endParaRPr>
          </a:p>
        </p:txBody>
      </p:sp>
      <p:sp>
        <p:nvSpPr>
          <p:cNvPr id="361" name="Rectangle 5"/>
          <p:cNvSpPr/>
          <p:nvPr/>
        </p:nvSpPr>
        <p:spPr>
          <a:xfrm>
            <a:off x="457200" y="1645920"/>
            <a:ext cx="3656880" cy="4479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2" name="TextBox 6"/>
          <p:cNvSpPr/>
          <p:nvPr/>
        </p:nvSpPr>
        <p:spPr>
          <a:xfrm>
            <a:off x="594360" y="1783080"/>
            <a:ext cx="338256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563EB"/>
                </a:solidFill>
                <a:effectLst/>
                <a:uFillTx/>
                <a:latin typeface="Consolas"/>
              </a:rPr>
              <a:t>Standard docker-compose.yml included</a:t>
            </a:r>
            <a:endParaRPr lang="en-GB" sz="1000" b="0" u="none" strike="noStrike">
              <a:solidFill>
                <a:srgbClr val="FFFFFF"/>
              </a:solidFill>
              <a:effectLst/>
              <a:uFillTx/>
              <a:latin typeface="Arial"/>
            </a:endParaRPr>
          </a:p>
        </p:txBody>
      </p:sp>
      <p:sp>
        <p:nvSpPr>
          <p:cNvPr id="363" name="Rectangle 7"/>
          <p:cNvSpPr/>
          <p:nvPr/>
        </p:nvSpPr>
        <p:spPr>
          <a:xfrm>
            <a:off x="594360" y="2468880"/>
            <a:ext cx="45000" cy="20052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64" name="TextBox 8"/>
          <p:cNvSpPr/>
          <p:nvPr/>
        </p:nvSpPr>
        <p:spPr>
          <a:xfrm>
            <a:off x="777240" y="235908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Multi-stage Alpine build</a:t>
            </a:r>
            <a:endParaRPr lang="en-GB" sz="1050" b="0" u="none" strike="noStrike">
              <a:solidFill>
                <a:srgbClr val="FFFFFF"/>
              </a:solidFill>
              <a:effectLst/>
              <a:uFillTx/>
              <a:latin typeface="Arial"/>
            </a:endParaRPr>
          </a:p>
        </p:txBody>
      </p:sp>
      <p:sp>
        <p:nvSpPr>
          <p:cNvPr id="365" name="Rectangle 9"/>
          <p:cNvSpPr/>
          <p:nvPr/>
        </p:nvSpPr>
        <p:spPr>
          <a:xfrm>
            <a:off x="594360" y="3044880"/>
            <a:ext cx="45000" cy="20052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66" name="TextBox 10"/>
          <p:cNvSpPr/>
          <p:nvPr/>
        </p:nvSpPr>
        <p:spPr>
          <a:xfrm>
            <a:off x="777240" y="293508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tini as PID 1</a:t>
            </a:r>
            <a:endParaRPr lang="en-GB" sz="1050" b="0" u="none" strike="noStrike">
              <a:solidFill>
                <a:srgbClr val="FFFFFF"/>
              </a:solidFill>
              <a:effectLst/>
              <a:uFillTx/>
              <a:latin typeface="Arial"/>
            </a:endParaRPr>
          </a:p>
        </p:txBody>
      </p:sp>
      <p:sp>
        <p:nvSpPr>
          <p:cNvPr id="367" name="Rectangle 11"/>
          <p:cNvSpPr/>
          <p:nvPr/>
        </p:nvSpPr>
        <p:spPr>
          <a:xfrm>
            <a:off x="594360" y="3620880"/>
            <a:ext cx="45000" cy="20052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68" name="TextBox 12"/>
          <p:cNvSpPr/>
          <p:nvPr/>
        </p:nvSpPr>
        <p:spPr>
          <a:xfrm>
            <a:off x="777240" y="351144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ffmpeg for WAV conversion</a:t>
            </a:r>
            <a:endParaRPr lang="en-GB" sz="1050" b="0" u="none" strike="noStrike">
              <a:solidFill>
                <a:srgbClr val="FFFFFF"/>
              </a:solidFill>
              <a:effectLst/>
              <a:uFillTx/>
              <a:latin typeface="Arial"/>
            </a:endParaRPr>
          </a:p>
        </p:txBody>
      </p:sp>
      <p:sp>
        <p:nvSpPr>
          <p:cNvPr id="369" name="Rectangle 13"/>
          <p:cNvSpPr/>
          <p:nvPr/>
        </p:nvSpPr>
        <p:spPr>
          <a:xfrm>
            <a:off x="594360" y="4197240"/>
            <a:ext cx="45000" cy="20052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70" name="TextBox 14"/>
          <p:cNvSpPr/>
          <p:nvPr/>
        </p:nvSpPr>
        <p:spPr>
          <a:xfrm>
            <a:off x="777240" y="408744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Volume: /captures for pcap + WAV</a:t>
            </a:r>
            <a:endParaRPr lang="en-GB" sz="1050" b="0" u="none" strike="noStrike">
              <a:solidFill>
                <a:srgbClr val="FFFFFF"/>
              </a:solidFill>
              <a:effectLst/>
              <a:uFillTx/>
              <a:latin typeface="Arial"/>
            </a:endParaRPr>
          </a:p>
        </p:txBody>
      </p:sp>
      <p:sp>
        <p:nvSpPr>
          <p:cNvPr id="371" name="TextBox 15"/>
          <p:cNvSpPr/>
          <p:nvPr/>
        </p:nvSpPr>
        <p:spPr>
          <a:xfrm>
            <a:off x="594360" y="5239440"/>
            <a:ext cx="338256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2563EB"/>
                </a:solidFill>
                <a:effectLst/>
                <a:uFillTx/>
                <a:latin typeface="Consolas"/>
              </a:rPr>
              <a:t>docker-compose up -d --build</a:t>
            </a:r>
            <a:endParaRPr lang="en-GB" sz="1000" b="0" u="none" strike="noStrike">
              <a:solidFill>
                <a:srgbClr val="FFFFFF"/>
              </a:solidFill>
              <a:effectLst/>
              <a:uFillTx/>
              <a:latin typeface="Arial"/>
            </a:endParaRPr>
          </a:p>
        </p:txBody>
      </p:sp>
      <p:sp>
        <p:nvSpPr>
          <p:cNvPr id="372" name="Rectangle 16"/>
          <p:cNvSpPr/>
          <p:nvPr/>
        </p:nvSpPr>
        <p:spPr>
          <a:xfrm>
            <a:off x="4343400" y="1188720"/>
            <a:ext cx="3656880" cy="45648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3" name="TextBox 17"/>
          <p:cNvSpPr/>
          <p:nvPr/>
        </p:nvSpPr>
        <p:spPr>
          <a:xfrm>
            <a:off x="4480560" y="1252800"/>
            <a:ext cx="3382560" cy="3466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1" u="none" strike="noStrike">
                <a:solidFill>
                  <a:srgbClr val="FFFFFF"/>
                </a:solidFill>
                <a:effectLst/>
                <a:uFillTx/>
                <a:latin typeface="Calibri Bold"/>
              </a:rPr>
              <a:t>Podman (Fedora)</a:t>
            </a:r>
            <a:endParaRPr lang="en-GB" sz="1600" b="0" u="none" strike="noStrike">
              <a:solidFill>
                <a:srgbClr val="FFFFFF"/>
              </a:solidFill>
              <a:effectLst/>
              <a:uFillTx/>
              <a:latin typeface="Arial"/>
            </a:endParaRPr>
          </a:p>
        </p:txBody>
      </p:sp>
      <p:sp>
        <p:nvSpPr>
          <p:cNvPr id="374" name="Rectangle 18"/>
          <p:cNvSpPr/>
          <p:nvPr/>
        </p:nvSpPr>
        <p:spPr>
          <a:xfrm>
            <a:off x="4343400" y="1645920"/>
            <a:ext cx="3656880" cy="4479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5" name="Rectangle 19"/>
          <p:cNvSpPr/>
          <p:nvPr/>
        </p:nvSpPr>
        <p:spPr>
          <a:xfrm>
            <a:off x="4480560" y="1892880"/>
            <a:ext cx="45000" cy="20052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76" name="TextBox 20"/>
          <p:cNvSpPr/>
          <p:nvPr/>
        </p:nvSpPr>
        <p:spPr>
          <a:xfrm>
            <a:off x="4663440" y="1783080"/>
            <a:ext cx="3199680" cy="250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Native on Fedora - no install needed</a:t>
            </a:r>
            <a:endParaRPr lang="en-GB" sz="1050" b="0" u="none" strike="noStrike">
              <a:solidFill>
                <a:srgbClr val="FFFFFF"/>
              </a:solidFill>
              <a:effectLst/>
              <a:uFillTx/>
              <a:latin typeface="Arial"/>
            </a:endParaRPr>
          </a:p>
        </p:txBody>
      </p:sp>
      <p:sp>
        <p:nvSpPr>
          <p:cNvPr id="377" name="TextBox 21"/>
          <p:cNvSpPr/>
          <p:nvPr/>
        </p:nvSpPr>
        <p:spPr>
          <a:xfrm>
            <a:off x="4480560" y="2359080"/>
            <a:ext cx="338256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7C3AED"/>
                </a:solidFill>
                <a:effectLst/>
                <a:uFillTx/>
                <a:latin typeface="Consolas"/>
              </a:rPr>
              <a:t>podman-compose up -d --build</a:t>
            </a:r>
            <a:endParaRPr lang="en-GB" sz="1000" b="0" u="none" strike="noStrike">
              <a:solidFill>
                <a:srgbClr val="FFFFFF"/>
              </a:solidFill>
              <a:effectLst/>
              <a:uFillTx/>
              <a:latin typeface="Arial"/>
            </a:endParaRPr>
          </a:p>
        </p:txBody>
      </p:sp>
      <p:sp>
        <p:nvSpPr>
          <p:cNvPr id="378" name="Rectangle 22"/>
          <p:cNvSpPr/>
          <p:nvPr/>
        </p:nvSpPr>
        <p:spPr>
          <a:xfrm>
            <a:off x="4480560" y="3044880"/>
            <a:ext cx="45000" cy="20052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79" name="TextBox 23"/>
          <p:cNvSpPr/>
          <p:nvPr/>
        </p:nvSpPr>
        <p:spPr>
          <a:xfrm>
            <a:off x="4663440" y="293508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network_mode: host recommended</a:t>
            </a:r>
            <a:endParaRPr lang="en-GB" sz="1050" b="0" u="none" strike="noStrike">
              <a:solidFill>
                <a:srgbClr val="FFFFFF"/>
              </a:solidFill>
              <a:effectLst/>
              <a:uFillTx/>
              <a:latin typeface="Arial"/>
            </a:endParaRPr>
          </a:p>
        </p:txBody>
      </p:sp>
      <p:sp>
        <p:nvSpPr>
          <p:cNvPr id="380" name="TextBox 24"/>
          <p:cNvSpPr/>
          <p:nvPr/>
        </p:nvSpPr>
        <p:spPr>
          <a:xfrm>
            <a:off x="4709160" y="3511440"/>
            <a:ext cx="310824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i="1" u="none" strike="noStrike">
                <a:solidFill>
                  <a:srgbClr val="94A3B8"/>
                </a:solidFill>
                <a:effectLst/>
                <a:uFillTx/>
                <a:latin typeface="Calibri"/>
              </a:rPr>
              <a:t>(avoids SIP/RTP NAT issues)</a:t>
            </a:r>
            <a:endParaRPr lang="en-GB" sz="1000" b="0" u="none" strike="noStrike">
              <a:solidFill>
                <a:srgbClr val="FFFFFF"/>
              </a:solidFill>
              <a:effectLst/>
              <a:uFillTx/>
              <a:latin typeface="Arial"/>
            </a:endParaRPr>
          </a:p>
        </p:txBody>
      </p:sp>
      <p:sp>
        <p:nvSpPr>
          <p:cNvPr id="381" name="Rectangle 25"/>
          <p:cNvSpPr/>
          <p:nvPr/>
        </p:nvSpPr>
        <p:spPr>
          <a:xfrm>
            <a:off x="4480560" y="4197240"/>
            <a:ext cx="45000" cy="20052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82" name="TextBox 26"/>
          <p:cNvSpPr/>
          <p:nvPr/>
        </p:nvSpPr>
        <p:spPr>
          <a:xfrm>
            <a:off x="4663440" y="408744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privileged: true for pcap access</a:t>
            </a:r>
            <a:endParaRPr lang="en-GB" sz="1050" b="0" u="none" strike="noStrike">
              <a:solidFill>
                <a:srgbClr val="FFFFFF"/>
              </a:solidFill>
              <a:effectLst/>
              <a:uFillTx/>
              <a:latin typeface="Arial"/>
            </a:endParaRPr>
          </a:p>
        </p:txBody>
      </p:sp>
      <p:sp>
        <p:nvSpPr>
          <p:cNvPr id="383" name="Rectangle 27"/>
          <p:cNvSpPr/>
          <p:nvPr/>
        </p:nvSpPr>
        <p:spPr>
          <a:xfrm>
            <a:off x="4480560" y="4773240"/>
            <a:ext cx="45000" cy="20052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84" name="TextBox 28"/>
          <p:cNvSpPr/>
          <p:nvPr/>
        </p:nvSpPr>
        <p:spPr>
          <a:xfrm>
            <a:off x="4663440" y="466344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security_opt: label=disable</a:t>
            </a:r>
            <a:endParaRPr lang="en-GB" sz="1050" b="0" u="none" strike="noStrike">
              <a:solidFill>
                <a:srgbClr val="FFFFFF"/>
              </a:solidFill>
              <a:effectLst/>
              <a:uFillTx/>
              <a:latin typeface="Arial"/>
            </a:endParaRPr>
          </a:p>
        </p:txBody>
      </p:sp>
      <p:sp>
        <p:nvSpPr>
          <p:cNvPr id="385" name="TextBox 29"/>
          <p:cNvSpPr/>
          <p:nvPr/>
        </p:nvSpPr>
        <p:spPr>
          <a:xfrm>
            <a:off x="4480560" y="5239440"/>
            <a:ext cx="338256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7C3AED"/>
                </a:solidFill>
                <a:effectLst/>
                <a:uFillTx/>
                <a:latin typeface="Consolas"/>
              </a:rPr>
              <a:t>systemd unit via podman generate</a:t>
            </a:r>
            <a:endParaRPr lang="en-GB" sz="1000" b="0" u="none" strike="noStrike">
              <a:solidFill>
                <a:srgbClr val="FFFFFF"/>
              </a:solidFill>
              <a:effectLst/>
              <a:uFillTx/>
              <a:latin typeface="Arial"/>
            </a:endParaRPr>
          </a:p>
        </p:txBody>
      </p:sp>
      <p:sp>
        <p:nvSpPr>
          <p:cNvPr id="386" name="Rectangle 30"/>
          <p:cNvSpPr/>
          <p:nvPr/>
        </p:nvSpPr>
        <p:spPr>
          <a:xfrm>
            <a:off x="8229600" y="1188720"/>
            <a:ext cx="3656880" cy="45648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7" name="TextBox 31"/>
          <p:cNvSpPr/>
          <p:nvPr/>
        </p:nvSpPr>
        <p:spPr>
          <a:xfrm>
            <a:off x="8366760" y="1252800"/>
            <a:ext cx="3382560" cy="3466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1" u="none" strike="noStrike">
                <a:solidFill>
                  <a:srgbClr val="FFFFFF"/>
                </a:solidFill>
                <a:effectLst/>
                <a:uFillTx/>
                <a:latin typeface="Calibri Bold"/>
              </a:rPr>
              <a:t>Cloud / Headless</a:t>
            </a:r>
            <a:endParaRPr lang="en-GB" sz="1600" b="0" u="none" strike="noStrike">
              <a:solidFill>
                <a:srgbClr val="FFFFFF"/>
              </a:solidFill>
              <a:effectLst/>
              <a:uFillTx/>
              <a:latin typeface="Arial"/>
            </a:endParaRPr>
          </a:p>
        </p:txBody>
      </p:sp>
      <p:sp>
        <p:nvSpPr>
          <p:cNvPr id="388" name="Rectangle 32"/>
          <p:cNvSpPr/>
          <p:nvPr/>
        </p:nvSpPr>
        <p:spPr>
          <a:xfrm>
            <a:off x="8229600" y="1645920"/>
            <a:ext cx="3656880" cy="4479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9" name="Rectangle 33"/>
          <p:cNvSpPr/>
          <p:nvPr/>
        </p:nvSpPr>
        <p:spPr>
          <a:xfrm>
            <a:off x="8366760" y="1892880"/>
            <a:ext cx="45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90" name="TextBox 34"/>
          <p:cNvSpPr/>
          <p:nvPr/>
        </p:nvSpPr>
        <p:spPr>
          <a:xfrm>
            <a:off x="8549640" y="178308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 xml:space="preserve">No audio </a:t>
            </a:r>
            <a:r>
              <a:rPr lang="en-US" sz="1050" b="0" u="none" strike="noStrike">
                <a:solidFill>
                  <a:srgbClr val="F0F4FF"/>
                </a:solidFill>
                <a:effectLst/>
                <a:uFillTx/>
                <a:latin typeface="Calibri"/>
              </a:rPr>
              <a:t xml:space="preserve">hardware </a:t>
            </a:r>
            <a:r>
              <a:rPr lang="en-US" sz="1050" b="0" u="none" strike="noStrike">
                <a:solidFill>
                  <a:srgbClr val="F0F4FF"/>
                </a:solidFill>
                <a:effectLst/>
                <a:uFillTx/>
                <a:latin typeface="Calibri"/>
              </a:rPr>
              <a:t>required</a:t>
            </a:r>
            <a:endParaRPr lang="en-GB" sz="1050" b="0" u="none" strike="noStrike">
              <a:solidFill>
                <a:srgbClr val="FFFFFF"/>
              </a:solidFill>
              <a:effectLst/>
              <a:uFillTx/>
              <a:latin typeface="Arial"/>
            </a:endParaRPr>
          </a:p>
        </p:txBody>
      </p:sp>
      <p:sp>
        <p:nvSpPr>
          <p:cNvPr id="391" name="Rectangle 35"/>
          <p:cNvSpPr/>
          <p:nvPr/>
        </p:nvSpPr>
        <p:spPr>
          <a:xfrm>
            <a:off x="8366760" y="2468880"/>
            <a:ext cx="45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92" name="TextBox 36"/>
          <p:cNvSpPr/>
          <p:nvPr/>
        </p:nvSpPr>
        <p:spPr>
          <a:xfrm>
            <a:off x="8549640" y="235908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No /dev/snd, ALSA, or PulseAudio</a:t>
            </a:r>
            <a:endParaRPr lang="en-GB" sz="1050" b="0" u="none" strike="noStrike">
              <a:solidFill>
                <a:srgbClr val="FFFFFF"/>
              </a:solidFill>
              <a:effectLst/>
              <a:uFillTx/>
              <a:latin typeface="Arial"/>
            </a:endParaRPr>
          </a:p>
        </p:txBody>
      </p:sp>
      <p:sp>
        <p:nvSpPr>
          <p:cNvPr id="393" name="Rectangle 37"/>
          <p:cNvSpPr/>
          <p:nvPr/>
        </p:nvSpPr>
        <p:spPr>
          <a:xfrm>
            <a:off x="8366760" y="3044880"/>
            <a:ext cx="45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94" name="TextBox 38"/>
          <p:cNvSpPr/>
          <p:nvPr/>
        </p:nvSpPr>
        <p:spPr>
          <a:xfrm>
            <a:off x="8549640" y="293508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Media = raw UDP network I/O only</a:t>
            </a:r>
            <a:endParaRPr lang="en-GB" sz="1050" b="0" u="none" strike="noStrike">
              <a:solidFill>
                <a:srgbClr val="FFFFFF"/>
              </a:solidFill>
              <a:effectLst/>
              <a:uFillTx/>
              <a:latin typeface="Arial"/>
            </a:endParaRPr>
          </a:p>
        </p:txBody>
      </p:sp>
      <p:sp>
        <p:nvSpPr>
          <p:cNvPr id="395" name="Rectangle 39"/>
          <p:cNvSpPr/>
          <p:nvPr/>
        </p:nvSpPr>
        <p:spPr>
          <a:xfrm>
            <a:off x="8366760" y="3620880"/>
            <a:ext cx="45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96" name="TextBox 40"/>
          <p:cNvSpPr/>
          <p:nvPr/>
        </p:nvSpPr>
        <p:spPr>
          <a:xfrm>
            <a:off x="8549640" y="351144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Works on any VM with Docker/Podman</a:t>
            </a:r>
            <a:endParaRPr lang="en-GB" sz="1050" b="0" u="none" strike="noStrike">
              <a:solidFill>
                <a:srgbClr val="FFFFFF"/>
              </a:solidFill>
              <a:effectLst/>
              <a:uFillTx/>
              <a:latin typeface="Arial"/>
            </a:endParaRPr>
          </a:p>
        </p:txBody>
      </p:sp>
      <p:sp>
        <p:nvSpPr>
          <p:cNvPr id="397" name="Rectangle 41"/>
          <p:cNvSpPr/>
          <p:nvPr/>
        </p:nvSpPr>
        <p:spPr>
          <a:xfrm>
            <a:off x="8366760" y="4197240"/>
            <a:ext cx="45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398" name="TextBox 42"/>
          <p:cNvSpPr/>
          <p:nvPr/>
        </p:nvSpPr>
        <p:spPr>
          <a:xfrm>
            <a:off x="8549640" y="408744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NAT note: advertise public IP in SDP</a:t>
            </a:r>
            <a:endParaRPr lang="en-GB" sz="1050" b="0" u="none" strike="noStrike">
              <a:solidFill>
                <a:srgbClr val="FFFFFF"/>
              </a:solidFill>
              <a:effectLst/>
              <a:uFillTx/>
              <a:latin typeface="Arial"/>
            </a:endParaRPr>
          </a:p>
        </p:txBody>
      </p:sp>
      <p:sp>
        <p:nvSpPr>
          <p:cNvPr id="399" name="Rectangle 43"/>
          <p:cNvSpPr/>
          <p:nvPr/>
        </p:nvSpPr>
        <p:spPr>
          <a:xfrm>
            <a:off x="8366760" y="4773240"/>
            <a:ext cx="45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00" name="TextBox 44"/>
          <p:cNvSpPr/>
          <p:nvPr/>
        </p:nvSpPr>
        <p:spPr>
          <a:xfrm>
            <a:off x="8549640" y="466344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Firewall: open UDP 10000-20000 (RTP)</a:t>
            </a:r>
            <a:endParaRPr lang="en-GB" sz="1050" b="0" u="none" strike="noStrike">
              <a:solidFill>
                <a:srgbClr val="FFFFFF"/>
              </a:solidFill>
              <a:effectLst/>
              <a:uFillTx/>
              <a:latin typeface="Arial"/>
            </a:endParaRPr>
          </a:p>
        </p:txBody>
      </p:sp>
      <p:sp>
        <p:nvSpPr>
          <p:cNvPr id="401" name="Rectangle 45"/>
          <p:cNvSpPr/>
          <p:nvPr/>
        </p:nvSpPr>
        <p:spPr>
          <a:xfrm>
            <a:off x="8366760" y="5349240"/>
            <a:ext cx="45000" cy="20052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02" name="TextBox 46"/>
          <p:cNvSpPr/>
          <p:nvPr/>
        </p:nvSpPr>
        <p:spPr>
          <a:xfrm>
            <a:off x="8549640" y="5239440"/>
            <a:ext cx="3199680" cy="438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Port 3000 for UI + API access</a:t>
            </a:r>
            <a:endParaRPr lang="en-GB" sz="1050" b="0" u="none" strike="noStrike">
              <a:solidFill>
                <a:srgbClr val="FFFFFF"/>
              </a:solidFill>
              <a:effectLst/>
              <a:uFillTx/>
              <a:latin typeface="Arial"/>
            </a:endParaRPr>
          </a:p>
        </p:txBody>
      </p:sp>
      <p:sp>
        <p:nvSpPr>
          <p:cNvPr id="403" name="Rectangle 47"/>
          <p:cNvSpPr/>
          <p:nvPr/>
        </p:nvSpPr>
        <p:spPr>
          <a:xfrm>
            <a:off x="457200" y="6263640"/>
            <a:ext cx="11246400" cy="456480"/>
          </a:xfrm>
          <a:prstGeom prst="rect">
            <a:avLst/>
          </a:prstGeom>
          <a:solidFill>
            <a:srgbClr val="0D23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4" name="TextBox 48"/>
          <p:cNvSpPr/>
          <p:nvPr/>
        </p:nvSpPr>
        <p:spPr>
          <a:xfrm>
            <a:off x="640080" y="6309360"/>
            <a:ext cx="10880640" cy="346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94A3B8"/>
                </a:solidFill>
                <a:effectLst/>
                <a:uFillTx/>
                <a:latin typeface="Calibri"/>
              </a:rPr>
              <a:t>Requirements:  Docker / Podman  ·  ffmpeg (in container)  ·  Network access to SIP PBX  ·  UDP 10000-20000 open  ·  Port 3000 for UI</a:t>
            </a:r>
            <a:endParaRPr lang="en-GB"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405" name="TextBox 1"/>
          <p:cNvSpPr/>
          <p:nvPr/>
        </p:nvSpPr>
        <p:spPr>
          <a:xfrm>
            <a:off x="548640" y="274320"/>
            <a:ext cx="10972080" cy="607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FFFFFF"/>
                </a:solidFill>
                <a:effectLst/>
                <a:uFillTx/>
                <a:latin typeface="Calibri Bold"/>
              </a:rPr>
              <a:t>Web UI</a:t>
            </a:r>
            <a:endParaRPr lang="en-GB" sz="3400" b="0" u="none" strike="noStrike">
              <a:solidFill>
                <a:srgbClr val="FFFFFF"/>
              </a:solidFill>
              <a:effectLst/>
              <a:uFillTx/>
              <a:latin typeface="Arial"/>
            </a:endParaRPr>
          </a:p>
        </p:txBody>
      </p:sp>
      <p:sp>
        <p:nvSpPr>
          <p:cNvPr id="406" name="Rectangle 2"/>
          <p:cNvSpPr/>
          <p:nvPr/>
        </p:nvSpPr>
        <p:spPr>
          <a:xfrm>
            <a:off x="548640" y="960120"/>
            <a:ext cx="109720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407" name="Rectangle 3"/>
          <p:cNvSpPr/>
          <p:nvPr/>
        </p:nvSpPr>
        <p:spPr>
          <a:xfrm>
            <a:off x="457200" y="1188720"/>
            <a:ext cx="3108240" cy="41076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8" name="TextBox 4"/>
          <p:cNvSpPr/>
          <p:nvPr/>
        </p:nvSpPr>
        <p:spPr>
          <a:xfrm>
            <a:off x="567000" y="1252800"/>
            <a:ext cx="292536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1" u="none" strike="noStrike">
                <a:solidFill>
                  <a:srgbClr val="FFFFFF"/>
                </a:solidFill>
                <a:effectLst/>
                <a:uFillTx/>
                <a:latin typeface="Calibri Bold"/>
              </a:rPr>
              <a:t>Registration Panel</a:t>
            </a:r>
            <a:endParaRPr lang="en-GB" sz="1200" b="0" u="none" strike="noStrike">
              <a:solidFill>
                <a:srgbClr val="FFFFFF"/>
              </a:solidFill>
              <a:effectLst/>
              <a:uFillTx/>
              <a:latin typeface="Arial"/>
            </a:endParaRPr>
          </a:p>
        </p:txBody>
      </p:sp>
      <p:sp>
        <p:nvSpPr>
          <p:cNvPr id="409" name="Rectangle 5"/>
          <p:cNvSpPr/>
          <p:nvPr/>
        </p:nvSpPr>
        <p:spPr>
          <a:xfrm>
            <a:off x="457200" y="1600200"/>
            <a:ext cx="3108240" cy="479988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0" name="Rectangle 6"/>
          <p:cNvSpPr/>
          <p:nvPr/>
        </p:nvSpPr>
        <p:spPr>
          <a:xfrm>
            <a:off x="567000" y="1856160"/>
            <a:ext cx="45000" cy="2278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11" name="TextBox 7"/>
          <p:cNvSpPr/>
          <p:nvPr/>
        </p:nvSpPr>
        <p:spPr>
          <a:xfrm>
            <a:off x="713160" y="1737360"/>
            <a:ext cx="276084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SIP server, port, WS port</a:t>
            </a:r>
            <a:endParaRPr lang="en-GB" sz="1050" b="0" u="none" strike="noStrike">
              <a:solidFill>
                <a:srgbClr val="FFFFFF"/>
              </a:solidFill>
              <a:effectLst/>
              <a:uFillTx/>
              <a:latin typeface="Arial"/>
            </a:endParaRPr>
          </a:p>
        </p:txBody>
      </p:sp>
      <p:sp>
        <p:nvSpPr>
          <p:cNvPr id="412" name="Rectangle 8"/>
          <p:cNvSpPr/>
          <p:nvPr/>
        </p:nvSpPr>
        <p:spPr>
          <a:xfrm>
            <a:off x="567000" y="2569320"/>
            <a:ext cx="45000" cy="2278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13" name="TextBox 9"/>
          <p:cNvSpPr/>
          <p:nvPr/>
        </p:nvSpPr>
        <p:spPr>
          <a:xfrm>
            <a:off x="713160" y="2450520"/>
            <a:ext cx="276084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Transport: UDP / TLS</a:t>
            </a:r>
            <a:endParaRPr lang="en-GB" sz="1050" b="0" u="none" strike="noStrike">
              <a:solidFill>
                <a:srgbClr val="FFFFFF"/>
              </a:solidFill>
              <a:effectLst/>
              <a:uFillTx/>
              <a:latin typeface="Arial"/>
            </a:endParaRPr>
          </a:p>
        </p:txBody>
      </p:sp>
      <p:sp>
        <p:nvSpPr>
          <p:cNvPr id="414" name="Rectangle 10"/>
          <p:cNvSpPr/>
          <p:nvPr/>
        </p:nvSpPr>
        <p:spPr>
          <a:xfrm>
            <a:off x="567000" y="3282840"/>
            <a:ext cx="45000" cy="2278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15" name="TextBox 11"/>
          <p:cNvSpPr/>
          <p:nvPr/>
        </p:nvSpPr>
        <p:spPr>
          <a:xfrm>
            <a:off x="713160" y="3163680"/>
            <a:ext cx="276084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Username, password, display name</a:t>
            </a:r>
            <a:endParaRPr lang="en-GB" sz="1050" b="0" u="none" strike="noStrike">
              <a:solidFill>
                <a:srgbClr val="FFFFFF"/>
              </a:solidFill>
              <a:effectLst/>
              <a:uFillTx/>
              <a:latin typeface="Arial"/>
            </a:endParaRPr>
          </a:p>
        </p:txBody>
      </p:sp>
      <p:sp>
        <p:nvSpPr>
          <p:cNvPr id="416" name="Rectangle 12"/>
          <p:cNvSpPr/>
          <p:nvPr/>
        </p:nvSpPr>
        <p:spPr>
          <a:xfrm>
            <a:off x="567000" y="3996000"/>
            <a:ext cx="45000" cy="2278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17" name="TextBox 13"/>
          <p:cNvSpPr/>
          <p:nvPr/>
        </p:nvSpPr>
        <p:spPr>
          <a:xfrm>
            <a:off x="713160" y="3877200"/>
            <a:ext cx="276084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Locks form when registered</a:t>
            </a:r>
            <a:endParaRPr lang="en-GB" sz="1050" b="0" u="none" strike="noStrike">
              <a:solidFill>
                <a:srgbClr val="FFFFFF"/>
              </a:solidFill>
              <a:effectLst/>
              <a:uFillTx/>
              <a:latin typeface="Arial"/>
            </a:endParaRPr>
          </a:p>
        </p:txBody>
      </p:sp>
      <p:sp>
        <p:nvSpPr>
          <p:cNvPr id="418" name="Rectangle 14"/>
          <p:cNvSpPr/>
          <p:nvPr/>
        </p:nvSpPr>
        <p:spPr>
          <a:xfrm>
            <a:off x="567000" y="4709160"/>
            <a:ext cx="45000" cy="2278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19" name="TextBox 15"/>
          <p:cNvSpPr/>
          <p:nvPr/>
        </p:nvSpPr>
        <p:spPr>
          <a:xfrm>
            <a:off x="713160" y="4590360"/>
            <a:ext cx="276084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Populates from API state on reload</a:t>
            </a:r>
            <a:endParaRPr lang="en-GB" sz="1050" b="0" u="none" strike="noStrike">
              <a:solidFill>
                <a:srgbClr val="FFFFFF"/>
              </a:solidFill>
              <a:effectLst/>
              <a:uFillTx/>
              <a:latin typeface="Arial"/>
            </a:endParaRPr>
          </a:p>
        </p:txBody>
      </p:sp>
      <p:sp>
        <p:nvSpPr>
          <p:cNvPr id="420" name="Rectangle 16"/>
          <p:cNvSpPr/>
          <p:nvPr/>
        </p:nvSpPr>
        <p:spPr>
          <a:xfrm>
            <a:off x="567000" y="5422320"/>
            <a:ext cx="45000" cy="2278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21" name="TextBox 17"/>
          <p:cNvSpPr/>
          <p:nvPr/>
        </p:nvSpPr>
        <p:spPr>
          <a:xfrm>
            <a:off x="713160" y="5303520"/>
            <a:ext cx="276084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Full API endpoint reference</a:t>
            </a:r>
            <a:endParaRPr lang="en-GB" sz="1050" b="0" u="none" strike="noStrike">
              <a:solidFill>
                <a:srgbClr val="FFFFFF"/>
              </a:solidFill>
              <a:effectLst/>
              <a:uFillTx/>
              <a:latin typeface="Arial"/>
            </a:endParaRPr>
          </a:p>
        </p:txBody>
      </p:sp>
      <p:sp>
        <p:nvSpPr>
          <p:cNvPr id="422" name="Rectangle 18"/>
          <p:cNvSpPr/>
          <p:nvPr/>
        </p:nvSpPr>
        <p:spPr>
          <a:xfrm>
            <a:off x="3749040" y="1188720"/>
            <a:ext cx="4662720" cy="41076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3" name="TextBox 19"/>
          <p:cNvSpPr/>
          <p:nvPr/>
        </p:nvSpPr>
        <p:spPr>
          <a:xfrm>
            <a:off x="3858840" y="1252800"/>
            <a:ext cx="4479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1" u="none" strike="noStrike">
                <a:solidFill>
                  <a:srgbClr val="FFFFFF"/>
                </a:solidFill>
                <a:effectLst/>
                <a:uFillTx/>
                <a:latin typeface="Calibri Bold"/>
              </a:rPr>
              <a:t>Softphone Panel</a:t>
            </a:r>
            <a:endParaRPr lang="en-GB" sz="1200" b="0" u="none" strike="noStrike">
              <a:solidFill>
                <a:srgbClr val="FFFFFF"/>
              </a:solidFill>
              <a:effectLst/>
              <a:uFillTx/>
              <a:latin typeface="Arial"/>
            </a:endParaRPr>
          </a:p>
        </p:txBody>
      </p:sp>
      <p:sp>
        <p:nvSpPr>
          <p:cNvPr id="424" name="Rectangle 20"/>
          <p:cNvSpPr/>
          <p:nvPr/>
        </p:nvSpPr>
        <p:spPr>
          <a:xfrm>
            <a:off x="3749040" y="1600200"/>
            <a:ext cx="4662720" cy="479988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5" name="Rectangle 21"/>
          <p:cNvSpPr/>
          <p:nvPr/>
        </p:nvSpPr>
        <p:spPr>
          <a:xfrm>
            <a:off x="3858840" y="1856160"/>
            <a:ext cx="45000" cy="22788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26" name="TextBox 22"/>
          <p:cNvSpPr/>
          <p:nvPr/>
        </p:nvSpPr>
        <p:spPr>
          <a:xfrm>
            <a:off x="4005000" y="1737360"/>
            <a:ext cx="43153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Live call display card (blue gradient)</a:t>
            </a:r>
            <a:endParaRPr lang="en-GB" sz="1050" b="0" u="none" strike="noStrike">
              <a:solidFill>
                <a:srgbClr val="FFFFFF"/>
              </a:solidFill>
              <a:effectLst/>
              <a:uFillTx/>
              <a:latin typeface="Arial"/>
            </a:endParaRPr>
          </a:p>
        </p:txBody>
      </p:sp>
      <p:sp>
        <p:nvSpPr>
          <p:cNvPr id="427" name="Rectangle 23"/>
          <p:cNvSpPr/>
          <p:nvPr/>
        </p:nvSpPr>
        <p:spPr>
          <a:xfrm>
            <a:off x="3858840" y="2569320"/>
            <a:ext cx="45000" cy="22788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28" name="TextBox 24"/>
          <p:cNvSpPr/>
          <p:nvPr/>
        </p:nvSpPr>
        <p:spPr>
          <a:xfrm>
            <a:off x="4005000" y="2450520"/>
            <a:ext cx="43153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DTMF dialpad (12 keys)</a:t>
            </a:r>
            <a:endParaRPr lang="en-GB" sz="1050" b="0" u="none" strike="noStrike">
              <a:solidFill>
                <a:srgbClr val="FFFFFF"/>
              </a:solidFill>
              <a:effectLst/>
              <a:uFillTx/>
              <a:latin typeface="Arial"/>
            </a:endParaRPr>
          </a:p>
        </p:txBody>
      </p:sp>
      <p:sp>
        <p:nvSpPr>
          <p:cNvPr id="429" name="Rectangle 25"/>
          <p:cNvSpPr/>
          <p:nvPr/>
        </p:nvSpPr>
        <p:spPr>
          <a:xfrm>
            <a:off x="3858840" y="3282840"/>
            <a:ext cx="45000" cy="22788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30" name="TextBox 26"/>
          <p:cNvSpPr/>
          <p:nvPr/>
        </p:nvSpPr>
        <p:spPr>
          <a:xfrm>
            <a:off x="4005000" y="3163680"/>
            <a:ext cx="43153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Hold / Resume controls</a:t>
            </a:r>
            <a:endParaRPr lang="en-GB" sz="1050" b="0" u="none" strike="noStrike">
              <a:solidFill>
                <a:srgbClr val="FFFFFF"/>
              </a:solidFill>
              <a:effectLst/>
              <a:uFillTx/>
              <a:latin typeface="Arial"/>
            </a:endParaRPr>
          </a:p>
        </p:txBody>
      </p:sp>
      <p:sp>
        <p:nvSpPr>
          <p:cNvPr id="431" name="Rectangle 27"/>
          <p:cNvSpPr/>
          <p:nvPr/>
        </p:nvSpPr>
        <p:spPr>
          <a:xfrm>
            <a:off x="3858840" y="3996000"/>
            <a:ext cx="45000" cy="22788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32" name="TextBox 28"/>
          <p:cNvSpPr/>
          <p:nvPr/>
        </p:nvSpPr>
        <p:spPr>
          <a:xfrm>
            <a:off x="4005000" y="3877200"/>
            <a:ext cx="43153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Blind + attended transfer</a:t>
            </a:r>
            <a:endParaRPr lang="en-GB" sz="1050" b="0" u="none" strike="noStrike">
              <a:solidFill>
                <a:srgbClr val="FFFFFF"/>
              </a:solidFill>
              <a:effectLst/>
              <a:uFillTx/>
              <a:latin typeface="Arial"/>
            </a:endParaRPr>
          </a:p>
        </p:txBody>
      </p:sp>
      <p:sp>
        <p:nvSpPr>
          <p:cNvPr id="433" name="Rectangle 29"/>
          <p:cNvSpPr/>
          <p:nvPr/>
        </p:nvSpPr>
        <p:spPr>
          <a:xfrm>
            <a:off x="3858840" y="4709160"/>
            <a:ext cx="45000" cy="22788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34" name="TextBox 30"/>
          <p:cNvSpPr/>
          <p:nvPr/>
        </p:nvSpPr>
        <p:spPr>
          <a:xfrm>
            <a:off x="4005000" y="4590360"/>
            <a:ext cx="43153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3-way conference with drop</a:t>
            </a:r>
            <a:endParaRPr lang="en-GB" sz="1050" b="0" u="none" strike="noStrike">
              <a:solidFill>
                <a:srgbClr val="FFFFFF"/>
              </a:solidFill>
              <a:effectLst/>
              <a:uFillTx/>
              <a:latin typeface="Arial"/>
            </a:endParaRPr>
          </a:p>
        </p:txBody>
      </p:sp>
      <p:sp>
        <p:nvSpPr>
          <p:cNvPr id="435" name="Rectangle 31"/>
          <p:cNvSpPr/>
          <p:nvPr/>
        </p:nvSpPr>
        <p:spPr>
          <a:xfrm>
            <a:off x="3858840" y="5422320"/>
            <a:ext cx="45000" cy="22788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36" name="TextBox 32"/>
          <p:cNvSpPr/>
          <p:nvPr/>
        </p:nvSpPr>
        <p:spPr>
          <a:xfrm>
            <a:off x="4005000" y="5303520"/>
            <a:ext cx="43153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WAV file selector + playback</a:t>
            </a:r>
            <a:endParaRPr lang="en-GB" sz="1050" b="0" u="none" strike="noStrike">
              <a:solidFill>
                <a:srgbClr val="FFFFFF"/>
              </a:solidFill>
              <a:effectLst/>
              <a:uFillTx/>
              <a:latin typeface="Arial"/>
            </a:endParaRPr>
          </a:p>
        </p:txBody>
      </p:sp>
      <p:sp>
        <p:nvSpPr>
          <p:cNvPr id="437" name="Rectangle 33"/>
          <p:cNvSpPr/>
          <p:nvPr/>
        </p:nvSpPr>
        <p:spPr>
          <a:xfrm>
            <a:off x="8595360" y="1188720"/>
            <a:ext cx="3291120" cy="41076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8" name="TextBox 34"/>
          <p:cNvSpPr/>
          <p:nvPr/>
        </p:nvSpPr>
        <p:spPr>
          <a:xfrm>
            <a:off x="8705160" y="1252800"/>
            <a:ext cx="31082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1" u="none" strike="noStrike">
                <a:solidFill>
                  <a:srgbClr val="FFFFFF"/>
                </a:solidFill>
                <a:effectLst/>
                <a:uFillTx/>
                <a:latin typeface="Calibri Bold"/>
              </a:rPr>
              <a:t>Right Panel (Tabs)</a:t>
            </a:r>
            <a:endParaRPr lang="en-GB" sz="1200" b="0" u="none" strike="noStrike">
              <a:solidFill>
                <a:srgbClr val="FFFFFF"/>
              </a:solidFill>
              <a:effectLst/>
              <a:uFillTx/>
              <a:latin typeface="Arial"/>
            </a:endParaRPr>
          </a:p>
        </p:txBody>
      </p:sp>
      <p:sp>
        <p:nvSpPr>
          <p:cNvPr id="439" name="Rectangle 35"/>
          <p:cNvSpPr/>
          <p:nvPr/>
        </p:nvSpPr>
        <p:spPr>
          <a:xfrm>
            <a:off x="8595360" y="1600200"/>
            <a:ext cx="3291120" cy="479988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0" name="Rectangle 36"/>
          <p:cNvSpPr/>
          <p:nvPr/>
        </p:nvSpPr>
        <p:spPr>
          <a:xfrm>
            <a:off x="8705160" y="1856160"/>
            <a:ext cx="45000" cy="22788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41" name="TextBox 37"/>
          <p:cNvSpPr/>
          <p:nvPr/>
        </p:nvSpPr>
        <p:spPr>
          <a:xfrm>
            <a:off x="8851320" y="1737360"/>
            <a:ext cx="29437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Captures: ↓ PCAP · ↓ WAV per call</a:t>
            </a:r>
            <a:endParaRPr lang="en-GB" sz="1050" b="0" u="none" strike="noStrike">
              <a:solidFill>
                <a:srgbClr val="FFFFFF"/>
              </a:solidFill>
              <a:effectLst/>
              <a:uFillTx/>
              <a:latin typeface="Arial"/>
            </a:endParaRPr>
          </a:p>
        </p:txBody>
      </p:sp>
      <p:sp>
        <p:nvSpPr>
          <p:cNvPr id="442" name="Rectangle 38"/>
          <p:cNvSpPr/>
          <p:nvPr/>
        </p:nvSpPr>
        <p:spPr>
          <a:xfrm>
            <a:off x="8705160" y="2569320"/>
            <a:ext cx="45000" cy="22788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43" name="TextBox 39"/>
          <p:cNvSpPr/>
          <p:nvPr/>
        </p:nvSpPr>
        <p:spPr>
          <a:xfrm>
            <a:off x="8851320" y="2450520"/>
            <a:ext cx="29437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WAV Files: upload · play · delete</a:t>
            </a:r>
            <a:endParaRPr lang="en-GB" sz="1050" b="0" u="none" strike="noStrike">
              <a:solidFill>
                <a:srgbClr val="FFFFFF"/>
              </a:solidFill>
              <a:effectLst/>
              <a:uFillTx/>
              <a:latin typeface="Arial"/>
            </a:endParaRPr>
          </a:p>
        </p:txBody>
      </p:sp>
      <p:sp>
        <p:nvSpPr>
          <p:cNvPr id="444" name="Rectangle 40"/>
          <p:cNvSpPr/>
          <p:nvPr/>
        </p:nvSpPr>
        <p:spPr>
          <a:xfrm>
            <a:off x="8705160" y="3282840"/>
            <a:ext cx="45000" cy="22788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45" name="TextBox 41"/>
          <p:cNvSpPr/>
          <p:nvPr/>
        </p:nvSpPr>
        <p:spPr>
          <a:xfrm>
            <a:off x="8851320" y="3163680"/>
            <a:ext cx="29437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History: direction, target, duration</a:t>
            </a:r>
            <a:endParaRPr lang="en-GB" sz="1050" b="0" u="none" strike="noStrike">
              <a:solidFill>
                <a:srgbClr val="FFFFFF"/>
              </a:solidFill>
              <a:effectLst/>
              <a:uFillTx/>
              <a:latin typeface="Arial"/>
            </a:endParaRPr>
          </a:p>
        </p:txBody>
      </p:sp>
      <p:sp>
        <p:nvSpPr>
          <p:cNvPr id="446" name="TextBox 42"/>
          <p:cNvSpPr/>
          <p:nvPr/>
        </p:nvSpPr>
        <p:spPr>
          <a:xfrm>
            <a:off x="8869680" y="3877200"/>
            <a:ext cx="292536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i="1" u="none" strike="noStrike">
                <a:solidFill>
                  <a:srgbClr val="94A3B8"/>
                </a:solidFill>
                <a:effectLst/>
                <a:uFillTx/>
                <a:latin typeface="Calibri"/>
              </a:rPr>
              <a:t>status, timestamp, ↓ pcap link</a:t>
            </a:r>
            <a:endParaRPr lang="en-GB" sz="1000" b="0" u="none" strike="noStrike">
              <a:solidFill>
                <a:srgbClr val="FFFFFF"/>
              </a:solidFill>
              <a:effectLst/>
              <a:uFillTx/>
              <a:latin typeface="Arial"/>
            </a:endParaRPr>
          </a:p>
        </p:txBody>
      </p:sp>
      <p:sp>
        <p:nvSpPr>
          <p:cNvPr id="447" name="Rectangle 43"/>
          <p:cNvSpPr/>
          <p:nvPr/>
        </p:nvSpPr>
        <p:spPr>
          <a:xfrm>
            <a:off x="8705160" y="4709160"/>
            <a:ext cx="45000" cy="22788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48" name="TextBox 44"/>
          <p:cNvSpPr/>
          <p:nvPr/>
        </p:nvSpPr>
        <p:spPr>
          <a:xfrm>
            <a:off x="8851320" y="4590360"/>
            <a:ext cx="29437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CSV export · Clear history</a:t>
            </a:r>
            <a:endParaRPr lang="en-GB" sz="1050" b="0" u="none" strike="noStrike">
              <a:solidFill>
                <a:srgbClr val="FFFFFF"/>
              </a:solidFill>
              <a:effectLst/>
              <a:uFillTx/>
              <a:latin typeface="Arial"/>
            </a:endParaRPr>
          </a:p>
        </p:txBody>
      </p:sp>
      <p:sp>
        <p:nvSpPr>
          <p:cNvPr id="449" name="Rectangle 45"/>
          <p:cNvSpPr/>
          <p:nvPr/>
        </p:nvSpPr>
        <p:spPr>
          <a:xfrm>
            <a:off x="8705160" y="5422320"/>
            <a:ext cx="45000" cy="22788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450" name="TextBox 46"/>
          <p:cNvSpPr/>
          <p:nvPr/>
        </p:nvSpPr>
        <p:spPr>
          <a:xfrm>
            <a:off x="8851320" y="5303520"/>
            <a:ext cx="294372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Collapsible log panel + export</a:t>
            </a:r>
            <a:endParaRPr lang="en-GB" sz="1050" b="0" u="none" strike="noStrike">
              <a:solidFill>
                <a:srgbClr val="FFFFFF"/>
              </a:solidFill>
              <a:effectLst/>
              <a:uFillTx/>
              <a:latin typeface="Arial"/>
            </a:endParaRPr>
          </a:p>
        </p:txBody>
      </p:sp>
      <p:sp>
        <p:nvSpPr>
          <p:cNvPr id="451" name="Rectangle 47"/>
          <p:cNvSpPr/>
          <p:nvPr/>
        </p:nvSpPr>
        <p:spPr>
          <a:xfrm>
            <a:off x="457200" y="6446520"/>
            <a:ext cx="11246400" cy="319320"/>
          </a:xfrm>
          <a:prstGeom prst="rect">
            <a:avLst/>
          </a:prstGeom>
          <a:solidFill>
            <a:srgbClr val="0D23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2" name="TextBox 48"/>
          <p:cNvSpPr/>
          <p:nvPr/>
        </p:nvSpPr>
        <p:spPr>
          <a:xfrm>
            <a:off x="640080" y="6492240"/>
            <a:ext cx="10880640" cy="255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94A3B8"/>
                </a:solidFill>
                <a:effectLst/>
                <a:uFillTx/>
                <a:latin typeface="Calibri"/>
              </a:rPr>
              <a:t>Theme: Clarity  —  DM Sans + DM Mono  ·  White card surfaces  ·  Blue/Green/Amber status system  ·  Collapsible log with unread count</a:t>
            </a:r>
            <a:endParaRPr lang="en-GB"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453" name="TextBox 1"/>
          <p:cNvSpPr/>
          <p:nvPr/>
        </p:nvSpPr>
        <p:spPr>
          <a:xfrm>
            <a:off x="548640" y="274320"/>
            <a:ext cx="10972080" cy="639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FFFFFF"/>
                </a:solidFill>
                <a:effectLst/>
                <a:uFillTx/>
                <a:latin typeface="Calibri Bold"/>
              </a:rPr>
              <a:t>Technology Stack</a:t>
            </a:r>
            <a:endParaRPr lang="en-GB" sz="3400" b="0" u="none" strike="noStrike">
              <a:solidFill>
                <a:srgbClr val="FFFFFF"/>
              </a:solidFill>
              <a:effectLst/>
              <a:uFillTx/>
              <a:latin typeface="Arial"/>
            </a:endParaRPr>
          </a:p>
        </p:txBody>
      </p:sp>
      <p:sp>
        <p:nvSpPr>
          <p:cNvPr id="454" name="Rectangle 2"/>
          <p:cNvSpPr/>
          <p:nvPr/>
        </p:nvSpPr>
        <p:spPr>
          <a:xfrm>
            <a:off x="548640" y="960120"/>
            <a:ext cx="109720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455" name="Rectangle 3"/>
          <p:cNvSpPr/>
          <p:nvPr/>
        </p:nvSpPr>
        <p:spPr>
          <a:xfrm>
            <a:off x="548640" y="1143000"/>
            <a:ext cx="11063520" cy="365040"/>
          </a:xfrm>
          <a:prstGeom prst="rect">
            <a:avLst/>
          </a:prstGeom>
          <a:solidFill>
            <a:srgbClr val="0D23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6" name="TextBox 4"/>
          <p:cNvSpPr/>
          <p:nvPr/>
        </p:nvSpPr>
        <p:spPr>
          <a:xfrm>
            <a:off x="640080" y="1207080"/>
            <a:ext cx="2285280" cy="255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94A3B8"/>
                </a:solidFill>
                <a:effectLst/>
                <a:uFillTx/>
                <a:latin typeface="Calibri Bold"/>
              </a:rPr>
              <a:t>Layer</a:t>
            </a:r>
            <a:endParaRPr lang="en-GB" sz="1100" b="0" u="none" strike="noStrike">
              <a:solidFill>
                <a:srgbClr val="FFFFFF"/>
              </a:solidFill>
              <a:effectLst/>
              <a:uFillTx/>
              <a:latin typeface="Arial"/>
            </a:endParaRPr>
          </a:p>
        </p:txBody>
      </p:sp>
      <p:sp>
        <p:nvSpPr>
          <p:cNvPr id="457" name="TextBox 5"/>
          <p:cNvSpPr/>
          <p:nvPr/>
        </p:nvSpPr>
        <p:spPr>
          <a:xfrm>
            <a:off x="3017520" y="1207080"/>
            <a:ext cx="2285280" cy="255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94A3B8"/>
                </a:solidFill>
                <a:effectLst/>
                <a:uFillTx/>
                <a:latin typeface="Calibri Bold"/>
              </a:rPr>
              <a:t>Technology</a:t>
            </a:r>
            <a:endParaRPr lang="en-GB" sz="1100" b="0" u="none" strike="noStrike">
              <a:solidFill>
                <a:srgbClr val="FFFFFF"/>
              </a:solidFill>
              <a:effectLst/>
              <a:uFillTx/>
              <a:latin typeface="Arial"/>
            </a:endParaRPr>
          </a:p>
        </p:txBody>
      </p:sp>
      <p:sp>
        <p:nvSpPr>
          <p:cNvPr id="458" name="TextBox 6"/>
          <p:cNvSpPr/>
          <p:nvPr/>
        </p:nvSpPr>
        <p:spPr>
          <a:xfrm>
            <a:off x="5577840" y="1207080"/>
            <a:ext cx="5942880" cy="255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94A3B8"/>
                </a:solidFill>
                <a:effectLst/>
                <a:uFillTx/>
                <a:latin typeface="Calibri Bold"/>
              </a:rPr>
              <a:t>Notes</a:t>
            </a:r>
            <a:endParaRPr lang="en-GB" sz="1100" b="0" u="none" strike="noStrike">
              <a:solidFill>
                <a:srgbClr val="FFFFFF"/>
              </a:solidFill>
              <a:effectLst/>
              <a:uFillTx/>
              <a:latin typeface="Arial"/>
            </a:endParaRPr>
          </a:p>
        </p:txBody>
      </p:sp>
      <p:sp>
        <p:nvSpPr>
          <p:cNvPr id="459" name="Rectangle 7"/>
          <p:cNvSpPr/>
          <p:nvPr/>
        </p:nvSpPr>
        <p:spPr>
          <a:xfrm>
            <a:off x="548640" y="1508760"/>
            <a:ext cx="11063520" cy="410760"/>
          </a:xfrm>
          <a:prstGeom prst="rect">
            <a:avLst/>
          </a:prstGeom>
          <a:solidFill>
            <a:srgbClr val="0D1E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0" name="TextBox 8"/>
          <p:cNvSpPr/>
          <p:nvPr/>
        </p:nvSpPr>
        <p:spPr>
          <a:xfrm>
            <a:off x="685800" y="156348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Runtime</a:t>
            </a:r>
            <a:endParaRPr lang="en-GB" sz="1100" b="0" u="none" strike="noStrike">
              <a:solidFill>
                <a:srgbClr val="FFFFFF"/>
              </a:solidFill>
              <a:effectLst/>
              <a:uFillTx/>
              <a:latin typeface="Arial"/>
            </a:endParaRPr>
          </a:p>
        </p:txBody>
      </p:sp>
      <p:sp>
        <p:nvSpPr>
          <p:cNvPr id="461" name="TextBox 9"/>
          <p:cNvSpPr/>
          <p:nvPr/>
        </p:nvSpPr>
        <p:spPr>
          <a:xfrm>
            <a:off x="3017520" y="156348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Node.js 20</a:t>
            </a:r>
            <a:endParaRPr lang="en-GB" sz="1100" b="0" u="none" strike="noStrike">
              <a:solidFill>
                <a:srgbClr val="FFFFFF"/>
              </a:solidFill>
              <a:effectLst/>
              <a:uFillTx/>
              <a:latin typeface="Arial"/>
            </a:endParaRPr>
          </a:p>
        </p:txBody>
      </p:sp>
      <p:sp>
        <p:nvSpPr>
          <p:cNvPr id="462" name="TextBox 10"/>
          <p:cNvSpPr/>
          <p:nvPr/>
        </p:nvSpPr>
        <p:spPr>
          <a:xfrm>
            <a:off x="5577840" y="156348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Alpine-based container, tini PID1</a:t>
            </a:r>
            <a:endParaRPr lang="en-GB" sz="1050" b="0" u="none" strike="noStrike">
              <a:solidFill>
                <a:srgbClr val="FFFFFF"/>
              </a:solidFill>
              <a:effectLst/>
              <a:uFillTx/>
              <a:latin typeface="Arial"/>
            </a:endParaRPr>
          </a:p>
        </p:txBody>
      </p:sp>
      <p:sp>
        <p:nvSpPr>
          <p:cNvPr id="463" name="Rectangle 11"/>
          <p:cNvSpPr/>
          <p:nvPr/>
        </p:nvSpPr>
        <p:spPr>
          <a:xfrm>
            <a:off x="548640" y="1938600"/>
            <a:ext cx="11063520" cy="41076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4" name="TextBox 12"/>
          <p:cNvSpPr/>
          <p:nvPr/>
        </p:nvSpPr>
        <p:spPr>
          <a:xfrm>
            <a:off x="685800" y="199332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SIP Stack</a:t>
            </a:r>
            <a:endParaRPr lang="en-GB" sz="1100" b="0" u="none" strike="noStrike">
              <a:solidFill>
                <a:srgbClr val="FFFFFF"/>
              </a:solidFill>
              <a:effectLst/>
              <a:uFillTx/>
              <a:latin typeface="Arial"/>
            </a:endParaRPr>
          </a:p>
        </p:txBody>
      </p:sp>
      <p:sp>
        <p:nvSpPr>
          <p:cNvPr id="465" name="TextBox 13"/>
          <p:cNvSpPr/>
          <p:nvPr/>
        </p:nvSpPr>
        <p:spPr>
          <a:xfrm>
            <a:off x="3017520" y="199332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JsSIP 3.10</a:t>
            </a:r>
            <a:endParaRPr lang="en-GB" sz="1100" b="0" u="none" strike="noStrike">
              <a:solidFill>
                <a:srgbClr val="FFFFFF"/>
              </a:solidFill>
              <a:effectLst/>
              <a:uFillTx/>
              <a:latin typeface="Arial"/>
            </a:endParaRPr>
          </a:p>
        </p:txBody>
      </p:sp>
      <p:sp>
        <p:nvSpPr>
          <p:cNvPr id="466" name="TextBox 14"/>
          <p:cNvSpPr/>
          <p:nvPr/>
        </p:nvSpPr>
        <p:spPr>
          <a:xfrm>
            <a:off x="5577840" y="199332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WebSocket SIP UA with custom stubs for Node.js</a:t>
            </a:r>
            <a:endParaRPr lang="en-GB" sz="1050" b="0" u="none" strike="noStrike">
              <a:solidFill>
                <a:srgbClr val="FFFFFF"/>
              </a:solidFill>
              <a:effectLst/>
              <a:uFillTx/>
              <a:latin typeface="Arial"/>
            </a:endParaRPr>
          </a:p>
        </p:txBody>
      </p:sp>
      <p:sp>
        <p:nvSpPr>
          <p:cNvPr id="467" name="Rectangle 15"/>
          <p:cNvSpPr/>
          <p:nvPr/>
        </p:nvSpPr>
        <p:spPr>
          <a:xfrm>
            <a:off x="548640" y="2368440"/>
            <a:ext cx="11063520" cy="410760"/>
          </a:xfrm>
          <a:prstGeom prst="rect">
            <a:avLst/>
          </a:prstGeom>
          <a:solidFill>
            <a:srgbClr val="0D1E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8" name="TextBox 16"/>
          <p:cNvSpPr/>
          <p:nvPr/>
        </p:nvSpPr>
        <p:spPr>
          <a:xfrm>
            <a:off x="685800" y="242316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Web Server</a:t>
            </a:r>
            <a:endParaRPr lang="en-GB" sz="1100" b="0" u="none" strike="noStrike">
              <a:solidFill>
                <a:srgbClr val="FFFFFF"/>
              </a:solidFill>
              <a:effectLst/>
              <a:uFillTx/>
              <a:latin typeface="Arial"/>
            </a:endParaRPr>
          </a:p>
        </p:txBody>
      </p:sp>
      <p:sp>
        <p:nvSpPr>
          <p:cNvPr id="469" name="TextBox 17"/>
          <p:cNvSpPr/>
          <p:nvPr/>
        </p:nvSpPr>
        <p:spPr>
          <a:xfrm>
            <a:off x="3017520" y="242316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Express 4</a:t>
            </a:r>
            <a:endParaRPr lang="en-GB" sz="1100" b="0" u="none" strike="noStrike">
              <a:solidFill>
                <a:srgbClr val="FFFFFF"/>
              </a:solidFill>
              <a:effectLst/>
              <a:uFillTx/>
              <a:latin typeface="Arial"/>
            </a:endParaRPr>
          </a:p>
        </p:txBody>
      </p:sp>
      <p:sp>
        <p:nvSpPr>
          <p:cNvPr id="470" name="TextBox 18"/>
          <p:cNvSpPr/>
          <p:nvPr/>
        </p:nvSpPr>
        <p:spPr>
          <a:xfrm>
            <a:off x="5577840" y="242316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REST API + static frontend + WebSocket hub</a:t>
            </a:r>
            <a:endParaRPr lang="en-GB" sz="1050" b="0" u="none" strike="noStrike">
              <a:solidFill>
                <a:srgbClr val="FFFFFF"/>
              </a:solidFill>
              <a:effectLst/>
              <a:uFillTx/>
              <a:latin typeface="Arial"/>
            </a:endParaRPr>
          </a:p>
        </p:txBody>
      </p:sp>
      <p:sp>
        <p:nvSpPr>
          <p:cNvPr id="471" name="Rectangle 19"/>
          <p:cNvSpPr/>
          <p:nvPr/>
        </p:nvSpPr>
        <p:spPr>
          <a:xfrm>
            <a:off x="548640" y="2797920"/>
            <a:ext cx="11063520" cy="41076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2" name="TextBox 20"/>
          <p:cNvSpPr/>
          <p:nvPr/>
        </p:nvSpPr>
        <p:spPr>
          <a:xfrm>
            <a:off x="685800" y="285300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WebSocket</a:t>
            </a:r>
            <a:endParaRPr lang="en-GB" sz="1100" b="0" u="none" strike="noStrike">
              <a:solidFill>
                <a:srgbClr val="FFFFFF"/>
              </a:solidFill>
              <a:effectLst/>
              <a:uFillTx/>
              <a:latin typeface="Arial"/>
            </a:endParaRPr>
          </a:p>
        </p:txBody>
      </p:sp>
      <p:sp>
        <p:nvSpPr>
          <p:cNvPr id="473" name="TextBox 21"/>
          <p:cNvSpPr/>
          <p:nvPr/>
        </p:nvSpPr>
        <p:spPr>
          <a:xfrm>
            <a:off x="3017520" y="285300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ws 8</a:t>
            </a:r>
            <a:endParaRPr lang="en-GB" sz="1100" b="0" u="none" strike="noStrike">
              <a:solidFill>
                <a:srgbClr val="FFFFFF"/>
              </a:solidFill>
              <a:effectLst/>
              <a:uFillTx/>
              <a:latin typeface="Arial"/>
            </a:endParaRPr>
          </a:p>
        </p:txBody>
      </p:sp>
      <p:sp>
        <p:nvSpPr>
          <p:cNvPr id="474" name="TextBox 22"/>
          <p:cNvSpPr/>
          <p:nvPr/>
        </p:nvSpPr>
        <p:spPr>
          <a:xfrm>
            <a:off x="5577840" y="285300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Server-side WS for SIP transport and UI events</a:t>
            </a:r>
            <a:endParaRPr lang="en-GB" sz="1050" b="0" u="none" strike="noStrike">
              <a:solidFill>
                <a:srgbClr val="FFFFFF"/>
              </a:solidFill>
              <a:effectLst/>
              <a:uFillTx/>
              <a:latin typeface="Arial"/>
            </a:endParaRPr>
          </a:p>
        </p:txBody>
      </p:sp>
      <p:sp>
        <p:nvSpPr>
          <p:cNvPr id="475" name="Rectangle 23"/>
          <p:cNvSpPr/>
          <p:nvPr/>
        </p:nvSpPr>
        <p:spPr>
          <a:xfrm>
            <a:off x="548640" y="3227760"/>
            <a:ext cx="11063520" cy="410760"/>
          </a:xfrm>
          <a:prstGeom prst="rect">
            <a:avLst/>
          </a:prstGeom>
          <a:solidFill>
            <a:srgbClr val="0D1E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6" name="TextBox 24"/>
          <p:cNvSpPr/>
          <p:nvPr/>
        </p:nvSpPr>
        <p:spPr>
          <a:xfrm>
            <a:off x="685800" y="328284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Media</a:t>
            </a:r>
            <a:endParaRPr lang="en-GB" sz="1100" b="0" u="none" strike="noStrike">
              <a:solidFill>
                <a:srgbClr val="FFFFFF"/>
              </a:solidFill>
              <a:effectLst/>
              <a:uFillTx/>
              <a:latin typeface="Arial"/>
            </a:endParaRPr>
          </a:p>
        </p:txBody>
      </p:sp>
      <p:sp>
        <p:nvSpPr>
          <p:cNvPr id="477" name="TextBox 25"/>
          <p:cNvSpPr/>
          <p:nvPr/>
        </p:nvSpPr>
        <p:spPr>
          <a:xfrm>
            <a:off x="3017520" y="328284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Node.js dgram</a:t>
            </a:r>
            <a:endParaRPr lang="en-GB" sz="1100" b="0" u="none" strike="noStrike">
              <a:solidFill>
                <a:srgbClr val="FFFFFF"/>
              </a:solidFill>
              <a:effectLst/>
              <a:uFillTx/>
              <a:latin typeface="Arial"/>
            </a:endParaRPr>
          </a:p>
        </p:txBody>
      </p:sp>
      <p:sp>
        <p:nvSpPr>
          <p:cNvPr id="478" name="TextBox 26"/>
          <p:cNvSpPr/>
          <p:nvPr/>
        </p:nvSpPr>
        <p:spPr>
          <a:xfrm>
            <a:off x="5577840" y="3282840"/>
            <a:ext cx="5851440" cy="250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Raw UDP RTP - no WebRTC, no audio hardware</a:t>
            </a:r>
            <a:endParaRPr lang="en-GB" sz="1050" b="0" u="none" strike="noStrike">
              <a:solidFill>
                <a:srgbClr val="FFFFFF"/>
              </a:solidFill>
              <a:effectLst/>
              <a:uFillTx/>
              <a:latin typeface="Arial"/>
            </a:endParaRPr>
          </a:p>
        </p:txBody>
      </p:sp>
      <p:sp>
        <p:nvSpPr>
          <p:cNvPr id="479" name="Rectangle 27"/>
          <p:cNvSpPr/>
          <p:nvPr/>
        </p:nvSpPr>
        <p:spPr>
          <a:xfrm>
            <a:off x="548640" y="3657600"/>
            <a:ext cx="11063520" cy="41076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0" name="TextBox 28"/>
          <p:cNvSpPr/>
          <p:nvPr/>
        </p:nvSpPr>
        <p:spPr>
          <a:xfrm>
            <a:off x="685800" y="371232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Audio Codec</a:t>
            </a:r>
            <a:endParaRPr lang="en-GB" sz="1100" b="0" u="none" strike="noStrike">
              <a:solidFill>
                <a:srgbClr val="FFFFFF"/>
              </a:solidFill>
              <a:effectLst/>
              <a:uFillTx/>
              <a:latin typeface="Arial"/>
            </a:endParaRPr>
          </a:p>
        </p:txBody>
      </p:sp>
      <p:sp>
        <p:nvSpPr>
          <p:cNvPr id="481" name="TextBox 29"/>
          <p:cNvSpPr/>
          <p:nvPr/>
        </p:nvSpPr>
        <p:spPr>
          <a:xfrm>
            <a:off x="3017520" y="371232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G.722 ADPCM</a:t>
            </a:r>
            <a:endParaRPr lang="en-GB" sz="1100" b="0" u="none" strike="noStrike">
              <a:solidFill>
                <a:srgbClr val="FFFFFF"/>
              </a:solidFill>
              <a:effectLst/>
              <a:uFillTx/>
              <a:latin typeface="Arial"/>
            </a:endParaRPr>
          </a:p>
        </p:txBody>
      </p:sp>
      <p:sp>
        <p:nvSpPr>
          <p:cNvPr id="482" name="TextBox 30"/>
          <p:cNvSpPr/>
          <p:nvPr/>
        </p:nvSpPr>
        <p:spPr>
          <a:xfrm>
            <a:off x="5577840" y="371232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ffmpeg encode at upload · custom decoder for recording</a:t>
            </a:r>
            <a:endParaRPr lang="en-GB" sz="1050" b="0" u="none" strike="noStrike">
              <a:solidFill>
                <a:srgbClr val="FFFFFF"/>
              </a:solidFill>
              <a:effectLst/>
              <a:uFillTx/>
              <a:latin typeface="Arial"/>
            </a:endParaRPr>
          </a:p>
        </p:txBody>
      </p:sp>
      <p:sp>
        <p:nvSpPr>
          <p:cNvPr id="483" name="Rectangle 31"/>
          <p:cNvSpPr/>
          <p:nvPr/>
        </p:nvSpPr>
        <p:spPr>
          <a:xfrm>
            <a:off x="548640" y="4087440"/>
            <a:ext cx="11063520" cy="410760"/>
          </a:xfrm>
          <a:prstGeom prst="rect">
            <a:avLst/>
          </a:prstGeom>
          <a:solidFill>
            <a:srgbClr val="0D1E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4" name="TextBox 32"/>
          <p:cNvSpPr/>
          <p:nvPr/>
        </p:nvSpPr>
        <p:spPr>
          <a:xfrm>
            <a:off x="685800" y="414216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Capture</a:t>
            </a:r>
            <a:endParaRPr lang="en-GB" sz="1100" b="0" u="none" strike="noStrike">
              <a:solidFill>
                <a:srgbClr val="FFFFFF"/>
              </a:solidFill>
              <a:effectLst/>
              <a:uFillTx/>
              <a:latin typeface="Arial"/>
            </a:endParaRPr>
          </a:p>
        </p:txBody>
      </p:sp>
      <p:sp>
        <p:nvSpPr>
          <p:cNvPr id="485" name="TextBox 33"/>
          <p:cNvSpPr/>
          <p:nvPr/>
        </p:nvSpPr>
        <p:spPr>
          <a:xfrm>
            <a:off x="3017520" y="414216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libpcap format</a:t>
            </a:r>
            <a:endParaRPr lang="en-GB" sz="1100" b="0" u="none" strike="noStrike">
              <a:solidFill>
                <a:srgbClr val="FFFFFF"/>
              </a:solidFill>
              <a:effectLst/>
              <a:uFillTx/>
              <a:latin typeface="Arial"/>
            </a:endParaRPr>
          </a:p>
        </p:txBody>
      </p:sp>
      <p:sp>
        <p:nvSpPr>
          <p:cNvPr id="486" name="TextBox 34"/>
          <p:cNvSpPr/>
          <p:nvPr/>
        </p:nvSpPr>
        <p:spPr>
          <a:xfrm>
            <a:off x="5577840" y="414216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Hand-written pcap writer in pure JavaScript</a:t>
            </a:r>
            <a:endParaRPr lang="en-GB" sz="1050" b="0" u="none" strike="noStrike">
              <a:solidFill>
                <a:srgbClr val="FFFFFF"/>
              </a:solidFill>
              <a:effectLst/>
              <a:uFillTx/>
              <a:latin typeface="Arial"/>
            </a:endParaRPr>
          </a:p>
        </p:txBody>
      </p:sp>
      <p:sp>
        <p:nvSpPr>
          <p:cNvPr id="487" name="Rectangle 35"/>
          <p:cNvSpPr/>
          <p:nvPr/>
        </p:nvSpPr>
        <p:spPr>
          <a:xfrm>
            <a:off x="548640" y="4517280"/>
            <a:ext cx="11063520" cy="41076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8" name="TextBox 36"/>
          <p:cNvSpPr/>
          <p:nvPr/>
        </p:nvSpPr>
        <p:spPr>
          <a:xfrm>
            <a:off x="685800" y="457200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File Upload</a:t>
            </a:r>
            <a:endParaRPr lang="en-GB" sz="1100" b="0" u="none" strike="noStrike">
              <a:solidFill>
                <a:srgbClr val="FFFFFF"/>
              </a:solidFill>
              <a:effectLst/>
              <a:uFillTx/>
              <a:latin typeface="Arial"/>
            </a:endParaRPr>
          </a:p>
        </p:txBody>
      </p:sp>
      <p:sp>
        <p:nvSpPr>
          <p:cNvPr id="489" name="TextBox 37"/>
          <p:cNvSpPr/>
          <p:nvPr/>
        </p:nvSpPr>
        <p:spPr>
          <a:xfrm>
            <a:off x="3017520" y="457200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multer 1.4</a:t>
            </a:r>
            <a:endParaRPr lang="en-GB" sz="1100" b="0" u="none" strike="noStrike">
              <a:solidFill>
                <a:srgbClr val="FFFFFF"/>
              </a:solidFill>
              <a:effectLst/>
              <a:uFillTx/>
              <a:latin typeface="Arial"/>
            </a:endParaRPr>
          </a:p>
        </p:txBody>
      </p:sp>
      <p:sp>
        <p:nvSpPr>
          <p:cNvPr id="490" name="TextBox 38"/>
          <p:cNvSpPr/>
          <p:nvPr/>
        </p:nvSpPr>
        <p:spPr>
          <a:xfrm>
            <a:off x="5577840" y="457200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WAV upload → ffmpeg → raw G.722 bitstream</a:t>
            </a:r>
            <a:endParaRPr lang="en-GB" sz="1050" b="0" u="none" strike="noStrike">
              <a:solidFill>
                <a:srgbClr val="FFFFFF"/>
              </a:solidFill>
              <a:effectLst/>
              <a:uFillTx/>
              <a:latin typeface="Arial"/>
            </a:endParaRPr>
          </a:p>
        </p:txBody>
      </p:sp>
      <p:sp>
        <p:nvSpPr>
          <p:cNvPr id="491" name="Rectangle 39"/>
          <p:cNvSpPr/>
          <p:nvPr/>
        </p:nvSpPr>
        <p:spPr>
          <a:xfrm>
            <a:off x="548640" y="4946760"/>
            <a:ext cx="11063520" cy="410760"/>
          </a:xfrm>
          <a:prstGeom prst="rect">
            <a:avLst/>
          </a:prstGeom>
          <a:solidFill>
            <a:srgbClr val="0D1E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2" name="TextBox 40"/>
          <p:cNvSpPr/>
          <p:nvPr/>
        </p:nvSpPr>
        <p:spPr>
          <a:xfrm>
            <a:off x="685800" y="500184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Audio Convert</a:t>
            </a:r>
            <a:endParaRPr lang="en-GB" sz="1100" b="0" u="none" strike="noStrike">
              <a:solidFill>
                <a:srgbClr val="FFFFFF"/>
              </a:solidFill>
              <a:effectLst/>
              <a:uFillTx/>
              <a:latin typeface="Arial"/>
            </a:endParaRPr>
          </a:p>
        </p:txBody>
      </p:sp>
      <p:sp>
        <p:nvSpPr>
          <p:cNvPr id="493" name="TextBox 41"/>
          <p:cNvSpPr/>
          <p:nvPr/>
        </p:nvSpPr>
        <p:spPr>
          <a:xfrm>
            <a:off x="3017520" y="500184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ffmpeg</a:t>
            </a:r>
            <a:endParaRPr lang="en-GB" sz="1100" b="0" u="none" strike="noStrike">
              <a:solidFill>
                <a:srgbClr val="FFFFFF"/>
              </a:solidFill>
              <a:effectLst/>
              <a:uFillTx/>
              <a:latin typeface="Arial"/>
            </a:endParaRPr>
          </a:p>
        </p:txBody>
      </p:sp>
      <p:sp>
        <p:nvSpPr>
          <p:cNvPr id="494" name="TextBox 42"/>
          <p:cNvSpPr/>
          <p:nvPr/>
        </p:nvSpPr>
        <p:spPr>
          <a:xfrm>
            <a:off x="5577840" y="500184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WAV → 16kHz mono G.722 at upload time in container</a:t>
            </a:r>
            <a:endParaRPr lang="en-GB" sz="1050" b="0" u="none" strike="noStrike">
              <a:solidFill>
                <a:srgbClr val="FFFFFF"/>
              </a:solidFill>
              <a:effectLst/>
              <a:uFillTx/>
              <a:latin typeface="Arial"/>
            </a:endParaRPr>
          </a:p>
        </p:txBody>
      </p:sp>
      <p:sp>
        <p:nvSpPr>
          <p:cNvPr id="495" name="Rectangle 43"/>
          <p:cNvSpPr/>
          <p:nvPr/>
        </p:nvSpPr>
        <p:spPr>
          <a:xfrm>
            <a:off x="548640" y="5376600"/>
            <a:ext cx="11063520" cy="41076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6" name="TextBox 44"/>
          <p:cNvSpPr/>
          <p:nvPr/>
        </p:nvSpPr>
        <p:spPr>
          <a:xfrm>
            <a:off x="685800" y="543168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History</a:t>
            </a:r>
            <a:endParaRPr lang="en-GB" sz="1100" b="0" u="none" strike="noStrike">
              <a:solidFill>
                <a:srgbClr val="FFFFFF"/>
              </a:solidFill>
              <a:effectLst/>
              <a:uFillTx/>
              <a:latin typeface="Arial"/>
            </a:endParaRPr>
          </a:p>
        </p:txBody>
      </p:sp>
      <p:sp>
        <p:nvSpPr>
          <p:cNvPr id="497" name="TextBox 45"/>
          <p:cNvSpPr/>
          <p:nvPr/>
        </p:nvSpPr>
        <p:spPr>
          <a:xfrm>
            <a:off x="3017520" y="543168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JSON file</a:t>
            </a:r>
            <a:endParaRPr lang="en-GB" sz="1100" b="0" u="none" strike="noStrike">
              <a:solidFill>
                <a:srgbClr val="FFFFFF"/>
              </a:solidFill>
              <a:effectLst/>
              <a:uFillTx/>
              <a:latin typeface="Arial"/>
            </a:endParaRPr>
          </a:p>
        </p:txBody>
      </p:sp>
      <p:sp>
        <p:nvSpPr>
          <p:cNvPr id="498" name="TextBox 46"/>
          <p:cNvSpPr/>
          <p:nvPr/>
        </p:nvSpPr>
        <p:spPr>
          <a:xfrm>
            <a:off x="5577840" y="543168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Persistent to /captures volume, CSV export</a:t>
            </a:r>
            <a:endParaRPr lang="en-GB" sz="1050" b="0" u="none" strike="noStrike">
              <a:solidFill>
                <a:srgbClr val="FFFFFF"/>
              </a:solidFill>
              <a:effectLst/>
              <a:uFillTx/>
              <a:latin typeface="Arial"/>
            </a:endParaRPr>
          </a:p>
        </p:txBody>
      </p:sp>
      <p:sp>
        <p:nvSpPr>
          <p:cNvPr id="499" name="Rectangle 47"/>
          <p:cNvSpPr/>
          <p:nvPr/>
        </p:nvSpPr>
        <p:spPr>
          <a:xfrm>
            <a:off x="548640" y="5806440"/>
            <a:ext cx="11063520" cy="410760"/>
          </a:xfrm>
          <a:prstGeom prst="rect">
            <a:avLst/>
          </a:prstGeom>
          <a:solidFill>
            <a:srgbClr val="0D1E3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0" name="TextBox 48"/>
          <p:cNvSpPr/>
          <p:nvPr/>
        </p:nvSpPr>
        <p:spPr>
          <a:xfrm>
            <a:off x="685800" y="586116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Frontend</a:t>
            </a:r>
            <a:endParaRPr lang="en-GB" sz="1100" b="0" u="none" strike="noStrike">
              <a:solidFill>
                <a:srgbClr val="FFFFFF"/>
              </a:solidFill>
              <a:effectLst/>
              <a:uFillTx/>
              <a:latin typeface="Arial"/>
            </a:endParaRPr>
          </a:p>
        </p:txBody>
      </p:sp>
      <p:sp>
        <p:nvSpPr>
          <p:cNvPr id="501" name="TextBox 49"/>
          <p:cNvSpPr/>
          <p:nvPr/>
        </p:nvSpPr>
        <p:spPr>
          <a:xfrm>
            <a:off x="3017520" y="586116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Vanilla HTML/JS</a:t>
            </a:r>
            <a:endParaRPr lang="en-GB" sz="1100" b="0" u="none" strike="noStrike">
              <a:solidFill>
                <a:srgbClr val="FFFFFF"/>
              </a:solidFill>
              <a:effectLst/>
              <a:uFillTx/>
              <a:latin typeface="Arial"/>
            </a:endParaRPr>
          </a:p>
        </p:txBody>
      </p:sp>
      <p:sp>
        <p:nvSpPr>
          <p:cNvPr id="502" name="TextBox 50"/>
          <p:cNvSpPr/>
          <p:nvPr/>
        </p:nvSpPr>
        <p:spPr>
          <a:xfrm>
            <a:off x="5577840" y="586116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Single-file, no framework, WebSocket-driven</a:t>
            </a:r>
            <a:endParaRPr lang="en-GB" sz="1050" b="0" u="none" strike="noStrike">
              <a:solidFill>
                <a:srgbClr val="FFFFFF"/>
              </a:solidFill>
              <a:effectLst/>
              <a:uFillTx/>
              <a:latin typeface="Arial"/>
            </a:endParaRPr>
          </a:p>
        </p:txBody>
      </p:sp>
      <p:sp>
        <p:nvSpPr>
          <p:cNvPr id="503" name="Rectangle 51"/>
          <p:cNvSpPr/>
          <p:nvPr/>
        </p:nvSpPr>
        <p:spPr>
          <a:xfrm>
            <a:off x="548640" y="6236280"/>
            <a:ext cx="11063520" cy="41076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4" name="TextBox 52"/>
          <p:cNvSpPr/>
          <p:nvPr/>
        </p:nvSpPr>
        <p:spPr>
          <a:xfrm>
            <a:off x="685800" y="6291000"/>
            <a:ext cx="21938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0" u="none" strike="noStrike">
                <a:solidFill>
                  <a:srgbClr val="94A3B8"/>
                </a:solidFill>
                <a:effectLst/>
                <a:uFillTx/>
                <a:latin typeface="Calibri"/>
              </a:rPr>
              <a:t>API Spec</a:t>
            </a:r>
            <a:endParaRPr lang="en-GB" sz="1100" b="0" u="none" strike="noStrike">
              <a:solidFill>
                <a:srgbClr val="FFFFFF"/>
              </a:solidFill>
              <a:effectLst/>
              <a:uFillTx/>
              <a:latin typeface="Arial"/>
            </a:endParaRPr>
          </a:p>
        </p:txBody>
      </p:sp>
      <p:sp>
        <p:nvSpPr>
          <p:cNvPr id="505" name="TextBox 53"/>
          <p:cNvSpPr/>
          <p:nvPr/>
        </p:nvSpPr>
        <p:spPr>
          <a:xfrm>
            <a:off x="3017520" y="6291000"/>
            <a:ext cx="23767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100" b="1" u="none" strike="noStrike">
                <a:solidFill>
                  <a:srgbClr val="00D4FF"/>
                </a:solidFill>
                <a:effectLst/>
                <a:uFillTx/>
                <a:latin typeface="Calibri Bold"/>
              </a:rPr>
              <a:t>OpenAPI 3.1</a:t>
            </a:r>
            <a:endParaRPr lang="en-GB" sz="1100" b="0" u="none" strike="noStrike">
              <a:solidFill>
                <a:srgbClr val="FFFFFF"/>
              </a:solidFill>
              <a:effectLst/>
              <a:uFillTx/>
              <a:latin typeface="Arial"/>
            </a:endParaRPr>
          </a:p>
        </p:txBody>
      </p:sp>
      <p:sp>
        <p:nvSpPr>
          <p:cNvPr id="506" name="TextBox 54"/>
          <p:cNvSpPr/>
          <p:nvPr/>
        </p:nvSpPr>
        <p:spPr>
          <a:xfrm>
            <a:off x="5577840" y="6291000"/>
            <a:ext cx="585144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Full spec included — Swagger / Postman / Redocly</a:t>
            </a:r>
            <a:endParaRPr lang="en-GB"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507" name="TextBox 1"/>
          <p:cNvSpPr/>
          <p:nvPr/>
        </p:nvSpPr>
        <p:spPr>
          <a:xfrm>
            <a:off x="548640" y="274320"/>
            <a:ext cx="10972080" cy="639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400" b="1" u="none" strike="noStrike">
                <a:solidFill>
                  <a:srgbClr val="FFFFFF"/>
                </a:solidFill>
                <a:effectLst/>
                <a:uFillTx/>
                <a:latin typeface="Calibri Bold"/>
              </a:rPr>
              <a:t>Key Design Decisions</a:t>
            </a:r>
            <a:endParaRPr lang="en-GB" sz="3400" b="0" u="none" strike="noStrike">
              <a:solidFill>
                <a:srgbClr val="FFFFFF"/>
              </a:solidFill>
              <a:effectLst/>
              <a:uFillTx/>
              <a:latin typeface="Arial"/>
            </a:endParaRPr>
          </a:p>
        </p:txBody>
      </p:sp>
      <p:sp>
        <p:nvSpPr>
          <p:cNvPr id="508" name="Rectangle 2"/>
          <p:cNvSpPr/>
          <p:nvPr/>
        </p:nvSpPr>
        <p:spPr>
          <a:xfrm>
            <a:off x="548640" y="960120"/>
            <a:ext cx="1097208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509" name="Rectangle 3"/>
          <p:cNvSpPr/>
          <p:nvPr/>
        </p:nvSpPr>
        <p:spPr>
          <a:xfrm>
            <a:off x="457200" y="1188720"/>
            <a:ext cx="5577120" cy="246816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0" name="Rectangle 4"/>
          <p:cNvSpPr/>
          <p:nvPr/>
        </p:nvSpPr>
        <p:spPr>
          <a:xfrm>
            <a:off x="457200" y="1188720"/>
            <a:ext cx="5577120" cy="3600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511" name="Rectangle 5"/>
          <p:cNvSpPr/>
          <p:nvPr/>
        </p:nvSpPr>
        <p:spPr>
          <a:xfrm>
            <a:off x="457200" y="1225440"/>
            <a:ext cx="45000" cy="24314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512" name="TextBox 6"/>
          <p:cNvSpPr/>
          <p:nvPr/>
        </p:nvSpPr>
        <p:spPr>
          <a:xfrm>
            <a:off x="621720" y="1280160"/>
            <a:ext cx="5211360" cy="288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2563EB"/>
                </a:solidFill>
                <a:effectLst/>
                <a:uFillTx/>
                <a:latin typeface="Calibri Bold"/>
              </a:rPr>
              <a:t>JsSIP in Node.js - Why &amp; How</a:t>
            </a:r>
            <a:endParaRPr lang="en-GB" sz="1300" b="0" u="none" strike="noStrike">
              <a:solidFill>
                <a:srgbClr val="FFFFFF"/>
              </a:solidFill>
              <a:effectLst/>
              <a:uFillTx/>
              <a:latin typeface="Arial"/>
            </a:endParaRPr>
          </a:p>
        </p:txBody>
      </p:sp>
      <p:sp>
        <p:nvSpPr>
          <p:cNvPr id="513" name="TextBox 7"/>
          <p:cNvSpPr/>
          <p:nvPr/>
        </p:nvSpPr>
        <p:spPr>
          <a:xfrm>
            <a:off x="621720" y="1737360"/>
            <a:ext cx="5211360" cy="1782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JsSIP is browser-first. Making it work in Node required: injecting global.WebSocket, stubbing RTCPeerConnection with immediate ICE signalling (onicecandidate null), and bypassing renegotiate() entirely for hold/resume by writing raw SIP directly to transport._ws.</a:t>
            </a:r>
            <a:endParaRPr lang="en-GB" sz="1050" b="0" u="none" strike="noStrike">
              <a:solidFill>
                <a:srgbClr val="FFFFFF"/>
              </a:solidFill>
              <a:effectLst/>
              <a:uFillTx/>
              <a:latin typeface="Arial"/>
            </a:endParaRPr>
          </a:p>
        </p:txBody>
      </p:sp>
      <p:sp>
        <p:nvSpPr>
          <p:cNvPr id="514" name="Rectangle 8"/>
          <p:cNvSpPr/>
          <p:nvPr/>
        </p:nvSpPr>
        <p:spPr>
          <a:xfrm>
            <a:off x="6263640" y="1188720"/>
            <a:ext cx="5577120" cy="246816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5" name="Rectangle 9"/>
          <p:cNvSpPr/>
          <p:nvPr/>
        </p:nvSpPr>
        <p:spPr>
          <a:xfrm>
            <a:off x="6263640" y="1188720"/>
            <a:ext cx="5577120" cy="3600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516" name="Rectangle 10"/>
          <p:cNvSpPr/>
          <p:nvPr/>
        </p:nvSpPr>
        <p:spPr>
          <a:xfrm>
            <a:off x="6263640" y="1225440"/>
            <a:ext cx="45000" cy="2431440"/>
          </a:xfrm>
          <a:prstGeom prst="rect">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517" name="TextBox 11"/>
          <p:cNvSpPr/>
          <p:nvPr/>
        </p:nvSpPr>
        <p:spPr>
          <a:xfrm>
            <a:off x="6428160" y="1280160"/>
            <a:ext cx="5211360" cy="288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D97706"/>
                </a:solidFill>
                <a:effectLst/>
                <a:uFillTx/>
                <a:latin typeface="Calibri Bold"/>
              </a:rPr>
              <a:t>No tcpdump -Pure Node.js pcap</a:t>
            </a:r>
            <a:endParaRPr lang="en-GB" sz="1300" b="0" u="none" strike="noStrike">
              <a:solidFill>
                <a:srgbClr val="FFFFFF"/>
              </a:solidFill>
              <a:effectLst/>
              <a:uFillTx/>
              <a:latin typeface="Arial"/>
            </a:endParaRPr>
          </a:p>
        </p:txBody>
      </p:sp>
      <p:sp>
        <p:nvSpPr>
          <p:cNvPr id="518" name="TextBox 12"/>
          <p:cNvSpPr/>
          <p:nvPr/>
        </p:nvSpPr>
        <p:spPr>
          <a:xfrm>
            <a:off x="6428160" y="1737360"/>
            <a:ext cx="5211360" cy="1782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Cloud and rootless Podman environments restrict raw socket access. The captureManager writes valid libpcap files directly using Buffer operations — same format as Wireshark, zero system dependencies.</a:t>
            </a:r>
            <a:endParaRPr lang="en-GB" sz="1050" b="0" u="none" strike="noStrike">
              <a:solidFill>
                <a:srgbClr val="FFFFFF"/>
              </a:solidFill>
              <a:effectLst/>
              <a:uFillTx/>
              <a:latin typeface="Arial"/>
            </a:endParaRPr>
          </a:p>
        </p:txBody>
      </p:sp>
      <p:sp>
        <p:nvSpPr>
          <p:cNvPr id="519" name="Rectangle 13"/>
          <p:cNvSpPr/>
          <p:nvPr/>
        </p:nvSpPr>
        <p:spPr>
          <a:xfrm>
            <a:off x="457200" y="3886200"/>
            <a:ext cx="5577120" cy="246816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20" name="Rectangle 14"/>
          <p:cNvSpPr/>
          <p:nvPr/>
        </p:nvSpPr>
        <p:spPr>
          <a:xfrm>
            <a:off x="457200" y="3886200"/>
            <a:ext cx="5577120" cy="3600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521" name="Rectangle 15"/>
          <p:cNvSpPr/>
          <p:nvPr/>
        </p:nvSpPr>
        <p:spPr>
          <a:xfrm>
            <a:off x="457200" y="3922920"/>
            <a:ext cx="45000" cy="243144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522" name="TextBox 16"/>
          <p:cNvSpPr/>
          <p:nvPr/>
        </p:nvSpPr>
        <p:spPr>
          <a:xfrm>
            <a:off x="621720" y="3977640"/>
            <a:ext cx="5211360" cy="288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7C3AED"/>
                </a:solidFill>
                <a:effectLst/>
                <a:uFillTx/>
                <a:latin typeface="Calibri Bold"/>
              </a:rPr>
              <a:t>G.722 over PCMU - Wideband by Default</a:t>
            </a:r>
            <a:endParaRPr lang="en-GB" sz="1300" b="0" u="none" strike="noStrike">
              <a:solidFill>
                <a:srgbClr val="FFFFFF"/>
              </a:solidFill>
              <a:effectLst/>
              <a:uFillTx/>
              <a:latin typeface="Arial"/>
            </a:endParaRPr>
          </a:p>
        </p:txBody>
      </p:sp>
      <p:sp>
        <p:nvSpPr>
          <p:cNvPr id="523" name="TextBox 17"/>
          <p:cNvSpPr/>
          <p:nvPr/>
        </p:nvSpPr>
        <p:spPr>
          <a:xfrm>
            <a:off x="621720" y="4434840"/>
            <a:ext cx="5211360" cy="1782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SDP advertises G.722 (PT 9) as the preferred codec. WAV files are converted to raw G.722 at upload time using ffmpeg so playback is zero-cost at runtime — just send bytes. A custom ADPCM decoder handles inbound recording.</a:t>
            </a:r>
            <a:endParaRPr lang="en-GB" sz="1050" b="0" u="none" strike="noStrike">
              <a:solidFill>
                <a:srgbClr val="FFFFFF"/>
              </a:solidFill>
              <a:effectLst/>
              <a:uFillTx/>
              <a:latin typeface="Arial"/>
            </a:endParaRPr>
          </a:p>
        </p:txBody>
      </p:sp>
      <p:sp>
        <p:nvSpPr>
          <p:cNvPr id="524" name="Rectangle 18"/>
          <p:cNvSpPr/>
          <p:nvPr/>
        </p:nvSpPr>
        <p:spPr>
          <a:xfrm>
            <a:off x="6263640" y="3886200"/>
            <a:ext cx="5577120" cy="246816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25" name="Rectangle 19"/>
          <p:cNvSpPr/>
          <p:nvPr/>
        </p:nvSpPr>
        <p:spPr>
          <a:xfrm>
            <a:off x="6263640" y="3886200"/>
            <a:ext cx="5577120" cy="3600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endParaRPr lang="en-US" sz="1800" b="0" u="none" strike="noStrike">
              <a:solidFill>
                <a:schemeClr val="lt1"/>
              </a:solidFill>
              <a:effectLst/>
              <a:uFillTx/>
              <a:latin typeface="Calibri"/>
            </a:endParaRPr>
          </a:p>
        </p:txBody>
      </p:sp>
      <p:sp>
        <p:nvSpPr>
          <p:cNvPr id="526" name="Rectangle 20"/>
          <p:cNvSpPr/>
          <p:nvPr/>
        </p:nvSpPr>
        <p:spPr>
          <a:xfrm>
            <a:off x="6263640" y="3922920"/>
            <a:ext cx="45000" cy="2431440"/>
          </a:xfrm>
          <a:prstGeom prst="rect">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2680" tIns="45000" rIns="22680" bIns="45000" anchor="ctr">
            <a:noAutofit/>
          </a:bodyPr>
          <a:p>
            <a:endParaRPr lang="en-US" sz="1800" b="0" u="none" strike="noStrike">
              <a:solidFill>
                <a:schemeClr val="lt1"/>
              </a:solidFill>
              <a:effectLst/>
              <a:uFillTx/>
              <a:latin typeface="Calibri"/>
            </a:endParaRPr>
          </a:p>
        </p:txBody>
      </p:sp>
      <p:sp>
        <p:nvSpPr>
          <p:cNvPr id="527" name="TextBox 21"/>
          <p:cNvSpPr/>
          <p:nvPr/>
        </p:nvSpPr>
        <p:spPr>
          <a:xfrm>
            <a:off x="6428160" y="3977640"/>
            <a:ext cx="521136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059669"/>
                </a:solidFill>
                <a:effectLst/>
                <a:uFillTx/>
                <a:latin typeface="Calibri Bold"/>
              </a:rPr>
              <a:t>Stream Hijacking for WAV Playback</a:t>
            </a:r>
            <a:endParaRPr lang="en-GB" sz="1300" b="0" u="none" strike="noStrike">
              <a:solidFill>
                <a:srgbClr val="FFFFFF"/>
              </a:solidFill>
              <a:effectLst/>
              <a:uFillTx/>
              <a:latin typeface="Arial"/>
            </a:endParaRPr>
          </a:p>
        </p:txBody>
      </p:sp>
      <p:sp>
        <p:nvSpPr>
          <p:cNvPr id="528" name="TextBox 22"/>
          <p:cNvSpPr/>
          <p:nvPr/>
        </p:nvSpPr>
        <p:spPr>
          <a:xfrm>
            <a:off x="6428160" y="4434840"/>
            <a:ext cx="5211360" cy="1782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50" b="0" u="none" strike="noStrike">
                <a:solidFill>
                  <a:srgbClr val="F0F4FF"/>
                </a:solidFill>
                <a:effectLst/>
                <a:uFillTx/>
                <a:latin typeface="Calibri"/>
              </a:rPr>
              <a:t>During playback, the RtpBridge copies the live stream's SSRC and sequence number before taking over. Incoming RTP is suppressed. This avoids jitter buffer confusion at the far end caused by two SSRCs on the same flow.</a:t>
            </a:r>
            <a:endParaRPr lang="en-GB"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529" name="Rectangle 1"/>
          <p:cNvSpPr/>
          <p:nvPr/>
        </p:nvSpPr>
        <p:spPr>
          <a:xfrm>
            <a:off x="0" y="0"/>
            <a:ext cx="5028480" cy="685728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30" name="Rectangle 2"/>
          <p:cNvSpPr/>
          <p:nvPr/>
        </p:nvSpPr>
        <p:spPr>
          <a:xfrm>
            <a:off x="5029200" y="0"/>
            <a:ext cx="54000" cy="68572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000" tIns="45000" rIns="27000" bIns="45000" anchor="ctr">
            <a:noAutofit/>
          </a:bodyPr>
          <a:p>
            <a:endParaRPr lang="en-US" sz="1800" b="0" u="none" strike="noStrike">
              <a:solidFill>
                <a:schemeClr val="lt1"/>
              </a:solidFill>
              <a:effectLst/>
              <a:uFillTx/>
              <a:latin typeface="Calibri"/>
            </a:endParaRPr>
          </a:p>
        </p:txBody>
      </p:sp>
      <p:sp>
        <p:nvSpPr>
          <p:cNvPr id="531" name="TextBox 3"/>
          <p:cNvSpPr/>
          <p:nvPr/>
        </p:nvSpPr>
        <p:spPr>
          <a:xfrm>
            <a:off x="640080" y="1554480"/>
            <a:ext cx="1005120" cy="4564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FFFFFF"/>
                </a:solidFill>
                <a:effectLst/>
                <a:uFillTx/>
                <a:latin typeface="Calibri Bold"/>
              </a:rPr>
              <a:t>SIP</a:t>
            </a:r>
            <a:endParaRPr lang="en-GB" sz="2200" b="0" u="none" strike="noStrike">
              <a:solidFill>
                <a:srgbClr val="FFFFFF"/>
              </a:solidFill>
              <a:effectLst/>
              <a:uFillTx/>
              <a:latin typeface="Arial"/>
            </a:endParaRPr>
          </a:p>
        </p:txBody>
      </p:sp>
      <p:sp>
        <p:nvSpPr>
          <p:cNvPr id="532" name="Rectangle 4"/>
          <p:cNvSpPr/>
          <p:nvPr/>
        </p:nvSpPr>
        <p:spPr>
          <a:xfrm>
            <a:off x="640080" y="1554480"/>
            <a:ext cx="1005120" cy="4564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33" name="TextBox 5"/>
          <p:cNvSpPr/>
          <p:nvPr/>
        </p:nvSpPr>
        <p:spPr>
          <a:xfrm>
            <a:off x="1783080" y="1554480"/>
            <a:ext cx="2925360" cy="502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Bold"/>
              </a:rPr>
              <a:t>Endpoint</a:t>
            </a:r>
            <a:endParaRPr lang="en-GB" sz="2800" b="0" u="none" strike="noStrike">
              <a:solidFill>
                <a:srgbClr val="FFFFFF"/>
              </a:solidFill>
              <a:effectLst/>
              <a:uFillTx/>
              <a:latin typeface="Arial"/>
            </a:endParaRPr>
          </a:p>
        </p:txBody>
      </p:sp>
      <p:sp>
        <p:nvSpPr>
          <p:cNvPr id="534" name="TextBox 6"/>
          <p:cNvSpPr/>
          <p:nvPr/>
        </p:nvSpPr>
        <p:spPr>
          <a:xfrm>
            <a:off x="640080" y="2176200"/>
            <a:ext cx="411408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500" b="0" u="none" strike="noStrike">
                <a:solidFill>
                  <a:srgbClr val="00D4FF"/>
                </a:solidFill>
                <a:effectLst/>
                <a:uFillTx/>
                <a:latin typeface="Calibri"/>
              </a:rPr>
              <a:t>Containerized SIP Softphone</a:t>
            </a:r>
            <a:endParaRPr lang="en-GB" sz="1500" b="0" u="none" strike="noStrike">
              <a:solidFill>
                <a:srgbClr val="FFFFFF"/>
              </a:solidFill>
              <a:effectLst/>
              <a:uFillTx/>
              <a:latin typeface="Arial"/>
            </a:endParaRPr>
          </a:p>
        </p:txBody>
      </p:sp>
      <p:sp>
        <p:nvSpPr>
          <p:cNvPr id="535" name="TextBox 7"/>
          <p:cNvSpPr/>
          <p:nvPr/>
        </p:nvSpPr>
        <p:spPr>
          <a:xfrm>
            <a:off x="640080" y="2834640"/>
            <a:ext cx="4114080" cy="3199680"/>
          </a:xfrm>
          <a:prstGeom prst="rect">
            <a:avLst/>
          </a:prstGeom>
          <a:noFill/>
          <a:ln w="0">
            <a:noFill/>
          </a:ln>
        </p:spPr>
        <p:style>
          <a:lnRef idx="0"/>
          <a:fillRef idx="0"/>
          <a:effectRef idx="0"/>
          <a:fontRef idx="minor"/>
        </p:style>
        <p:txBody>
          <a:bodyPr lIns="90000" tIns="45000" rIns="90000" bIns="45000" anchor="t">
            <a:spAutoFit/>
          </a:bodyPr>
          <a:p>
            <a:pPr defTabSz="457200">
              <a:lnSpc>
                <a:spcPts val="2001"/>
              </a:lnSpc>
            </a:pPr>
            <a:r>
              <a:rPr lang="en-US" sz="1300" b="1" u="none" strike="noStrike">
                <a:solidFill>
                  <a:srgbClr val="00D4FF"/>
                </a:solidFill>
                <a:effectLst/>
                <a:uFillTx/>
                <a:latin typeface="Calibri"/>
              </a:rPr>
              <a:t>What we built:</a:t>
            </a:r>
            <a:endParaRPr lang="en-GB" sz="1300" b="0" u="none" strike="noStrike">
              <a:solidFill>
                <a:srgbClr val="FFFFFF"/>
              </a:solidFill>
              <a:effectLst/>
              <a:uFillTx/>
              <a:latin typeface="Arial"/>
            </a:endParaRPr>
          </a:p>
          <a:p>
            <a:pPr defTabSz="457200">
              <a:lnSpc>
                <a:spcPts val="2001"/>
              </a:lnSpc>
            </a:pPr>
            <a:r>
              <a:rPr lang="en-US" sz="1200" b="0" u="none" strike="noStrike">
                <a:solidFill>
                  <a:srgbClr val="F0F4FF"/>
                </a:solidFill>
                <a:effectLst/>
                <a:uFillTx/>
                <a:latin typeface="Calibri"/>
              </a:rPr>
              <a:t>Full-featured SIP softphone — no audio HW</a:t>
            </a:r>
            <a:endParaRPr lang="en-GB" sz="1200" b="0" u="none" strike="noStrike">
              <a:solidFill>
                <a:srgbClr val="FFFFFF"/>
              </a:solidFill>
              <a:effectLst/>
              <a:uFillTx/>
              <a:latin typeface="Arial"/>
            </a:endParaRPr>
          </a:p>
          <a:p>
            <a:pPr defTabSz="457200">
              <a:lnSpc>
                <a:spcPts val="2001"/>
              </a:lnSpc>
            </a:pPr>
            <a:r>
              <a:rPr lang="en-US" sz="1200" b="0" u="none" strike="noStrike">
                <a:solidFill>
                  <a:srgbClr val="F0F4FF"/>
                </a:solidFill>
                <a:effectLst/>
                <a:uFillTx/>
                <a:latin typeface="Calibri"/>
              </a:rPr>
              <a:t>24-endpoint REST API + WebSocket events</a:t>
            </a:r>
            <a:endParaRPr lang="en-GB" sz="1200" b="0" u="none" strike="noStrike">
              <a:solidFill>
                <a:srgbClr val="FFFFFF"/>
              </a:solidFill>
              <a:effectLst/>
              <a:uFillTx/>
              <a:latin typeface="Arial"/>
            </a:endParaRPr>
          </a:p>
          <a:p>
            <a:pPr defTabSz="457200">
              <a:lnSpc>
                <a:spcPts val="2001"/>
              </a:lnSpc>
            </a:pPr>
            <a:r>
              <a:rPr lang="en-US" sz="1200" b="0" u="none" strike="noStrike">
                <a:solidFill>
                  <a:srgbClr val="F0F4FF"/>
                </a:solidFill>
                <a:effectLst/>
                <a:uFillTx/>
                <a:latin typeface="Calibri"/>
              </a:rPr>
              <a:t>G.722 wideband audio, WAV injection</a:t>
            </a:r>
            <a:endParaRPr lang="en-GB" sz="1200" b="0" u="none" strike="noStrike">
              <a:solidFill>
                <a:srgbClr val="FFFFFF"/>
              </a:solidFill>
              <a:effectLst/>
              <a:uFillTx/>
              <a:latin typeface="Arial"/>
            </a:endParaRPr>
          </a:p>
          <a:p>
            <a:pPr defTabSz="457200">
              <a:lnSpc>
                <a:spcPts val="2001"/>
              </a:lnSpc>
            </a:pPr>
            <a:r>
              <a:rPr lang="en-US" sz="1200" b="0" u="none" strike="noStrike">
                <a:solidFill>
                  <a:srgbClr val="F0F4FF"/>
                </a:solidFill>
                <a:effectLst/>
                <a:uFillTx/>
                <a:latin typeface="Calibri"/>
              </a:rPr>
              <a:t>Per-call pcap + decoded audio recording</a:t>
            </a:r>
            <a:endParaRPr lang="en-GB" sz="1200" b="0" u="none" strike="noStrike">
              <a:solidFill>
                <a:srgbClr val="FFFFFF"/>
              </a:solidFill>
              <a:effectLst/>
              <a:uFillTx/>
              <a:latin typeface="Arial"/>
            </a:endParaRPr>
          </a:p>
          <a:p>
            <a:pPr defTabSz="457200">
              <a:lnSpc>
                <a:spcPts val="2001"/>
              </a:lnSpc>
            </a:pPr>
            <a:r>
              <a:rPr lang="en-US" sz="1200" b="0" u="none" strike="noStrike">
                <a:solidFill>
                  <a:srgbClr val="F0F4FF"/>
                </a:solidFill>
                <a:effectLst/>
                <a:uFillTx/>
                <a:latin typeface="Calibri"/>
              </a:rPr>
              <a:t>Docker/Podman, cloud-ready, headless</a:t>
            </a:r>
            <a:endParaRPr lang="en-GB" sz="1200" b="0" u="none" strike="noStrike">
              <a:solidFill>
                <a:srgbClr val="FFFFFF"/>
              </a:solidFill>
              <a:effectLst/>
              <a:uFillTx/>
              <a:latin typeface="Arial"/>
            </a:endParaRPr>
          </a:p>
          <a:p>
            <a:pPr defTabSz="457200">
              <a:lnSpc>
                <a:spcPts val="2001"/>
              </a:lnSpc>
            </a:pPr>
            <a:r>
              <a:rPr lang="en-US" sz="1200" b="0" u="none" strike="noStrike">
                <a:solidFill>
                  <a:srgbClr val="F0F4FF"/>
                </a:solidFill>
                <a:effectLst/>
                <a:uFillTx/>
                <a:latin typeface="Calibri"/>
              </a:rPr>
              <a:t>OpenAPI 3.1 spec included</a:t>
            </a:r>
            <a:endParaRPr lang="en-GB" sz="1200" b="0" u="none" strike="noStrike">
              <a:solidFill>
                <a:srgbClr val="FFFFFF"/>
              </a:solidFill>
              <a:effectLst/>
              <a:uFillTx/>
              <a:latin typeface="Arial"/>
            </a:endParaRPr>
          </a:p>
        </p:txBody>
      </p:sp>
      <p:sp>
        <p:nvSpPr>
          <p:cNvPr id="536" name="TextBox 8"/>
          <p:cNvSpPr/>
          <p:nvPr/>
        </p:nvSpPr>
        <p:spPr>
          <a:xfrm>
            <a:off x="5669280" y="1371600"/>
            <a:ext cx="5942880" cy="410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FFFFFF"/>
                </a:solidFill>
                <a:effectLst/>
                <a:uFillTx/>
                <a:latin typeface="Calibri Bold"/>
              </a:rPr>
              <a:t>Quick Reference</a:t>
            </a:r>
            <a:endParaRPr lang="en-GB" sz="1800" b="0" u="none" strike="noStrike">
              <a:solidFill>
                <a:srgbClr val="FFFFFF"/>
              </a:solidFill>
              <a:effectLst/>
              <a:uFillTx/>
              <a:latin typeface="Arial"/>
            </a:endParaRPr>
          </a:p>
        </p:txBody>
      </p:sp>
      <p:sp>
        <p:nvSpPr>
          <p:cNvPr id="537" name="Rectangle 9"/>
          <p:cNvSpPr/>
          <p:nvPr/>
        </p:nvSpPr>
        <p:spPr>
          <a:xfrm>
            <a:off x="5669280" y="1828800"/>
            <a:ext cx="5942880" cy="8280"/>
          </a:xfrm>
          <a:prstGeom prst="rect">
            <a:avLst/>
          </a:prstGeom>
          <a:solidFill>
            <a:srgbClr val="2E3D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538" name="TextBox 10"/>
          <p:cNvSpPr/>
          <p:nvPr/>
        </p:nvSpPr>
        <p:spPr>
          <a:xfrm>
            <a:off x="5669280" y="1965960"/>
            <a:ext cx="201096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94A3B8"/>
                </a:solidFill>
                <a:effectLst/>
                <a:uFillTx/>
                <a:latin typeface="Calibri"/>
              </a:rPr>
              <a:t>Web UI</a:t>
            </a:r>
            <a:endParaRPr lang="en-GB" sz="1200" b="0" u="none" strike="noStrike">
              <a:solidFill>
                <a:srgbClr val="FFFFFF"/>
              </a:solidFill>
              <a:effectLst/>
              <a:uFillTx/>
              <a:latin typeface="Arial"/>
            </a:endParaRPr>
          </a:p>
        </p:txBody>
      </p:sp>
      <p:sp>
        <p:nvSpPr>
          <p:cNvPr id="539" name="TextBox 11"/>
          <p:cNvSpPr/>
          <p:nvPr/>
        </p:nvSpPr>
        <p:spPr>
          <a:xfrm>
            <a:off x="7772400" y="1965960"/>
            <a:ext cx="37483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00D4FF"/>
                </a:solidFill>
                <a:effectLst/>
                <a:uFillTx/>
                <a:latin typeface="Consolas"/>
              </a:rPr>
              <a:t>http://localhost:3000</a:t>
            </a:r>
            <a:endParaRPr lang="en-GB" sz="1200" b="0" u="none" strike="noStrike">
              <a:solidFill>
                <a:srgbClr val="FFFFFF"/>
              </a:solidFill>
              <a:effectLst/>
              <a:uFillTx/>
              <a:latin typeface="Arial"/>
            </a:endParaRPr>
          </a:p>
        </p:txBody>
      </p:sp>
      <p:sp>
        <p:nvSpPr>
          <p:cNvPr id="540" name="Rectangle 12"/>
          <p:cNvSpPr/>
          <p:nvPr/>
        </p:nvSpPr>
        <p:spPr>
          <a:xfrm>
            <a:off x="5669280" y="2404800"/>
            <a:ext cx="594288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541" name="TextBox 13"/>
          <p:cNvSpPr/>
          <p:nvPr/>
        </p:nvSpPr>
        <p:spPr>
          <a:xfrm>
            <a:off x="5669280" y="2624400"/>
            <a:ext cx="201096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94A3B8"/>
                </a:solidFill>
                <a:effectLst/>
                <a:uFillTx/>
                <a:latin typeface="Calibri"/>
              </a:rPr>
              <a:t>API Status</a:t>
            </a:r>
            <a:endParaRPr lang="en-GB" sz="1200" b="0" u="none" strike="noStrike">
              <a:solidFill>
                <a:srgbClr val="FFFFFF"/>
              </a:solidFill>
              <a:effectLst/>
              <a:uFillTx/>
              <a:latin typeface="Arial"/>
            </a:endParaRPr>
          </a:p>
        </p:txBody>
      </p:sp>
      <p:sp>
        <p:nvSpPr>
          <p:cNvPr id="542" name="TextBox 14"/>
          <p:cNvSpPr/>
          <p:nvPr/>
        </p:nvSpPr>
        <p:spPr>
          <a:xfrm>
            <a:off x="7772400" y="2624400"/>
            <a:ext cx="37483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00D4FF"/>
                </a:solidFill>
                <a:effectLst/>
                <a:uFillTx/>
                <a:latin typeface="Consolas"/>
              </a:rPr>
              <a:t>GET /api/status</a:t>
            </a:r>
            <a:endParaRPr lang="en-GB" sz="1200" b="0" u="none" strike="noStrike">
              <a:solidFill>
                <a:srgbClr val="FFFFFF"/>
              </a:solidFill>
              <a:effectLst/>
              <a:uFillTx/>
              <a:latin typeface="Arial"/>
            </a:endParaRPr>
          </a:p>
        </p:txBody>
      </p:sp>
      <p:sp>
        <p:nvSpPr>
          <p:cNvPr id="543" name="Rectangle 15"/>
          <p:cNvSpPr/>
          <p:nvPr/>
        </p:nvSpPr>
        <p:spPr>
          <a:xfrm>
            <a:off x="5669280" y="3063240"/>
            <a:ext cx="594288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544" name="TextBox 16"/>
          <p:cNvSpPr/>
          <p:nvPr/>
        </p:nvSpPr>
        <p:spPr>
          <a:xfrm>
            <a:off x="5669280" y="3282840"/>
            <a:ext cx="201096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94A3B8"/>
                </a:solidFill>
                <a:effectLst/>
                <a:uFillTx/>
                <a:latin typeface="Calibri"/>
              </a:rPr>
              <a:t>OpenAPI Spec</a:t>
            </a:r>
            <a:endParaRPr lang="en-GB" sz="1200" b="0" u="none" strike="noStrike">
              <a:solidFill>
                <a:srgbClr val="FFFFFF"/>
              </a:solidFill>
              <a:effectLst/>
              <a:uFillTx/>
              <a:latin typeface="Arial"/>
            </a:endParaRPr>
          </a:p>
        </p:txBody>
      </p:sp>
      <p:sp>
        <p:nvSpPr>
          <p:cNvPr id="545" name="TextBox 17"/>
          <p:cNvSpPr/>
          <p:nvPr/>
        </p:nvSpPr>
        <p:spPr>
          <a:xfrm>
            <a:off x="7772400" y="3282840"/>
            <a:ext cx="37483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00D4FF"/>
                </a:solidFill>
                <a:effectLst/>
                <a:uFillTx/>
                <a:latin typeface="Consolas"/>
              </a:rPr>
              <a:t>openapi.json</a:t>
            </a:r>
            <a:endParaRPr lang="en-GB" sz="1200" b="0" u="none" strike="noStrike">
              <a:solidFill>
                <a:srgbClr val="FFFFFF"/>
              </a:solidFill>
              <a:effectLst/>
              <a:uFillTx/>
              <a:latin typeface="Arial"/>
            </a:endParaRPr>
          </a:p>
        </p:txBody>
      </p:sp>
      <p:sp>
        <p:nvSpPr>
          <p:cNvPr id="546" name="Rectangle 18"/>
          <p:cNvSpPr/>
          <p:nvPr/>
        </p:nvSpPr>
        <p:spPr>
          <a:xfrm>
            <a:off x="5669280" y="3721680"/>
            <a:ext cx="594288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547" name="TextBox 19"/>
          <p:cNvSpPr/>
          <p:nvPr/>
        </p:nvSpPr>
        <p:spPr>
          <a:xfrm>
            <a:off x="5669280" y="3940920"/>
            <a:ext cx="201096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94A3B8"/>
                </a:solidFill>
                <a:effectLst/>
                <a:uFillTx/>
                <a:latin typeface="Calibri"/>
              </a:rPr>
              <a:t>Captures</a:t>
            </a:r>
            <a:endParaRPr lang="en-GB" sz="1200" b="0" u="none" strike="noStrike">
              <a:solidFill>
                <a:srgbClr val="FFFFFF"/>
              </a:solidFill>
              <a:effectLst/>
              <a:uFillTx/>
              <a:latin typeface="Arial"/>
            </a:endParaRPr>
          </a:p>
        </p:txBody>
      </p:sp>
      <p:sp>
        <p:nvSpPr>
          <p:cNvPr id="548" name="TextBox 20"/>
          <p:cNvSpPr/>
          <p:nvPr/>
        </p:nvSpPr>
        <p:spPr>
          <a:xfrm>
            <a:off x="7772400" y="3940920"/>
            <a:ext cx="37483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00D4FF"/>
                </a:solidFill>
                <a:effectLst/>
                <a:uFillTx/>
                <a:latin typeface="Consolas"/>
              </a:rPr>
              <a:t>/captures/ volume</a:t>
            </a:r>
            <a:endParaRPr lang="en-GB" sz="1200" b="0" u="none" strike="noStrike">
              <a:solidFill>
                <a:srgbClr val="FFFFFF"/>
              </a:solidFill>
              <a:effectLst/>
              <a:uFillTx/>
              <a:latin typeface="Arial"/>
            </a:endParaRPr>
          </a:p>
        </p:txBody>
      </p:sp>
      <p:sp>
        <p:nvSpPr>
          <p:cNvPr id="549" name="Rectangle 21"/>
          <p:cNvSpPr/>
          <p:nvPr/>
        </p:nvSpPr>
        <p:spPr>
          <a:xfrm>
            <a:off x="5669280" y="4380120"/>
            <a:ext cx="594288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550" name="TextBox 22"/>
          <p:cNvSpPr/>
          <p:nvPr/>
        </p:nvSpPr>
        <p:spPr>
          <a:xfrm>
            <a:off x="5669280" y="4599360"/>
            <a:ext cx="201096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94A3B8"/>
                </a:solidFill>
                <a:effectLst/>
                <a:uFillTx/>
                <a:latin typeface="Calibri"/>
              </a:rPr>
              <a:t>WAV Files</a:t>
            </a:r>
            <a:endParaRPr lang="en-GB" sz="1200" b="0" u="none" strike="noStrike">
              <a:solidFill>
                <a:srgbClr val="FFFFFF"/>
              </a:solidFill>
              <a:effectLst/>
              <a:uFillTx/>
              <a:latin typeface="Arial"/>
            </a:endParaRPr>
          </a:p>
        </p:txBody>
      </p:sp>
      <p:sp>
        <p:nvSpPr>
          <p:cNvPr id="551" name="TextBox 23"/>
          <p:cNvSpPr/>
          <p:nvPr/>
        </p:nvSpPr>
        <p:spPr>
          <a:xfrm>
            <a:off x="7772400" y="4599360"/>
            <a:ext cx="37483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00D4FF"/>
                </a:solidFill>
                <a:effectLst/>
                <a:uFillTx/>
                <a:latin typeface="Consolas"/>
              </a:rPr>
              <a:t>/wavfiles/ volume</a:t>
            </a:r>
            <a:endParaRPr lang="en-GB" sz="1200" b="0" u="none" strike="noStrike">
              <a:solidFill>
                <a:srgbClr val="FFFFFF"/>
              </a:solidFill>
              <a:effectLst/>
              <a:uFillTx/>
              <a:latin typeface="Arial"/>
            </a:endParaRPr>
          </a:p>
        </p:txBody>
      </p:sp>
      <p:sp>
        <p:nvSpPr>
          <p:cNvPr id="552" name="Rectangle 24"/>
          <p:cNvSpPr/>
          <p:nvPr/>
        </p:nvSpPr>
        <p:spPr>
          <a:xfrm>
            <a:off x="5669280" y="5038200"/>
            <a:ext cx="594288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553" name="TextBox 25"/>
          <p:cNvSpPr/>
          <p:nvPr/>
        </p:nvSpPr>
        <p:spPr>
          <a:xfrm>
            <a:off x="5669280" y="5257800"/>
            <a:ext cx="201096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94A3B8"/>
                </a:solidFill>
                <a:effectLst/>
                <a:uFillTx/>
                <a:latin typeface="Calibri"/>
              </a:rPr>
              <a:t>History</a:t>
            </a:r>
            <a:endParaRPr lang="en-GB" sz="1200" b="0" u="none" strike="noStrike">
              <a:solidFill>
                <a:srgbClr val="FFFFFF"/>
              </a:solidFill>
              <a:effectLst/>
              <a:uFillTx/>
              <a:latin typeface="Arial"/>
            </a:endParaRPr>
          </a:p>
        </p:txBody>
      </p:sp>
      <p:sp>
        <p:nvSpPr>
          <p:cNvPr id="554" name="TextBox 26"/>
          <p:cNvSpPr/>
          <p:nvPr/>
        </p:nvSpPr>
        <p:spPr>
          <a:xfrm>
            <a:off x="7772400" y="5257800"/>
            <a:ext cx="3748320" cy="31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200" b="0" u="none" strike="noStrike">
                <a:solidFill>
                  <a:srgbClr val="00D4FF"/>
                </a:solidFill>
                <a:effectLst/>
                <a:uFillTx/>
                <a:latin typeface="Consolas"/>
              </a:rPr>
              <a:t>/captures/call_history.json</a:t>
            </a:r>
            <a:endParaRPr lang="en-GB" sz="1200" b="0" u="none" strike="noStrike">
              <a:solidFill>
                <a:srgbClr val="FFFFFF"/>
              </a:solidFill>
              <a:effectLst/>
              <a:uFillTx/>
              <a:latin typeface="Arial"/>
            </a:endParaRPr>
          </a:p>
        </p:txBody>
      </p:sp>
      <p:sp>
        <p:nvSpPr>
          <p:cNvPr id="555" name="Rectangle 27"/>
          <p:cNvSpPr/>
          <p:nvPr/>
        </p:nvSpPr>
        <p:spPr>
          <a:xfrm>
            <a:off x="5669280" y="5696640"/>
            <a:ext cx="5942880" cy="8280"/>
          </a:xfrm>
          <a:prstGeom prst="rect">
            <a:avLst/>
          </a:prstGeom>
          <a:solidFill>
            <a:srgbClr val="1E2D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endParaRPr lang="en-US" sz="1800" b="0" u="none" strike="noStrike">
              <a:solidFill>
                <a:schemeClr val="lt1"/>
              </a:solidFill>
              <a:effectLst/>
              <a:uFillTx/>
              <a:latin typeface="Calibri"/>
            </a:endParaRPr>
          </a:p>
        </p:txBody>
      </p:sp>
      <p:sp>
        <p:nvSpPr>
          <p:cNvPr id="556" name="TextBox 28"/>
          <p:cNvSpPr/>
          <p:nvPr/>
        </p:nvSpPr>
        <p:spPr>
          <a:xfrm>
            <a:off x="5669280" y="6217920"/>
            <a:ext cx="5942880" cy="365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i="1" u="none" strike="noStrike">
                <a:solidFill>
                  <a:srgbClr val="94A3B8"/>
                </a:solidFill>
                <a:effectLst/>
                <a:uFillTx/>
                <a:latin typeface="Calibri"/>
              </a:rPr>
              <a:t>Built with Node.js · JsSIP · Express · pptxgenjs</a:t>
            </a:r>
            <a:endParaRPr lang="en-GB"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C"/>
        </a:solidFill>
      </p:bgPr>
    </p:bg>
    <p:spTree>
      <p:nvGrpSpPr>
        <p:cNvPr id="1" name=""/>
        <p:cNvGrpSpPr/>
        <p:nvPr/>
      </p:nvGrpSpPr>
      <p:grpSpPr>
        <a:xfrm>
          <a:off x="0" y="0"/>
          <a:ext cx="0" cy="0"/>
          <a:chOff x="0" y="0"/>
          <a:chExt cx="0" cy="0"/>
        </a:xfrm>
      </p:grpSpPr>
      <p:sp>
        <p:nvSpPr>
          <p:cNvPr id="557" name="accent"/>
          <p:cNvSpPr/>
          <p:nvPr/>
        </p:nvSpPr>
        <p:spPr>
          <a:xfrm>
            <a:off x="457200" y="0"/>
            <a:ext cx="54360" cy="6857640"/>
          </a:xfrm>
          <a:prstGeom prst="rect">
            <a:avLst/>
          </a:prstGeom>
          <a:solidFill>
            <a:srgbClr val="2563EB"/>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58" name="appendix_label"/>
          <p:cNvSpPr/>
          <p:nvPr/>
        </p:nvSpPr>
        <p:spPr>
          <a:xfrm>
            <a:off x="685800" y="1371600"/>
            <a:ext cx="11315160" cy="4568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200" b="1" u="none" spc="300" strike="noStrike">
                <a:solidFill>
                  <a:srgbClr val="00D4FF"/>
                </a:solidFill>
                <a:effectLst/>
                <a:uFillTx/>
                <a:latin typeface="Calibri"/>
              </a:rPr>
              <a:t>APPENDIX</a:t>
            </a:r>
            <a:endParaRPr lang="en-GB" sz="1200" b="0" u="none" strike="noStrike">
              <a:solidFill>
                <a:srgbClr val="FFFFFF"/>
              </a:solidFill>
              <a:effectLst/>
              <a:uFillTx/>
              <a:latin typeface="Arial"/>
            </a:endParaRPr>
          </a:p>
        </p:txBody>
      </p:sp>
      <p:sp>
        <p:nvSpPr>
          <p:cNvPr id="559" name="heading"/>
          <p:cNvSpPr/>
          <p:nvPr/>
        </p:nvSpPr>
        <p:spPr>
          <a:xfrm>
            <a:off x="685800" y="1828800"/>
            <a:ext cx="11315160" cy="9140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4400" b="1" u="none" strike="noStrike">
                <a:solidFill>
                  <a:srgbClr val="FFFFFF"/>
                </a:solidFill>
                <a:effectLst/>
                <a:uFillTx/>
                <a:latin typeface="Calibri Bold"/>
              </a:rPr>
              <a:t>UI Screenshots</a:t>
            </a:r>
            <a:endParaRPr lang="en-GB" sz="4400" b="0" u="none" strike="noStrike">
              <a:solidFill>
                <a:srgbClr val="FFFFFF"/>
              </a:solidFill>
              <a:effectLst/>
              <a:uFillTx/>
              <a:latin typeface="Arial"/>
            </a:endParaRPr>
          </a:p>
        </p:txBody>
      </p:sp>
      <p:sp>
        <p:nvSpPr>
          <p:cNvPr id="560" name="subtitle"/>
          <p:cNvSpPr/>
          <p:nvPr/>
        </p:nvSpPr>
        <p:spPr>
          <a:xfrm>
            <a:off x="685800" y="2743200"/>
            <a:ext cx="8229240" cy="4568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600" b="0" u="none" strike="noStrike">
                <a:solidFill>
                  <a:srgbClr val="94A3B8"/>
                </a:solidFill>
                <a:effectLst/>
                <a:uFillTx/>
                <a:latin typeface="Calibri"/>
              </a:rPr>
              <a:t>Web UI walkthrough — Clarity theme softphone interface</a:t>
            </a:r>
            <a:endParaRPr lang="en-GB"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E"/>
        </a:solidFill>
      </p:bgPr>
    </p:bg>
    <p:spTree>
      <p:nvGrpSpPr>
        <p:cNvPr id="1" name=""/>
        <p:cNvGrpSpPr/>
        <p:nvPr/>
      </p:nvGrpSpPr>
      <p:grpSpPr>
        <a:xfrm>
          <a:off x="0" y="0"/>
          <a:ext cx="0" cy="0"/>
          <a:chOff x="0" y="0"/>
          <a:chExt cx="0" cy="0"/>
        </a:xfrm>
      </p:grpSpPr>
      <p:sp>
        <p:nvSpPr>
          <p:cNvPr id="561" name="topbar"/>
          <p:cNvSpPr/>
          <p:nvPr/>
        </p:nvSpPr>
        <p:spPr>
          <a:xfrm>
            <a:off x="0" y="0"/>
            <a:ext cx="12191760" cy="685440"/>
          </a:xfrm>
          <a:prstGeom prst="rect">
            <a:avLst/>
          </a:prstGeom>
          <a:solidFill>
            <a:srgbClr val="1E2D4A"/>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62" name="accent"/>
          <p:cNvSpPr/>
          <p:nvPr/>
        </p:nvSpPr>
        <p:spPr>
          <a:xfrm>
            <a:off x="0" y="0"/>
            <a:ext cx="54360" cy="685440"/>
          </a:xfrm>
          <a:prstGeom prst="rect">
            <a:avLst/>
          </a:prstGeom>
          <a:solidFill>
            <a:srgbClr val="2563EB"/>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63" name="title"/>
          <p:cNvSpPr/>
          <p:nvPr/>
        </p:nvSpPr>
        <p:spPr>
          <a:xfrm>
            <a:off x="228600" y="114480"/>
            <a:ext cx="10285920" cy="456840"/>
          </a:xfrm>
          <a:prstGeom prst="rect">
            <a:avLst/>
          </a:prstGeom>
          <a:noFill/>
          <a:ln w="0">
            <a:noFill/>
          </a:ln>
        </p:spPr>
        <p:style>
          <a:lnRef idx="0"/>
          <a:fillRef idx="0"/>
          <a:effectRef idx="0"/>
          <a:fontRef idx="minor"/>
        </p:style>
        <p:txBody>
          <a:bodyPr lIns="0" tIns="0" rIns="0" bIns="0" anchor="ctr">
            <a:noAutofit/>
          </a:bodyPr>
          <a:p>
            <a:pPr>
              <a:lnSpc>
                <a:spcPct val="100000"/>
              </a:lnSpc>
            </a:pPr>
            <a:r>
              <a:rPr lang="en-US" sz="2000" b="1" u="none" strike="noStrike">
                <a:solidFill>
                  <a:srgbClr val="FFFFFF"/>
                </a:solidFill>
                <a:effectLst/>
                <a:uFillTx/>
                <a:latin typeface="Calibri Bold"/>
              </a:rPr>
              <a:t>Registration &amp; Call Panel</a:t>
            </a:r>
            <a:endParaRPr lang="en-GB" sz="2000" b="0" u="none" strike="noStrike">
              <a:solidFill>
                <a:srgbClr val="FFFFFF"/>
              </a:solidFill>
              <a:effectLst/>
              <a:uFillTx/>
              <a:latin typeface="Arial"/>
            </a:endParaRPr>
          </a:p>
        </p:txBody>
      </p:sp>
      <p:sp>
        <p:nvSpPr>
          <p:cNvPr id="564" name="caption"/>
          <p:cNvSpPr/>
          <p:nvPr/>
        </p:nvSpPr>
        <p:spPr>
          <a:xfrm>
            <a:off x="343080" y="5715000"/>
            <a:ext cx="11505960" cy="456840"/>
          </a:xfrm>
          <a:prstGeom prst="rect">
            <a:avLst/>
          </a:prstGeom>
          <a:solidFill>
            <a:srgbClr val="1E2D4A"/>
          </a:solidFill>
          <a:ln w="0">
            <a:noFill/>
          </a:ln>
        </p:spPr>
        <p:style>
          <a:lnRef idx="0"/>
          <a:fillRef idx="0"/>
          <a:effectRef idx="0"/>
          <a:fontRef idx="minor"/>
        </p:style>
        <p:txBody>
          <a:bodyPr anchor="ctr">
            <a:noAutofit/>
          </a:bodyPr>
          <a:p>
            <a:pPr>
              <a:lnSpc>
                <a:spcPct val="100000"/>
              </a:lnSpc>
            </a:pPr>
            <a:r>
              <a:rPr lang="en-US" sz="1000" b="0" u="none" strike="noStrike">
                <a:solidFill>
                  <a:srgbClr val="94A3B8"/>
                </a:solidFill>
                <a:effectLst/>
                <a:uFillTx/>
                <a:latin typeface="Calibri"/>
              </a:rPr>
              <a:t>SIP registration form · locked when registered · call display card · G.722 status</a:t>
            </a:r>
            <a:endParaRPr lang="en-GB" sz="1000" b="0" u="none" strike="noStrike">
              <a:solidFill>
                <a:srgbClr val="FFFFFF"/>
              </a:solidFill>
              <a:effectLst/>
              <a:uFillTx/>
              <a:latin typeface="Arial"/>
            </a:endParaRPr>
          </a:p>
        </p:txBody>
      </p:sp>
      <p:sp>
        <p:nvSpPr>
          <p:cNvPr id="565" name="appendix_tag"/>
          <p:cNvSpPr/>
          <p:nvPr/>
        </p:nvSpPr>
        <p:spPr>
          <a:xfrm>
            <a:off x="10629000" y="171360"/>
            <a:ext cx="1371240" cy="342720"/>
          </a:xfrm>
          <a:prstGeom prst="rect">
            <a:avLst/>
          </a:prstGeom>
          <a:solidFill>
            <a:srgbClr val="2563EB"/>
          </a:solidFill>
          <a:ln w="0">
            <a:noFill/>
          </a:ln>
        </p:spPr>
        <p:style>
          <a:lnRef idx="0"/>
          <a:fillRef idx="0"/>
          <a:effectRef idx="0"/>
          <a:fontRef idx="minor"/>
        </p:style>
        <p:txBody>
          <a:bodyPr lIns="45720" tIns="0" rIns="45720" bIns="0" anchor="ctr">
            <a:noAutofit/>
          </a:bodyPr>
          <a:p>
            <a:pPr algn="ctr">
              <a:lnSpc>
                <a:spcPct val="100000"/>
              </a:lnSpc>
            </a:pPr>
            <a:r>
              <a:rPr lang="en-US" sz="900" b="1" u="none" spc="201" strike="noStrike">
                <a:solidFill>
                  <a:srgbClr val="FFFFFF"/>
                </a:solidFill>
                <a:effectLst/>
                <a:uFillTx/>
                <a:latin typeface="Calibri"/>
              </a:rPr>
              <a:t>APPENDIX</a:t>
            </a:r>
            <a:endParaRPr lang="en-GB" sz="900" b="0" u="none" strike="noStrike">
              <a:solidFill>
                <a:srgbClr val="FFFFFF"/>
              </a:solidFill>
              <a:effectLst/>
              <a:uFillTx/>
              <a:latin typeface="Arial"/>
            </a:endParaRPr>
          </a:p>
        </p:txBody>
      </p:sp>
      <p:pic>
        <p:nvPicPr>
          <p:cNvPr id="566" name=""/>
          <p:cNvPicPr/>
          <p:nvPr/>
        </p:nvPicPr>
        <p:blipFill>
          <a:blip r:embed="rId1"/>
          <a:stretch/>
        </p:blipFill>
        <p:spPr>
          <a:xfrm>
            <a:off x="1620000" y="900000"/>
            <a:ext cx="3446640" cy="4500000"/>
          </a:xfrm>
          <a:prstGeom prst="rect">
            <a:avLst/>
          </a:prstGeom>
          <a:noFill/>
          <a:ln w="0">
            <a:noFill/>
          </a:ln>
        </p:spPr>
      </p:pic>
      <p:pic>
        <p:nvPicPr>
          <p:cNvPr id="567" name=""/>
          <p:cNvPicPr/>
          <p:nvPr/>
        </p:nvPicPr>
        <p:blipFill>
          <a:blip r:embed="rId2"/>
          <a:stretch/>
        </p:blipFill>
        <p:spPr>
          <a:xfrm>
            <a:off x="5400000" y="900000"/>
            <a:ext cx="5807880" cy="330876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E"/>
        </a:solidFill>
      </p:bgPr>
    </p:bg>
    <p:spTree>
      <p:nvGrpSpPr>
        <p:cNvPr id="1" name=""/>
        <p:cNvGrpSpPr/>
        <p:nvPr/>
      </p:nvGrpSpPr>
      <p:grpSpPr>
        <a:xfrm>
          <a:off x="0" y="0"/>
          <a:ext cx="0" cy="0"/>
          <a:chOff x="0" y="0"/>
          <a:chExt cx="0" cy="0"/>
        </a:xfrm>
      </p:grpSpPr>
      <p:sp>
        <p:nvSpPr>
          <p:cNvPr id="568" name="topbar"/>
          <p:cNvSpPr/>
          <p:nvPr/>
        </p:nvSpPr>
        <p:spPr>
          <a:xfrm>
            <a:off x="0" y="0"/>
            <a:ext cx="12191760" cy="685440"/>
          </a:xfrm>
          <a:prstGeom prst="rect">
            <a:avLst/>
          </a:prstGeom>
          <a:solidFill>
            <a:srgbClr val="1E2D4A"/>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69" name="accent"/>
          <p:cNvSpPr/>
          <p:nvPr/>
        </p:nvSpPr>
        <p:spPr>
          <a:xfrm>
            <a:off x="0" y="0"/>
            <a:ext cx="54360" cy="685440"/>
          </a:xfrm>
          <a:prstGeom prst="rect">
            <a:avLst/>
          </a:prstGeom>
          <a:solidFill>
            <a:srgbClr val="2563EB"/>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70" name="title"/>
          <p:cNvSpPr/>
          <p:nvPr/>
        </p:nvSpPr>
        <p:spPr>
          <a:xfrm>
            <a:off x="228600" y="114480"/>
            <a:ext cx="10285920" cy="456840"/>
          </a:xfrm>
          <a:prstGeom prst="rect">
            <a:avLst/>
          </a:prstGeom>
          <a:noFill/>
          <a:ln w="0">
            <a:noFill/>
          </a:ln>
        </p:spPr>
        <p:style>
          <a:lnRef idx="0"/>
          <a:fillRef idx="0"/>
          <a:effectRef idx="0"/>
          <a:fontRef idx="minor"/>
        </p:style>
        <p:txBody>
          <a:bodyPr lIns="0" tIns="0" rIns="0" bIns="0" anchor="ctr">
            <a:noAutofit/>
          </a:bodyPr>
          <a:p>
            <a:pPr>
              <a:lnSpc>
                <a:spcPct val="100000"/>
              </a:lnSpc>
            </a:pPr>
            <a:r>
              <a:rPr lang="en-US" sz="2000" b="1" u="none" strike="noStrike">
                <a:solidFill>
                  <a:srgbClr val="FFFFFF"/>
                </a:solidFill>
                <a:effectLst/>
                <a:uFillTx/>
                <a:latin typeface="Calibri Bold"/>
              </a:rPr>
              <a:t>Dialpad  ·  Transfer  ·  Conference</a:t>
            </a:r>
            <a:endParaRPr lang="en-GB" sz="2000" b="0" u="none" strike="noStrike">
              <a:solidFill>
                <a:srgbClr val="FFFFFF"/>
              </a:solidFill>
              <a:effectLst/>
              <a:uFillTx/>
              <a:latin typeface="Arial"/>
            </a:endParaRPr>
          </a:p>
        </p:txBody>
      </p:sp>
      <p:sp>
        <p:nvSpPr>
          <p:cNvPr id="571" name="caption"/>
          <p:cNvSpPr/>
          <p:nvPr/>
        </p:nvSpPr>
        <p:spPr>
          <a:xfrm>
            <a:off x="343080" y="5715000"/>
            <a:ext cx="11505960" cy="456840"/>
          </a:xfrm>
          <a:prstGeom prst="rect">
            <a:avLst/>
          </a:prstGeom>
          <a:solidFill>
            <a:srgbClr val="1E2D4A"/>
          </a:solidFill>
          <a:ln w="0">
            <a:noFill/>
          </a:ln>
        </p:spPr>
        <p:style>
          <a:lnRef idx="0"/>
          <a:fillRef idx="0"/>
          <a:effectRef idx="0"/>
          <a:fontRef idx="minor"/>
        </p:style>
        <p:txBody>
          <a:bodyPr anchor="ctr">
            <a:noAutofit/>
          </a:bodyPr>
          <a:p>
            <a:pPr>
              <a:lnSpc>
                <a:spcPct val="100000"/>
              </a:lnSpc>
            </a:pPr>
            <a:r>
              <a:rPr lang="en-US" sz="1000" b="0" u="none" strike="noStrike">
                <a:solidFill>
                  <a:srgbClr val="94A3B8"/>
                </a:solidFill>
                <a:effectLst/>
                <a:uFillTx/>
                <a:latin typeface="Calibri"/>
              </a:rPr>
              <a:t>DTMF dialpad · hold/resume · blind/attended transfer · 3-way conference controls</a:t>
            </a:r>
            <a:endParaRPr lang="en-GB" sz="1000" b="0" u="none" strike="noStrike">
              <a:solidFill>
                <a:srgbClr val="FFFFFF"/>
              </a:solidFill>
              <a:effectLst/>
              <a:uFillTx/>
              <a:latin typeface="Arial"/>
            </a:endParaRPr>
          </a:p>
        </p:txBody>
      </p:sp>
      <p:sp>
        <p:nvSpPr>
          <p:cNvPr id="572" name="appendix_tag"/>
          <p:cNvSpPr/>
          <p:nvPr/>
        </p:nvSpPr>
        <p:spPr>
          <a:xfrm>
            <a:off x="10629000" y="171360"/>
            <a:ext cx="1371240" cy="342720"/>
          </a:xfrm>
          <a:prstGeom prst="rect">
            <a:avLst/>
          </a:prstGeom>
          <a:solidFill>
            <a:srgbClr val="2563EB"/>
          </a:solidFill>
          <a:ln w="0">
            <a:noFill/>
          </a:ln>
        </p:spPr>
        <p:style>
          <a:lnRef idx="0"/>
          <a:fillRef idx="0"/>
          <a:effectRef idx="0"/>
          <a:fontRef idx="minor"/>
        </p:style>
        <p:txBody>
          <a:bodyPr lIns="45720" tIns="0" rIns="45720" bIns="0" anchor="ctr">
            <a:noAutofit/>
          </a:bodyPr>
          <a:p>
            <a:pPr algn="ctr">
              <a:lnSpc>
                <a:spcPct val="100000"/>
              </a:lnSpc>
            </a:pPr>
            <a:r>
              <a:rPr lang="en-US" sz="900" b="1" u="none" spc="201" strike="noStrike">
                <a:solidFill>
                  <a:srgbClr val="FFFFFF"/>
                </a:solidFill>
                <a:effectLst/>
                <a:uFillTx/>
                <a:latin typeface="Calibri"/>
              </a:rPr>
              <a:t>APPENDIX</a:t>
            </a:r>
            <a:endParaRPr lang="en-GB" sz="900" b="0" u="none" strike="noStrike">
              <a:solidFill>
                <a:srgbClr val="FFFFFF"/>
              </a:solidFill>
              <a:effectLst/>
              <a:uFillTx/>
              <a:latin typeface="Arial"/>
            </a:endParaRPr>
          </a:p>
        </p:txBody>
      </p:sp>
      <p:pic>
        <p:nvPicPr>
          <p:cNvPr id="573" name=""/>
          <p:cNvPicPr/>
          <p:nvPr/>
        </p:nvPicPr>
        <p:blipFill>
          <a:blip r:embed="rId1"/>
          <a:stretch/>
        </p:blipFill>
        <p:spPr>
          <a:xfrm>
            <a:off x="898200" y="900000"/>
            <a:ext cx="5761800" cy="4140000"/>
          </a:xfrm>
          <a:prstGeom prst="rect">
            <a:avLst/>
          </a:prstGeom>
          <a:noFill/>
          <a:ln w="0">
            <a:noFill/>
          </a:ln>
        </p:spPr>
      </p:pic>
      <p:pic>
        <p:nvPicPr>
          <p:cNvPr id="574" name=""/>
          <p:cNvPicPr/>
          <p:nvPr/>
        </p:nvPicPr>
        <p:blipFill>
          <a:blip r:embed="rId2"/>
          <a:stretch/>
        </p:blipFill>
        <p:spPr>
          <a:xfrm>
            <a:off x="7380000" y="900000"/>
            <a:ext cx="4491360" cy="1917000"/>
          </a:xfrm>
          <a:prstGeom prst="rect">
            <a:avLst/>
          </a:prstGeom>
          <a:noFill/>
          <a:ln w="0">
            <a:noFill/>
          </a:ln>
        </p:spPr>
      </p:pic>
      <p:pic>
        <p:nvPicPr>
          <p:cNvPr id="575" name=""/>
          <p:cNvPicPr/>
          <p:nvPr/>
        </p:nvPicPr>
        <p:blipFill>
          <a:blip r:embed="rId3"/>
          <a:stretch/>
        </p:blipFill>
        <p:spPr>
          <a:xfrm rot="21594000">
            <a:off x="7382160" y="2946960"/>
            <a:ext cx="3775320" cy="259848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E"/>
        </a:solidFill>
      </p:bgPr>
    </p:bg>
    <p:spTree>
      <p:nvGrpSpPr>
        <p:cNvPr id="1" name=""/>
        <p:cNvGrpSpPr/>
        <p:nvPr/>
      </p:nvGrpSpPr>
      <p:grpSpPr>
        <a:xfrm>
          <a:off x="0" y="0"/>
          <a:ext cx="0" cy="0"/>
          <a:chOff x="0" y="0"/>
          <a:chExt cx="0" cy="0"/>
        </a:xfrm>
      </p:grpSpPr>
      <p:sp>
        <p:nvSpPr>
          <p:cNvPr id="576" name="topbar"/>
          <p:cNvSpPr/>
          <p:nvPr/>
        </p:nvSpPr>
        <p:spPr>
          <a:xfrm>
            <a:off x="0" y="0"/>
            <a:ext cx="12191760" cy="685440"/>
          </a:xfrm>
          <a:prstGeom prst="rect">
            <a:avLst/>
          </a:prstGeom>
          <a:solidFill>
            <a:srgbClr val="1E2D4A"/>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77" name="accent"/>
          <p:cNvSpPr/>
          <p:nvPr/>
        </p:nvSpPr>
        <p:spPr>
          <a:xfrm>
            <a:off x="0" y="0"/>
            <a:ext cx="54360" cy="685440"/>
          </a:xfrm>
          <a:prstGeom prst="rect">
            <a:avLst/>
          </a:prstGeom>
          <a:solidFill>
            <a:srgbClr val="2563EB"/>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78" name="title"/>
          <p:cNvSpPr/>
          <p:nvPr/>
        </p:nvSpPr>
        <p:spPr>
          <a:xfrm>
            <a:off x="228600" y="114480"/>
            <a:ext cx="10285920" cy="456840"/>
          </a:xfrm>
          <a:prstGeom prst="rect">
            <a:avLst/>
          </a:prstGeom>
          <a:noFill/>
          <a:ln w="0">
            <a:noFill/>
          </a:ln>
        </p:spPr>
        <p:style>
          <a:lnRef idx="0"/>
          <a:fillRef idx="0"/>
          <a:effectRef idx="0"/>
          <a:fontRef idx="minor"/>
        </p:style>
        <p:txBody>
          <a:bodyPr lIns="0" tIns="0" rIns="0" bIns="0" anchor="ctr">
            <a:noAutofit/>
          </a:bodyPr>
          <a:p>
            <a:pPr>
              <a:lnSpc>
                <a:spcPct val="100000"/>
              </a:lnSpc>
            </a:pPr>
            <a:r>
              <a:rPr lang="en-US" sz="2000" b="1" u="none" strike="noStrike">
                <a:solidFill>
                  <a:srgbClr val="FFFFFF"/>
                </a:solidFill>
                <a:effectLst/>
                <a:uFillTx/>
                <a:latin typeface="Calibri Bold"/>
              </a:rPr>
              <a:t>Captures  ·  WAV Files  ·  History</a:t>
            </a:r>
            <a:endParaRPr lang="en-GB" sz="2000" b="0" u="none" strike="noStrike">
              <a:solidFill>
                <a:srgbClr val="FFFFFF"/>
              </a:solidFill>
              <a:effectLst/>
              <a:uFillTx/>
              <a:latin typeface="Arial"/>
            </a:endParaRPr>
          </a:p>
        </p:txBody>
      </p:sp>
      <p:sp>
        <p:nvSpPr>
          <p:cNvPr id="579" name="caption"/>
          <p:cNvSpPr/>
          <p:nvPr/>
        </p:nvSpPr>
        <p:spPr>
          <a:xfrm>
            <a:off x="343080" y="5715000"/>
            <a:ext cx="11505960" cy="456840"/>
          </a:xfrm>
          <a:prstGeom prst="rect">
            <a:avLst/>
          </a:prstGeom>
          <a:solidFill>
            <a:srgbClr val="1E2D4A"/>
          </a:solidFill>
          <a:ln w="0">
            <a:noFill/>
          </a:ln>
        </p:spPr>
        <p:style>
          <a:lnRef idx="0"/>
          <a:fillRef idx="0"/>
          <a:effectRef idx="0"/>
          <a:fontRef idx="minor"/>
        </p:style>
        <p:txBody>
          <a:bodyPr anchor="ctr">
            <a:noAutofit/>
          </a:bodyPr>
          <a:p>
            <a:pPr>
              <a:lnSpc>
                <a:spcPct val="100000"/>
              </a:lnSpc>
            </a:pPr>
            <a:r>
              <a:rPr lang="en-US" sz="1000" b="0" u="none" strike="noStrike">
                <a:solidFill>
                  <a:srgbClr val="94A3B8"/>
                </a:solidFill>
                <a:effectLst/>
                <a:uFillTx/>
                <a:latin typeface="Calibri"/>
              </a:rPr>
              <a:t>Per-call pcap + WAV download · WAV file upload · call history with duration and status</a:t>
            </a:r>
            <a:endParaRPr lang="en-GB" sz="1000" b="0" u="none" strike="noStrike">
              <a:solidFill>
                <a:srgbClr val="FFFFFF"/>
              </a:solidFill>
              <a:effectLst/>
              <a:uFillTx/>
              <a:latin typeface="Arial"/>
            </a:endParaRPr>
          </a:p>
        </p:txBody>
      </p:sp>
      <p:sp>
        <p:nvSpPr>
          <p:cNvPr id="580" name="appendix_tag"/>
          <p:cNvSpPr/>
          <p:nvPr/>
        </p:nvSpPr>
        <p:spPr>
          <a:xfrm>
            <a:off x="10629000" y="171360"/>
            <a:ext cx="1371240" cy="342720"/>
          </a:xfrm>
          <a:prstGeom prst="rect">
            <a:avLst/>
          </a:prstGeom>
          <a:solidFill>
            <a:srgbClr val="2563EB"/>
          </a:solidFill>
          <a:ln w="0">
            <a:noFill/>
          </a:ln>
        </p:spPr>
        <p:style>
          <a:lnRef idx="0"/>
          <a:fillRef idx="0"/>
          <a:effectRef idx="0"/>
          <a:fontRef idx="minor"/>
        </p:style>
        <p:txBody>
          <a:bodyPr lIns="45720" tIns="0" rIns="45720" bIns="0" anchor="ctr">
            <a:noAutofit/>
          </a:bodyPr>
          <a:p>
            <a:pPr algn="ctr">
              <a:lnSpc>
                <a:spcPct val="100000"/>
              </a:lnSpc>
            </a:pPr>
            <a:r>
              <a:rPr lang="en-US" sz="900" b="1" u="none" spc="201" strike="noStrike">
                <a:solidFill>
                  <a:srgbClr val="FFFFFF"/>
                </a:solidFill>
                <a:effectLst/>
                <a:uFillTx/>
                <a:latin typeface="Calibri"/>
              </a:rPr>
              <a:t>APPENDIX</a:t>
            </a:r>
            <a:endParaRPr lang="en-GB" sz="900" b="0" u="none" strike="noStrike">
              <a:solidFill>
                <a:srgbClr val="FFFFFF"/>
              </a:solidFill>
              <a:effectLst/>
              <a:uFillTx/>
              <a:latin typeface="Arial"/>
            </a:endParaRPr>
          </a:p>
        </p:txBody>
      </p:sp>
      <p:pic>
        <p:nvPicPr>
          <p:cNvPr id="581" name=""/>
          <p:cNvPicPr/>
          <p:nvPr/>
        </p:nvPicPr>
        <p:blipFill>
          <a:blip r:embed="rId1"/>
          <a:stretch/>
        </p:blipFill>
        <p:spPr>
          <a:xfrm>
            <a:off x="972000" y="900000"/>
            <a:ext cx="2029320" cy="2340000"/>
          </a:xfrm>
          <a:prstGeom prst="rect">
            <a:avLst/>
          </a:prstGeom>
          <a:noFill/>
          <a:ln w="0">
            <a:noFill/>
          </a:ln>
        </p:spPr>
      </p:pic>
      <p:pic>
        <p:nvPicPr>
          <p:cNvPr id="582" name=""/>
          <p:cNvPicPr/>
          <p:nvPr/>
        </p:nvPicPr>
        <p:blipFill>
          <a:blip r:embed="rId2"/>
          <a:stretch/>
        </p:blipFill>
        <p:spPr>
          <a:xfrm>
            <a:off x="8352000" y="900000"/>
            <a:ext cx="2496240" cy="2160000"/>
          </a:xfrm>
          <a:prstGeom prst="rect">
            <a:avLst/>
          </a:prstGeom>
          <a:noFill/>
          <a:ln w="0">
            <a:noFill/>
          </a:ln>
        </p:spPr>
      </p:pic>
      <p:pic>
        <p:nvPicPr>
          <p:cNvPr id="583" name=""/>
          <p:cNvPicPr/>
          <p:nvPr/>
        </p:nvPicPr>
        <p:blipFill>
          <a:blip r:embed="rId3"/>
          <a:stretch/>
        </p:blipFill>
        <p:spPr>
          <a:xfrm>
            <a:off x="741960" y="3420000"/>
            <a:ext cx="2930040" cy="2127960"/>
          </a:xfrm>
          <a:prstGeom prst="rect">
            <a:avLst/>
          </a:prstGeom>
          <a:noFill/>
          <a:ln w="0">
            <a:noFill/>
          </a:ln>
        </p:spPr>
      </p:pic>
      <p:pic>
        <p:nvPicPr>
          <p:cNvPr id="584" name=""/>
          <p:cNvPicPr/>
          <p:nvPr/>
        </p:nvPicPr>
        <p:blipFill>
          <a:blip r:embed="rId4"/>
          <a:stretch/>
        </p:blipFill>
        <p:spPr>
          <a:xfrm>
            <a:off x="8352000" y="3312000"/>
            <a:ext cx="2676600" cy="2222640"/>
          </a:xfrm>
          <a:prstGeom prst="rect">
            <a:avLst/>
          </a:prstGeom>
          <a:noFill/>
          <a:ln w="0">
            <a:noFill/>
          </a:ln>
        </p:spPr>
      </p:pic>
      <p:pic>
        <p:nvPicPr>
          <p:cNvPr id="585" name=""/>
          <p:cNvPicPr/>
          <p:nvPr/>
        </p:nvPicPr>
        <p:blipFill>
          <a:blip r:embed="rId5"/>
          <a:stretch/>
        </p:blipFill>
        <p:spPr>
          <a:xfrm>
            <a:off x="4572000" y="900000"/>
            <a:ext cx="2418120" cy="2117880"/>
          </a:xfrm>
          <a:prstGeom prst="rect">
            <a:avLst/>
          </a:prstGeom>
          <a:noFill/>
          <a:ln w="0">
            <a:noFill/>
          </a:ln>
        </p:spPr>
      </p:pic>
      <p:pic>
        <p:nvPicPr>
          <p:cNvPr id="586" name=""/>
          <p:cNvPicPr/>
          <p:nvPr/>
        </p:nvPicPr>
        <p:blipFill>
          <a:blip r:embed="rId6"/>
          <a:stretch/>
        </p:blipFill>
        <p:spPr>
          <a:xfrm>
            <a:off x="3987720" y="3356640"/>
            <a:ext cx="4184280" cy="215136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E"/>
        </a:solidFill>
      </p:bgPr>
    </p:bg>
    <p:spTree>
      <p:nvGrpSpPr>
        <p:cNvPr id="1" name=""/>
        <p:cNvGrpSpPr/>
        <p:nvPr/>
      </p:nvGrpSpPr>
      <p:grpSpPr>
        <a:xfrm>
          <a:off x="0" y="0"/>
          <a:ext cx="0" cy="0"/>
          <a:chOff x="0" y="0"/>
          <a:chExt cx="0" cy="0"/>
        </a:xfrm>
      </p:grpSpPr>
      <p:sp>
        <p:nvSpPr>
          <p:cNvPr id="587" name="topbar"/>
          <p:cNvSpPr/>
          <p:nvPr/>
        </p:nvSpPr>
        <p:spPr>
          <a:xfrm>
            <a:off x="0" y="0"/>
            <a:ext cx="12191760" cy="685440"/>
          </a:xfrm>
          <a:prstGeom prst="rect">
            <a:avLst/>
          </a:prstGeom>
          <a:solidFill>
            <a:srgbClr val="1E2D4A"/>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88" name="accent"/>
          <p:cNvSpPr/>
          <p:nvPr/>
        </p:nvSpPr>
        <p:spPr>
          <a:xfrm>
            <a:off x="0" y="0"/>
            <a:ext cx="54360" cy="685440"/>
          </a:xfrm>
          <a:prstGeom prst="rect">
            <a:avLst/>
          </a:prstGeom>
          <a:solidFill>
            <a:srgbClr val="2563EB"/>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589" name="title"/>
          <p:cNvSpPr/>
          <p:nvPr/>
        </p:nvSpPr>
        <p:spPr>
          <a:xfrm>
            <a:off x="228600" y="114480"/>
            <a:ext cx="10285920" cy="456840"/>
          </a:xfrm>
          <a:prstGeom prst="rect">
            <a:avLst/>
          </a:prstGeom>
          <a:noFill/>
          <a:ln w="0">
            <a:noFill/>
          </a:ln>
        </p:spPr>
        <p:style>
          <a:lnRef idx="0"/>
          <a:fillRef idx="0"/>
          <a:effectRef idx="0"/>
          <a:fontRef idx="minor"/>
        </p:style>
        <p:txBody>
          <a:bodyPr lIns="0" tIns="0" rIns="0" bIns="0" anchor="ctr">
            <a:noAutofit/>
          </a:bodyPr>
          <a:p>
            <a:pPr>
              <a:lnSpc>
                <a:spcPct val="100000"/>
              </a:lnSpc>
            </a:pPr>
            <a:r>
              <a:rPr lang="en-US" sz="2000" b="1" u="none" strike="noStrike">
                <a:solidFill>
                  <a:srgbClr val="FFFFFF"/>
                </a:solidFill>
                <a:effectLst/>
                <a:uFillTx/>
                <a:latin typeface="Calibri Bold"/>
              </a:rPr>
              <a:t>System Log  ·  API Reference</a:t>
            </a:r>
            <a:endParaRPr lang="en-GB" sz="2000" b="0" u="none" strike="noStrike">
              <a:solidFill>
                <a:srgbClr val="FFFFFF"/>
              </a:solidFill>
              <a:effectLst/>
              <a:uFillTx/>
              <a:latin typeface="Arial"/>
            </a:endParaRPr>
          </a:p>
        </p:txBody>
      </p:sp>
      <p:sp>
        <p:nvSpPr>
          <p:cNvPr id="590" name="caption"/>
          <p:cNvSpPr/>
          <p:nvPr/>
        </p:nvSpPr>
        <p:spPr>
          <a:xfrm>
            <a:off x="343080" y="5715000"/>
            <a:ext cx="11505960" cy="456840"/>
          </a:xfrm>
          <a:prstGeom prst="rect">
            <a:avLst/>
          </a:prstGeom>
          <a:solidFill>
            <a:srgbClr val="1E2D4A"/>
          </a:solidFill>
          <a:ln w="0">
            <a:noFill/>
          </a:ln>
        </p:spPr>
        <p:style>
          <a:lnRef idx="0"/>
          <a:fillRef idx="0"/>
          <a:effectRef idx="0"/>
          <a:fontRef idx="minor"/>
        </p:style>
        <p:txBody>
          <a:bodyPr anchor="ctr">
            <a:noAutofit/>
          </a:bodyPr>
          <a:p>
            <a:pPr>
              <a:lnSpc>
                <a:spcPct val="100000"/>
              </a:lnSpc>
            </a:pPr>
            <a:r>
              <a:rPr lang="en-US" sz="1000" b="0" u="none" strike="noStrike">
                <a:solidFill>
                  <a:srgbClr val="94A3B8"/>
                </a:solidFill>
                <a:effectLst/>
                <a:uFillTx/>
                <a:latin typeface="Calibri"/>
              </a:rPr>
              <a:t>Expandable system log with export · full REST API endpoint reference card</a:t>
            </a:r>
            <a:endParaRPr lang="en-GB" sz="1000" b="0" u="none" strike="noStrike">
              <a:solidFill>
                <a:srgbClr val="FFFFFF"/>
              </a:solidFill>
              <a:effectLst/>
              <a:uFillTx/>
              <a:latin typeface="Arial"/>
            </a:endParaRPr>
          </a:p>
        </p:txBody>
      </p:sp>
      <p:sp>
        <p:nvSpPr>
          <p:cNvPr id="591" name="appendix_tag"/>
          <p:cNvSpPr/>
          <p:nvPr/>
        </p:nvSpPr>
        <p:spPr>
          <a:xfrm>
            <a:off x="10629000" y="171360"/>
            <a:ext cx="1371240" cy="342720"/>
          </a:xfrm>
          <a:prstGeom prst="rect">
            <a:avLst/>
          </a:prstGeom>
          <a:solidFill>
            <a:srgbClr val="2563EB"/>
          </a:solidFill>
          <a:ln w="0">
            <a:noFill/>
          </a:ln>
        </p:spPr>
        <p:style>
          <a:lnRef idx="0"/>
          <a:fillRef idx="0"/>
          <a:effectRef idx="0"/>
          <a:fontRef idx="minor"/>
        </p:style>
        <p:txBody>
          <a:bodyPr lIns="45720" tIns="0" rIns="45720" bIns="0" anchor="ctr">
            <a:noAutofit/>
          </a:bodyPr>
          <a:p>
            <a:pPr algn="ctr">
              <a:lnSpc>
                <a:spcPct val="100000"/>
              </a:lnSpc>
            </a:pPr>
            <a:r>
              <a:rPr lang="en-US" sz="900" b="1" u="none" spc="201" strike="noStrike">
                <a:solidFill>
                  <a:srgbClr val="FFFFFF"/>
                </a:solidFill>
                <a:effectLst/>
                <a:uFillTx/>
                <a:latin typeface="Calibri"/>
              </a:rPr>
              <a:t>APPENDIX</a:t>
            </a:r>
            <a:endParaRPr lang="en-GB" sz="900" b="0" u="none" strike="noStrike">
              <a:solidFill>
                <a:srgbClr val="FFFFFF"/>
              </a:solidFill>
              <a:effectLst/>
              <a:uFillTx/>
              <a:latin typeface="Arial"/>
            </a:endParaRPr>
          </a:p>
        </p:txBody>
      </p:sp>
      <p:pic>
        <p:nvPicPr>
          <p:cNvPr id="592" name=""/>
          <p:cNvPicPr/>
          <p:nvPr/>
        </p:nvPicPr>
        <p:blipFill>
          <a:blip r:embed="rId1"/>
          <a:stretch/>
        </p:blipFill>
        <p:spPr>
          <a:xfrm>
            <a:off x="8280000" y="1060920"/>
            <a:ext cx="1414440" cy="4519080"/>
          </a:xfrm>
          <a:prstGeom prst="rect">
            <a:avLst/>
          </a:prstGeom>
          <a:noFill/>
          <a:ln w="0">
            <a:noFill/>
          </a:ln>
        </p:spPr>
      </p:pic>
      <p:pic>
        <p:nvPicPr>
          <p:cNvPr id="593" name=""/>
          <p:cNvPicPr/>
          <p:nvPr/>
        </p:nvPicPr>
        <p:blipFill>
          <a:blip r:embed="rId2"/>
          <a:stretch/>
        </p:blipFill>
        <p:spPr>
          <a:xfrm>
            <a:off x="900000" y="2027160"/>
            <a:ext cx="7190640" cy="229284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61A3C"/>
        </a:solidFill>
      </p:bgPr>
    </p:bg>
    <p:spTree>
      <p:nvGrpSpPr>
        <p:cNvPr id="1" name=""/>
        <p:cNvGrpSpPr/>
        <p:nvPr/>
      </p:nvGrpSpPr>
      <p:grpSpPr>
        <a:xfrm>
          <a:off x="0" y="0"/>
          <a:ext cx="0" cy="0"/>
          <a:chOff x="0" y="0"/>
          <a:chExt cx="0" cy="0"/>
        </a:xfrm>
      </p:grpSpPr>
      <p:sp>
        <p:nvSpPr>
          <p:cNvPr id="2" name="title"/>
          <p:cNvSpPr>
            <a:spLocks noGrp="1"/>
          </p:cNvSpPr>
          <p:nvPr/>
        </p:nvSpPr>
        <p:spPr>
          <a:xfrm>
            <a:off x="457200" y="274638"/>
            <a:ext cx="8800000" cy="685800"/>
          </a:xfrm>
          <a:prstGeom prst="rect">
            <a:avLst/>
          </a:prstGeom>
          <a:noFill/>
        </p:spPr>
        <p:txBody>
          <a:bodyPr wrap="square" lIns="0" rIns="0" tIns="0" bIns="0"/>
          <a:lstStyle/>
          <a:p>
            <a:r>
              <a:rPr lang="en-US" sz="3600" b="1" dirty="0">
                <a:solidFill>
                  <a:srgbClr val="FFFFFF"/>
                </a:solidFill>
                <a:latin typeface="Calibri Bold"/>
              </a:rPr>
              <a:t>What's New in v1.1</a:t>
            </a:r>
          </a:p>
        </p:txBody>
      </p:sp>
      <p:sp>
        <p:nvSpPr>
          <p:cNvPr id="3" name="badge"/>
          <p:cNvSpPr>
            <a:spLocks noGrp="1"/>
          </p:cNvSpPr>
          <p:nvPr/>
        </p:nvSpPr>
        <p:spPr>
          <a:xfrm>
            <a:off x="9601200" y="228600"/>
            <a:ext cx="2743200" cy="342900"/>
          </a:xfrm>
          <a:prstGeom prst="rect">
            <a:avLst/>
          </a:prstGeom>
          <a:solidFill>
            <a:srgbClr val="2563EB"/>
          </a:solidFill>
          <a:ln>
            <a:noFill/>
          </a:ln>
        </p:spPr>
        <p:txBody>
          <a:bodyPr wrap="square" lIns="91440" rIns="91440" tIns="45720" bIns="45720" anchor="ctr"/>
          <a:lstStyle/>
          <a:p>
            <a:pPr algn="ctr"/>
            <a:r>
              <a:rPr lang="en-US" sz="1000" b="1" dirty="0">
                <a:solidFill>
                  <a:srgbClr val="FFFFFF"/>
                </a:solidFill>
                <a:latin typeface="Calibri"/>
              </a:rPr>
              <a:t>v1.0 to v1.1  |  15 new features</a:t>
            </a:r>
          </a:p>
        </p:txBody>
      </p:sp>
      <p:sp>
        <p:nvSpPr>
          <p:cNvPr id="4" name="div"/>
          <p:cNvSpPr>
            <a:spLocks noGrp="1"/>
          </p:cNvSpPr>
          <p:nvPr/>
        </p:nvSpPr>
        <p:spPr>
          <a:xfrm>
            <a:off x="457200" y="1028700"/>
            <a:ext cx="11887200" cy="38100"/>
          </a:xfrm>
          <a:prstGeom prst="rect">
            <a:avLst/>
          </a:prstGeom>
          <a:solidFill>
            <a:srgbClr val="2563EB"/>
          </a:solidFill>
          <a:ln>
            <a:noFill/>
          </a:ln>
        </p:spPr>
        <p:txBody>
          <a:bodyPr/>
          <a:lstStyle/>
          <a:p/>
        </p:txBody>
      </p:sp>
      <p:sp>
        <p:nvSpPr>
          <p:cNvPr id="5" name="h1"/>
          <p:cNvSpPr>
            <a:spLocks noGrp="1"/>
          </p:cNvSpPr>
          <p:nvPr/>
        </p:nvSpPr>
        <p:spPr>
          <a:xfrm>
            <a:off x="457200" y="1143000"/>
            <a:ext cx="3657600" cy="342900"/>
          </a:xfrm>
          <a:prstGeom prst="rect">
            <a:avLst/>
          </a:prstGeom>
          <a:noFill/>
        </p:spPr>
        <p:txBody>
          <a:bodyPr wrap="square" lIns="0" rIns="0" tIns="0" bIns="0"/>
          <a:lstStyle/>
          <a:p>
            <a:r>
              <a:rPr lang="en-US" sz="1400" b="1" dirty="0">
                <a:solidFill>
                  <a:srgbClr val="00D4FF"/>
                </a:solidFill>
                <a:latin typeface="Calibri"/>
              </a:rPr>
              <a:t>Audio &amp; Media</a:t>
            </a:r>
          </a:p>
        </p:txBody>
      </p:sp>
      <p:sp>
        <p:nvSpPr>
          <p:cNvPr id="6" name="b1"/>
          <p:cNvSpPr>
            <a:spLocks noGrp="1"/>
          </p:cNvSpPr>
          <p:nvPr/>
        </p:nvSpPr>
        <p:spPr>
          <a:xfrm>
            <a:off x="457200" y="1524000"/>
            <a:ext cx="3657600" cy="3900000"/>
          </a:xfrm>
          <a:prstGeom prst="rect">
            <a:avLst/>
          </a:prstGeom>
          <a:noFill/>
        </p:spPr>
        <p:txBody>
          <a:bodyPr wrap="square" lIns="0" rIns="0" tIns="0" bIns="0"/>
          <a:lstStyle/>
          <a:p>
            <a:r>
              <a:rPr lang="en-US" sz="1200" b="1" dirty="0">
                <a:solidFill>
                  <a:srgbClr val="F0F4FF"/>
                </a:solidFill>
                <a:latin typeface="Calibri"/>
              </a:rPr>
              <a:t>Live audio relay to browser</a:t>
            </a:r>
          </a:p>
          <a:p>
            <a:r>
              <a:rPr lang="en-US" sz="1000" dirty="0">
                <a:solidFill>
                  <a:srgbClr val="94A3B8"/>
                </a:solidFill>
                <a:latin typeface="Calibri"/>
              </a:rPr>
              <a:t>ws://host:3000/audio + Web Audio API</a:t>
            </a:r>
          </a:p>
          <a:p>
            <a:r>
              <a:rPr lang="en-US" sz="200" dirty="0">
                <a:solidFill>
                  <a:srgbClr val="061A3C"/>
                </a:solidFill>
              </a:rPr>
              <a:t xml:space="preserve"> </a:t>
            </a:r>
          </a:p>
          <a:p>
            <a:r>
              <a:rPr lang="en-US" sz="1200" b="1" dirty="0">
                <a:solidFill>
                  <a:srgbClr val="F0F4FF"/>
                </a:solidFill>
                <a:latin typeface="Calibri"/>
              </a:rPr>
              <a:t>On-demand call recording</a:t>
            </a:r>
          </a:p>
          <a:p>
            <a:r>
              <a:rPr lang="en-US" sz="1000" dirty="0">
                <a:solidFill>
                  <a:srgbClr val="94A3B8"/>
                </a:solidFill>
                <a:latin typeface="Calibri"/>
              </a:rPr>
              <a:t>POST /api/record/start|stop</a:t>
            </a:r>
          </a:p>
          <a:p>
            <a:r>
              <a:rPr lang="en-US" sz="200" dirty="0">
                <a:solidFill>
                  <a:srgbClr val="061A3C"/>
                </a:solidFill>
              </a:rPr>
              <a:t xml:space="preserve"> </a:t>
            </a:r>
          </a:p>
          <a:p>
            <a:r>
              <a:rPr lang="en-US" sz="1200" b="1" dirty="0">
                <a:solidFill>
                  <a:srgbClr val="F0F4FF"/>
                </a:solidFill>
                <a:latin typeface="Calibri"/>
              </a:rPr>
              <a:t>Live RTP stats panel</a:t>
            </a:r>
          </a:p>
          <a:p>
            <a:r>
              <a:rPr lang="en-US" sz="1000" dirty="0">
                <a:solidFill>
                  <a:srgbClr val="94A3B8"/>
                </a:solidFill>
                <a:latin typeface="Calibri"/>
              </a:rPr>
              <a:t>Codec, jitter, loss%, RX/TX kbps</a:t>
            </a:r>
          </a:p>
          <a:p>
            <a:r>
              <a:rPr lang="en-US" sz="200" dirty="0">
                <a:solidFill>
                  <a:srgbClr val="061A3C"/>
                </a:solidFill>
              </a:rPr>
              <a:t xml:space="preserve"> </a:t>
            </a:r>
          </a:p>
          <a:p>
            <a:r>
              <a:rPr lang="en-US" sz="1200" b="1" dirty="0">
                <a:solidFill>
                  <a:srgbClr val="F0F4FF"/>
                </a:solidFill>
                <a:latin typeface="Calibri"/>
              </a:rPr>
              <a:t>Browser notifications + ringtone</a:t>
            </a:r>
          </a:p>
          <a:p>
            <a:r>
              <a:rPr lang="en-US" sz="1000" dirty="0">
                <a:solidFill>
                  <a:srgbClr val="94A3B8"/>
                </a:solidFill>
                <a:latin typeface="Calibri"/>
              </a:rPr>
              <a:t>On incoming call when tab unfocused</a:t>
            </a:r>
          </a:p>
        </p:txBody>
      </p:sp>
      <p:sp>
        <p:nvSpPr>
          <p:cNvPr id="7" name="h2"/>
          <p:cNvSpPr>
            <a:spLocks noGrp="1"/>
          </p:cNvSpPr>
          <p:nvPr/>
        </p:nvSpPr>
        <p:spPr>
          <a:xfrm>
            <a:off x="4343400" y="1143000"/>
            <a:ext cx="3657600" cy="342900"/>
          </a:xfrm>
          <a:prstGeom prst="rect">
            <a:avLst/>
          </a:prstGeom>
          <a:noFill/>
        </p:spPr>
        <p:txBody>
          <a:bodyPr wrap="square" lIns="0" rIns="0" tIns="0" bIns="0"/>
          <a:lstStyle/>
          <a:p>
            <a:r>
              <a:rPr lang="en-US" sz="1400" b="1" dirty="0">
                <a:solidFill>
                  <a:srgbClr val="00D4FF"/>
                </a:solidFill>
                <a:latin typeface="Calibri"/>
              </a:rPr>
              <a:t>Call Handling</a:t>
            </a:r>
          </a:p>
        </p:txBody>
      </p:sp>
      <p:sp>
        <p:nvSpPr>
          <p:cNvPr id="8" name="b2"/>
          <p:cNvSpPr>
            <a:spLocks noGrp="1"/>
          </p:cNvSpPr>
          <p:nvPr/>
        </p:nvSpPr>
        <p:spPr>
          <a:xfrm>
            <a:off x="4343400" y="1524000"/>
            <a:ext cx="3657600" cy="3900000"/>
          </a:xfrm>
          <a:prstGeom prst="rect">
            <a:avLst/>
          </a:prstGeom>
          <a:noFill/>
        </p:spPr>
        <p:txBody>
          <a:bodyPr wrap="square" lIns="0" rIns="0" tIns="0" bIns="0"/>
          <a:lstStyle/>
          <a:p>
            <a:r>
              <a:rPr lang="en-US" sz="1200" b="1" dirty="0">
                <a:solidFill>
                  <a:srgbClr val="F0F4FF"/>
                </a:solidFill>
                <a:latin typeface="Calibri"/>
              </a:rPr>
              <a:t>Missed call detection</a:t>
            </a:r>
          </a:p>
          <a:p>
            <a:r>
              <a:rPr lang="en-US" sz="1000" dirty="0">
                <a:solidFill>
                  <a:srgbClr val="94A3B8"/>
                </a:solidFill>
                <a:latin typeface="Calibri"/>
              </a:rPr>
              <a:t>History: missed / cancelled status</a:t>
            </a:r>
          </a:p>
          <a:p>
            <a:r>
              <a:rPr lang="en-US" sz="200" dirty="0">
                <a:solidFill>
                  <a:srgbClr val="061A3C"/>
                </a:solidFill>
              </a:rPr>
              <a:t xml:space="preserve"> </a:t>
            </a:r>
          </a:p>
          <a:p>
            <a:r>
              <a:rPr lang="en-US" sz="1200" b="1" dirty="0">
                <a:solidFill>
                  <a:srgbClr val="F0F4FF"/>
                </a:solidFill>
                <a:latin typeface="Calibri"/>
              </a:rPr>
              <a:t>CANCEL support</a:t>
            </a:r>
          </a:p>
          <a:p>
            <a:r>
              <a:rPr lang="en-US" sz="1000" dirty="0">
                <a:solidFill>
                  <a:srgbClr val="94A3B8"/>
                </a:solidFill>
                <a:latin typeface="Calibri"/>
              </a:rPr>
              <a:t>Pre-answer hangup sends CANCEL</a:t>
            </a:r>
          </a:p>
          <a:p>
            <a:r>
              <a:rPr lang="en-US" sz="200" dirty="0">
                <a:solidFill>
                  <a:srgbClr val="061A3C"/>
                </a:solidFill>
              </a:rPr>
              <a:t xml:space="preserve"> </a:t>
            </a:r>
          </a:p>
          <a:p>
            <a:r>
              <a:rPr lang="en-US" sz="1200" b="1" dirty="0">
                <a:solidFill>
                  <a:srgbClr val="F0F4FF"/>
                </a:solidFill>
                <a:latin typeface="Calibri"/>
              </a:rPr>
              <a:t>Remote hold detection</a:t>
            </a:r>
          </a:p>
          <a:p>
            <a:r>
              <a:rPr lang="en-US" sz="1000" dirty="0">
                <a:solidFill>
                  <a:srgbClr val="94A3B8"/>
                </a:solidFill>
                <a:latin typeface="Calibri"/>
              </a:rPr>
              <a:t>a=sendonly re-INVITE shown in UI</a:t>
            </a:r>
          </a:p>
          <a:p>
            <a:r>
              <a:rPr lang="en-US" sz="200" dirty="0">
                <a:solidFill>
                  <a:srgbClr val="061A3C"/>
                </a:solidFill>
              </a:rPr>
              <a:t xml:space="preserve"> </a:t>
            </a:r>
          </a:p>
          <a:p>
            <a:r>
              <a:rPr lang="en-US" sz="1200" b="1" dirty="0">
                <a:solidFill>
                  <a:srgbClr val="F0F4FF"/>
                </a:solidFill>
                <a:latin typeface="Calibri"/>
              </a:rPr>
              <a:t>Full SIP capture in pcap</a:t>
            </a:r>
          </a:p>
          <a:p>
            <a:r>
              <a:rPr lang="en-US" sz="1000" dirty="0">
                <a:solidFill>
                  <a:srgbClr val="94A3B8"/>
                </a:solidFill>
                <a:latin typeface="Calibri"/>
              </a:rPr>
              <a:t>INVITE/100/180/200/ACK/BYE</a:t>
            </a:r>
          </a:p>
        </p:txBody>
      </p:sp>
      <p:sp>
        <p:nvSpPr>
          <p:cNvPr id="9" name="h3"/>
          <p:cNvSpPr>
            <a:spLocks noGrp="1"/>
          </p:cNvSpPr>
          <p:nvPr/>
        </p:nvSpPr>
        <p:spPr>
          <a:xfrm>
            <a:off x="8229600" y="1143000"/>
            <a:ext cx="4114800" cy="342900"/>
          </a:xfrm>
          <a:prstGeom prst="rect">
            <a:avLst/>
          </a:prstGeom>
          <a:noFill/>
        </p:spPr>
        <p:txBody>
          <a:bodyPr wrap="square" lIns="0" rIns="0" tIns="0" bIns="0"/>
          <a:lstStyle/>
          <a:p>
            <a:r>
              <a:rPr lang="en-US" sz="1400" b="1" dirty="0">
                <a:solidFill>
                  <a:srgbClr val="00D4FF"/>
                </a:solidFill>
                <a:latin typeface="Calibri"/>
              </a:rPr>
              <a:t>UI &amp; Reliability</a:t>
            </a:r>
          </a:p>
        </p:txBody>
      </p:sp>
      <p:sp>
        <p:nvSpPr>
          <p:cNvPr id="10" name="b3"/>
          <p:cNvSpPr>
            <a:spLocks noGrp="1"/>
          </p:cNvSpPr>
          <p:nvPr/>
        </p:nvSpPr>
        <p:spPr>
          <a:xfrm>
            <a:off x="8229600" y="1524000"/>
            <a:ext cx="4114800" cy="3900000"/>
          </a:xfrm>
          <a:prstGeom prst="rect">
            <a:avLst/>
          </a:prstGeom>
          <a:noFill/>
        </p:spPr>
        <p:txBody>
          <a:bodyPr wrap="square" lIns="0" rIns="0" tIns="0" bIns="0"/>
          <a:lstStyle/>
          <a:p>
            <a:r>
              <a:rPr lang="en-US" sz="1200" b="1" dirty="0">
                <a:solidFill>
                  <a:srgbClr val="F0F4FF"/>
                </a:solidFill>
                <a:latin typeface="Calibri"/>
              </a:rPr>
              <a:t>Dark / light mode</a:t>
            </a:r>
          </a:p>
          <a:p>
            <a:r>
              <a:rPr lang="en-US" sz="1000" dirty="0">
                <a:solidFill>
                  <a:srgbClr val="94A3B8"/>
                </a:solidFill>
                <a:latin typeface="Calibri"/>
              </a:rPr>
              <a:t>Toggle persisted to localStorage</a:t>
            </a:r>
          </a:p>
          <a:p>
            <a:r>
              <a:rPr lang="en-US" sz="200" dirty="0">
                <a:solidFill>
                  <a:srgbClr val="061A3C"/>
                </a:solidFill>
              </a:rPr>
              <a:t xml:space="preserve"> </a:t>
            </a:r>
          </a:p>
          <a:p>
            <a:r>
              <a:rPr lang="en-US" sz="1200" b="1" dirty="0">
                <a:solidFill>
                  <a:srgbClr val="F0F4FF"/>
                </a:solidFill>
                <a:latin typeface="Calibri"/>
              </a:rPr>
              <a:t>Mobile responsive layout</a:t>
            </a:r>
          </a:p>
          <a:p>
            <a:r>
              <a:rPr lang="en-US" sz="1000" dirty="0">
                <a:solidFill>
                  <a:srgbClr val="94A3B8"/>
                </a:solidFill>
                <a:latin typeface="Calibri"/>
              </a:rPr>
              <a:t>Breakpoints at 1100px and 768px</a:t>
            </a:r>
          </a:p>
          <a:p>
            <a:r>
              <a:rPr lang="en-US" sz="200" dirty="0">
                <a:solidFill>
                  <a:srgbClr val="061A3C"/>
                </a:solidFill>
              </a:rPr>
              <a:t xml:space="preserve"> </a:t>
            </a:r>
          </a:p>
          <a:p>
            <a:r>
              <a:rPr lang="en-US" sz="1200" b="1" dirty="0">
                <a:solidFill>
                  <a:srgbClr val="F0F4FF"/>
                </a:solidFill>
                <a:latin typeface="Calibri"/>
              </a:rPr>
              <a:t>OPTIONS keepalive</a:t>
            </a:r>
          </a:p>
          <a:p>
            <a:r>
              <a:rPr lang="en-US" sz="1000" dirty="0">
                <a:solidFill>
                  <a:srgbClr val="94A3B8"/>
                </a:solidFill>
                <a:latin typeface="Calibri"/>
              </a:rPr>
              <a:t>30s ping, auto re-register on fail</a:t>
            </a:r>
          </a:p>
          <a:p>
            <a:r>
              <a:rPr lang="en-US" sz="200" dirty="0">
                <a:solidFill>
                  <a:srgbClr val="061A3C"/>
                </a:solidFill>
              </a:rPr>
              <a:t xml:space="preserve"> </a:t>
            </a:r>
          </a:p>
          <a:p>
            <a:r>
              <a:rPr lang="en-US" sz="1200" b="1" dirty="0">
                <a:solidFill>
                  <a:srgbClr val="F0F4FF"/>
                </a:solidFill>
                <a:latin typeface="Calibri"/>
              </a:rPr>
              <a:t>Graceful WS reconnection</a:t>
            </a:r>
          </a:p>
          <a:p>
            <a:r>
              <a:rPr lang="en-US" sz="1000" dirty="0">
                <a:solidFill>
                  <a:srgbClr val="94A3B8"/>
                </a:solidFill>
                <a:latin typeface="Calibri"/>
              </a:rPr>
              <a:t>Call cleanup + auto-reconnect</a:t>
            </a:r>
          </a:p>
        </p:txBody>
      </p:sp>
    </p:spTree>
  </p:cSld>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15</TotalTime>
  <Application>LibreOffice/26.2.2.2$Linux_X86_64 LibreOffice_project/620$Build-2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en-GB</dc:language>
  <cp:lastModifiedBy/>
  <dcterms:modified xsi:type="dcterms:W3CDTF">2026-05-13T19:13:11Z</dcterms:modified>
  <cp:revision>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