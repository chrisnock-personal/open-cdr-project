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62EDD94-8C15-41CB-B3B3-D9ABFB473D31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AB8C57-7AFC-4B12-B42B-6A424D78EC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8EE683-C203-468A-8ED7-06BEACBD3C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3FBB25-7A8B-4831-A35E-005CF3ADC7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3EB424-5F51-4553-A19D-D6CEC4DF50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1F90C6-318B-40B9-BC1D-5B522CF692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3D73A9-919F-4A0B-803F-E88E83A3EA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504338-16A7-429C-B426-9D564C985E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67A3E9-691B-456A-AC3D-6892BBB47B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839040" cy="514224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731520" y="-731520"/>
            <a:ext cx="2558880" cy="2558880"/>
          </a:xfrm>
          <a:prstGeom prst="ellipse">
            <a:avLst/>
          </a:prstGeom>
          <a:solidFill>
            <a:srgbClr val="2E7FD4">
              <a:alpha val="35000"/>
            </a:srgbClr>
          </a:solidFill>
          <a:ln w="12700">
            <a:solidFill>
              <a:srgbClr val="2E7FD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2560320" y="4023360"/>
            <a:ext cx="1278720" cy="1278720"/>
          </a:xfrm>
          <a:prstGeom prst="ellipse">
            <a:avLst/>
          </a:prstGeom>
          <a:solidFill>
            <a:srgbClr val="5BA4E5">
              <a:alpha val="25000"/>
            </a:srgbClr>
          </a:solidFill>
          <a:ln w="12700">
            <a:solidFill>
              <a:srgbClr val="5BA4E5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-180000" y="2607120"/>
            <a:ext cx="413892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 Open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CDR</a:t>
            </a:r>
            <a:endParaRPr lang="en-GB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Standard</a:t>
            </a:r>
            <a:endParaRPr lang="en-GB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74320" y="3657600"/>
            <a:ext cx="32904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An open, vendor-neutral schema for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Call Detail Records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206240" y="1005840"/>
            <a:ext cx="4662000" cy="18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Call Detail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Records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Everyone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206240" y="2926080"/>
            <a:ext cx="46620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Building an open, </a:t>
            </a:r>
            <a:r>
              <a:rPr lang="en-US" sz="14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interoperable standard for </a:t>
            </a:r>
            <a:r>
              <a:rPr lang="en-US" sz="14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CDR data —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freely available, </a:t>
            </a:r>
            <a:r>
              <a:rPr lang="en-US" sz="14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community-driven, vendor-</a:t>
            </a:r>
            <a:r>
              <a:rPr lang="en-US" sz="14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neutral.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4206240" y="2743200"/>
            <a:ext cx="1095840" cy="53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3840480" y="4709160"/>
            <a:ext cx="5302080" cy="433080"/>
          </a:xfrm>
          <a:prstGeom prst="rect">
            <a:avLst/>
          </a:prstGeom>
          <a:solidFill>
            <a:srgbClr val="2E7FD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931920" y="4736520"/>
            <a:ext cx="5119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Prototype v1.0  |  Open Licence  |  Community Contributions Welcome</a:t>
            </a:r>
            <a:endParaRPr lang="en-GB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11520" y="616680"/>
            <a:ext cx="1967400" cy="172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457200" y="0"/>
            <a:ext cx="8228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114300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CDR formats are proprietary. There is no shared open standard.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365760" y="1783080"/>
            <a:ext cx="2650320" cy="2924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365760" y="1783080"/>
            <a:ext cx="2650320" cy="6264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548640" y="192024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Shape 5"/>
          <p:cNvSpPr/>
          <p:nvPr/>
        </p:nvSpPr>
        <p:spPr>
          <a:xfrm>
            <a:off x="475560" y="1865520"/>
            <a:ext cx="528840" cy="52884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1" descr="preencoded.png"/>
          <p:cNvPicPr/>
          <p:nvPr/>
        </p:nvPicPr>
        <p:blipFill>
          <a:blip r:embed="rId2"/>
          <a:stretch/>
        </p:blipFill>
        <p:spPr>
          <a:xfrm>
            <a:off x="539640" y="192924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6"/>
          <p:cNvSpPr/>
          <p:nvPr/>
        </p:nvSpPr>
        <p:spPr>
          <a:xfrm>
            <a:off x="502920" y="2487240"/>
            <a:ext cx="23760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Vendor Lock-In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502920" y="2944440"/>
            <a:ext cx="237600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CDR formats differ across every platform. Moving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systems or integrating across vendors requires costly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bespoke development every time.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3200400" y="1783080"/>
            <a:ext cx="2650320" cy="2924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3200400" y="1783080"/>
            <a:ext cx="2650320" cy="6264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3383280" y="192024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10"/>
          <p:cNvSpPr/>
          <p:nvPr/>
        </p:nvSpPr>
        <p:spPr>
          <a:xfrm>
            <a:off x="3310200" y="1865520"/>
            <a:ext cx="528840" cy="52884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3" descr="preencoded.png"/>
          <p:cNvPicPr/>
          <p:nvPr/>
        </p:nvPicPr>
        <p:blipFill>
          <a:blip r:embed="rId4"/>
          <a:stretch/>
        </p:blipFill>
        <p:spPr>
          <a:xfrm>
            <a:off x="3374280" y="192924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1"/>
          <p:cNvSpPr/>
          <p:nvPr/>
        </p:nvSpPr>
        <p:spPr>
          <a:xfrm>
            <a:off x="3337560" y="2487240"/>
            <a:ext cx="23760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Specialist Tooling Required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3337560" y="2944440"/>
            <a:ext cx="237600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Accessing CDR data means buying expensive proprietary software or engaging specialist developers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— out of reach for most organisations.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6035040" y="1783080"/>
            <a:ext cx="2650320" cy="2924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6035040" y="1783080"/>
            <a:ext cx="2650320" cy="6264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4" descr="preencoded.png"/>
          <p:cNvPicPr/>
          <p:nvPr/>
        </p:nvPicPr>
        <p:blipFill>
          <a:blip r:embed="rId5"/>
          <a:stretch/>
        </p:blipFill>
        <p:spPr>
          <a:xfrm>
            <a:off x="6217920" y="1920240"/>
            <a:ext cx="382680" cy="38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15"/>
          <p:cNvSpPr/>
          <p:nvPr/>
        </p:nvSpPr>
        <p:spPr>
          <a:xfrm>
            <a:off x="6144840" y="1865520"/>
            <a:ext cx="528840" cy="52884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5" descr="preencoded.png"/>
          <p:cNvPicPr/>
          <p:nvPr/>
        </p:nvPicPr>
        <p:blipFill>
          <a:blip r:embed="rId6"/>
          <a:stretch/>
        </p:blipFill>
        <p:spPr>
          <a:xfrm>
            <a:off x="6208920" y="192924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6"/>
          <p:cNvSpPr/>
          <p:nvPr/>
        </p:nvSpPr>
        <p:spPr>
          <a:xfrm>
            <a:off x="6172200" y="2487240"/>
            <a:ext cx="23760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Small Business Left Behind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6172200" y="2944440"/>
            <a:ext cx="237600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Meaningful call observability, compliance, and audit capability is effectively inaccessible to small and medium-sized businesses.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7132320" y="-1097280"/>
            <a:ext cx="3656160" cy="3656160"/>
          </a:xfrm>
          <a:prstGeom prst="ellipse">
            <a:avLst/>
          </a:prstGeom>
          <a:solidFill>
            <a:srgbClr val="2E7FD4">
              <a:alpha val="18000"/>
            </a:srgbClr>
          </a:solidFill>
          <a:ln w="12700">
            <a:solidFill>
              <a:srgbClr val="2E7FD4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7772400" y="3200400"/>
            <a:ext cx="2010240" cy="2010240"/>
          </a:xfrm>
          <a:prstGeom prst="ellipse">
            <a:avLst/>
          </a:prstGeom>
          <a:solidFill>
            <a:srgbClr val="5BA4E5">
              <a:alpha val="15000"/>
            </a:srgbClr>
          </a:solidFill>
          <a:ln w="12700">
            <a:solidFill>
              <a:srgbClr val="5BA4E5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274320"/>
            <a:ext cx="77709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5BA4E5"/>
                </a:solidFill>
                <a:effectLst/>
                <a:uFillTx/>
                <a:latin typeface="Calibri"/>
                <a:ea typeface="Calibri"/>
              </a:rPr>
              <a:t>WHAT IS THE OPEN CDR STANDARD?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457200" y="685800"/>
            <a:ext cx="54849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common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language </a:t>
            </a: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call data.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457200" y="1965960"/>
            <a:ext cx="912960" cy="53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457200" y="2148840"/>
            <a:ext cx="56678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A free, open-licence schema defining how Call Detail Records should be structured and exposed — so any vendor, platform, or developer can produce and consume CDR data in a consistent way.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457200" y="3200400"/>
            <a:ext cx="2741760" cy="40104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548640" y="3273480"/>
            <a:ext cx="254520" cy="2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7"/>
          <p:cNvSpPr/>
          <p:nvPr/>
        </p:nvSpPr>
        <p:spPr>
          <a:xfrm>
            <a:off x="868680" y="3237120"/>
            <a:ext cx="2284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Vendor-neutral by design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3383280" y="3200400"/>
            <a:ext cx="2741760" cy="40104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2"/>
          <a:stretch/>
        </p:blipFill>
        <p:spPr>
          <a:xfrm>
            <a:off x="3474720" y="3273480"/>
            <a:ext cx="254520" cy="2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9"/>
          <p:cNvSpPr/>
          <p:nvPr/>
        </p:nvSpPr>
        <p:spPr>
          <a:xfrm>
            <a:off x="3794760" y="3237120"/>
            <a:ext cx="2284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Voice, video, chat &amp; email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457200" y="3712320"/>
            <a:ext cx="2741760" cy="40104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2" descr="preencoded.png"/>
          <p:cNvPicPr/>
          <p:nvPr/>
        </p:nvPicPr>
        <p:blipFill>
          <a:blip r:embed="rId3"/>
          <a:stretch/>
        </p:blipFill>
        <p:spPr>
          <a:xfrm>
            <a:off x="548640" y="3785760"/>
            <a:ext cx="254520" cy="2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11"/>
          <p:cNvSpPr/>
          <p:nvPr/>
        </p:nvSpPr>
        <p:spPr>
          <a:xfrm>
            <a:off x="868680" y="3749040"/>
            <a:ext cx="2284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Multi-party calls native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3383280" y="3712320"/>
            <a:ext cx="2741760" cy="40104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3" descr="preencoded.png"/>
          <p:cNvPicPr/>
          <p:nvPr/>
        </p:nvPicPr>
        <p:blipFill>
          <a:blip r:embed="rId4"/>
          <a:stretch/>
        </p:blipFill>
        <p:spPr>
          <a:xfrm>
            <a:off x="3474720" y="3785760"/>
            <a:ext cx="254520" cy="2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3"/>
          <p:cNvSpPr/>
          <p:nvPr/>
        </p:nvSpPr>
        <p:spPr>
          <a:xfrm>
            <a:off x="3794760" y="3749040"/>
            <a:ext cx="2284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Full event timeline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457200" y="4224600"/>
            <a:ext cx="2741760" cy="40104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4" descr="preencoded.png"/>
          <p:cNvPicPr/>
          <p:nvPr/>
        </p:nvPicPr>
        <p:blipFill>
          <a:blip r:embed="rId5"/>
          <a:stretch/>
        </p:blipFill>
        <p:spPr>
          <a:xfrm>
            <a:off x="548640" y="4297680"/>
            <a:ext cx="254520" cy="2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15"/>
          <p:cNvSpPr/>
          <p:nvPr/>
        </p:nvSpPr>
        <p:spPr>
          <a:xfrm>
            <a:off x="868680" y="4260960"/>
            <a:ext cx="2284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OpenAPI 3.1 machine-readable schema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3383280" y="4224600"/>
            <a:ext cx="2741760" cy="40104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5" descr="preencoded.png"/>
          <p:cNvPicPr/>
          <p:nvPr/>
        </p:nvPicPr>
        <p:blipFill>
          <a:blip r:embed="rId6"/>
          <a:stretch/>
        </p:blipFill>
        <p:spPr>
          <a:xfrm>
            <a:off x="3474720" y="4297680"/>
            <a:ext cx="254520" cy="2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7"/>
          <p:cNvSpPr/>
          <p:nvPr/>
        </p:nvSpPr>
        <p:spPr>
          <a:xfrm>
            <a:off x="3794760" y="4260960"/>
            <a:ext cx="2284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Apache 2.0 — free forever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6217920" y="1188720"/>
            <a:ext cx="2650320" cy="3564720"/>
          </a:xfrm>
          <a:prstGeom prst="rect">
            <a:avLst/>
          </a:prstGeom>
          <a:solidFill>
            <a:srgbClr val="0A162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6355080" y="1325880"/>
            <a:ext cx="2421720" cy="33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"callId"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950" b="0" u="none" strike="noStrike">
                <a:solidFill>
                  <a:srgbClr val="A5D6FF"/>
                </a:solidFill>
                <a:effectLst/>
                <a:uFillTx/>
                <a:latin typeface="Consolas"/>
                <a:ea typeface="Consolas"/>
              </a:rPr>
              <a:t>"cc2e4b91..."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,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"callState"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950" b="0" u="none" strike="noStrike">
                <a:solidFill>
                  <a:srgbClr val="7EE787"/>
                </a:solidFill>
                <a:effectLst/>
                <a:uFillTx/>
                <a:latin typeface="Consolas"/>
                <a:ea typeface="Consolas"/>
              </a:rPr>
              <a:t>"ended"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,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"mediaType"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950" b="0" u="none" strike="noStrike">
                <a:solidFill>
                  <a:srgbClr val="7EE787"/>
                </a:solidFill>
                <a:effectLst/>
                <a:uFillTx/>
                <a:latin typeface="Consolas"/>
                <a:ea typeface="Consolas"/>
              </a:rPr>
              <a:t>"voice"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,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"participants"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: [...],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"events"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: [...],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79C0FF"/>
                </a:solidFill>
                <a:effectLst/>
                <a:uFillTx/>
                <a:latin typeface="Consolas"/>
                <a:ea typeface="Consolas"/>
              </a:rPr>
              <a:t>  "qos"</a:t>
            </a: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: { ... }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457200" y="0"/>
            <a:ext cx="8228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SCHEMA HIGHLIGHTS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365760" y="1143000"/>
            <a:ext cx="4204800" cy="1095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365760" y="1143000"/>
            <a:ext cx="62640" cy="109584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530280" y="1426320"/>
            <a:ext cx="528840" cy="52884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594360" y="14904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5"/>
          <p:cNvSpPr/>
          <p:nvPr/>
        </p:nvSpPr>
        <p:spPr>
          <a:xfrm>
            <a:off x="1188720" y="123444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56 Fields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1188720" y="1600200"/>
            <a:ext cx="3244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Across 7 structured objects covering every aspect of an interaction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4800600" y="1143000"/>
            <a:ext cx="4204800" cy="1095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4800600" y="1143000"/>
            <a:ext cx="62640" cy="1095840"/>
          </a:xfrm>
          <a:prstGeom prst="rect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4965120" y="1426320"/>
            <a:ext cx="528840" cy="528840"/>
          </a:xfrm>
          <a:prstGeom prst="ellipse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1" descr="preencoded.png"/>
          <p:cNvPicPr/>
          <p:nvPr/>
        </p:nvPicPr>
        <p:blipFill>
          <a:blip r:embed="rId2"/>
          <a:stretch/>
        </p:blipFill>
        <p:spPr>
          <a:xfrm>
            <a:off x="5029200" y="14904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0"/>
          <p:cNvSpPr/>
          <p:nvPr/>
        </p:nvSpPr>
        <p:spPr>
          <a:xfrm>
            <a:off x="5623560" y="123444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Multi-Party Native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5623560" y="1600200"/>
            <a:ext cx="3244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Conferences, transfers, barge-in and silent monitoring as first-class concepts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365760" y="2395800"/>
            <a:ext cx="4204800" cy="1095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365760" y="2395800"/>
            <a:ext cx="62640" cy="109584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530280" y="2679120"/>
            <a:ext cx="528840" cy="52884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2" descr="preencoded.png"/>
          <p:cNvPicPr/>
          <p:nvPr/>
        </p:nvPicPr>
        <p:blipFill>
          <a:blip r:embed="rId3"/>
          <a:stretch/>
        </p:blipFill>
        <p:spPr>
          <a:xfrm>
            <a:off x="594360" y="27432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5"/>
          <p:cNvSpPr/>
          <p:nvPr/>
        </p:nvSpPr>
        <p:spPr>
          <a:xfrm>
            <a:off x="1188720" y="248724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Full Event Timeline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1188720" y="2853000"/>
            <a:ext cx="3244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Ordered events array: ringing, hold, IVR, queue, transfer, recording actions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7"/>
          <p:cNvSpPr/>
          <p:nvPr/>
        </p:nvSpPr>
        <p:spPr>
          <a:xfrm>
            <a:off x="4800600" y="2395800"/>
            <a:ext cx="4204800" cy="1095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4800600" y="2395800"/>
            <a:ext cx="62640" cy="1095840"/>
          </a:xfrm>
          <a:prstGeom prst="rect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4965120" y="2679120"/>
            <a:ext cx="528840" cy="528840"/>
          </a:xfrm>
          <a:prstGeom prst="ellipse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3" descr="preencoded.png"/>
          <p:cNvPicPr/>
          <p:nvPr/>
        </p:nvPicPr>
        <p:blipFill>
          <a:blip r:embed="rId4"/>
          <a:stretch/>
        </p:blipFill>
        <p:spPr>
          <a:xfrm>
            <a:off x="5029200" y="27432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20"/>
          <p:cNvSpPr/>
          <p:nvPr/>
        </p:nvSpPr>
        <p:spPr>
          <a:xfrm>
            <a:off x="5623560" y="248724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OpenAPI 3.1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5623560" y="2853000"/>
            <a:ext cx="3244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Machine-readable YAML schema with full request/response definitions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365760" y="3648600"/>
            <a:ext cx="4204800" cy="1095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365760" y="3648600"/>
            <a:ext cx="62640" cy="1095840"/>
          </a:xfrm>
          <a:prstGeom prst="rect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4"/>
          <p:cNvSpPr/>
          <p:nvPr/>
        </p:nvSpPr>
        <p:spPr>
          <a:xfrm>
            <a:off x="530280" y="3931920"/>
            <a:ext cx="528840" cy="52884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4" descr="preencoded.png"/>
          <p:cNvPicPr/>
          <p:nvPr/>
        </p:nvPicPr>
        <p:blipFill>
          <a:blip r:embed="rId5"/>
          <a:stretch/>
        </p:blipFill>
        <p:spPr>
          <a:xfrm>
            <a:off x="594360" y="39960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25"/>
          <p:cNvSpPr/>
          <p:nvPr/>
        </p:nvSpPr>
        <p:spPr>
          <a:xfrm>
            <a:off x="1188720" y="374004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Multi-Modal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6"/>
          <p:cNvSpPr/>
          <p:nvPr/>
        </p:nvSpPr>
        <p:spPr>
          <a:xfrm>
            <a:off x="1188720" y="4105800"/>
            <a:ext cx="3244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Voice, video, chat, instant message and email interactions all in scope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7"/>
          <p:cNvSpPr/>
          <p:nvPr/>
        </p:nvSpPr>
        <p:spPr>
          <a:xfrm>
            <a:off x="4800600" y="3648600"/>
            <a:ext cx="4204800" cy="1095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8"/>
          <p:cNvSpPr/>
          <p:nvPr/>
        </p:nvSpPr>
        <p:spPr>
          <a:xfrm>
            <a:off x="4800600" y="3648600"/>
            <a:ext cx="62640" cy="1095840"/>
          </a:xfrm>
          <a:prstGeom prst="rect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9"/>
          <p:cNvSpPr/>
          <p:nvPr/>
        </p:nvSpPr>
        <p:spPr>
          <a:xfrm>
            <a:off x="4965120" y="3931920"/>
            <a:ext cx="528840" cy="528840"/>
          </a:xfrm>
          <a:prstGeom prst="ellipse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5" descr="preencoded.png"/>
          <p:cNvPicPr/>
          <p:nvPr/>
        </p:nvPicPr>
        <p:blipFill>
          <a:blip r:embed="rId6"/>
          <a:stretch/>
        </p:blipFill>
        <p:spPr>
          <a:xfrm>
            <a:off x="5029200" y="3996000"/>
            <a:ext cx="401040" cy="4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30"/>
          <p:cNvSpPr/>
          <p:nvPr/>
        </p:nvSpPr>
        <p:spPr>
          <a:xfrm>
            <a:off x="5623560" y="374004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Extensible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1"/>
          <p:cNvSpPr/>
          <p:nvPr/>
        </p:nvSpPr>
        <p:spPr>
          <a:xfrm>
            <a:off x="5623560" y="4105800"/>
            <a:ext cx="3244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vendorSpecificFields allows platforms to add metadata without polluting the core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-914400" y="2286000"/>
            <a:ext cx="3198960" cy="319896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457200" y="274320"/>
            <a:ext cx="8228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5BA4E5"/>
                </a:solidFill>
                <a:effectLst/>
                <a:uFillTx/>
                <a:latin typeface="Calibri"/>
                <a:ea typeface="Calibri"/>
              </a:rPr>
              <a:t>WHO WE ARE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57200" y="685800"/>
            <a:ext cx="82281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Built by practitioners,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 the industry.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457200" y="1920240"/>
            <a:ext cx="912960" cy="53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411480" y="2167200"/>
            <a:ext cx="455760" cy="45576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0" descr="preencoded.png"/>
          <p:cNvPicPr/>
          <p:nvPr/>
        </p:nvPicPr>
        <p:blipFill>
          <a:blip r:embed="rId1"/>
          <a:stretch/>
        </p:blipFill>
        <p:spPr>
          <a:xfrm>
            <a:off x="475560" y="2231280"/>
            <a:ext cx="327600" cy="32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5"/>
          <p:cNvSpPr/>
          <p:nvPr/>
        </p:nvSpPr>
        <p:spPr>
          <a:xfrm>
            <a:off x="1005840" y="2103120"/>
            <a:ext cx="7679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Industry professional with hands-on experience across telephony, call recording, and call recording compliance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411480" y="2917080"/>
            <a:ext cx="455760" cy="45576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1" descr="preencoded.png"/>
          <p:cNvPicPr/>
          <p:nvPr/>
        </p:nvPicPr>
        <p:blipFill>
          <a:blip r:embed="rId2"/>
          <a:stretch/>
        </p:blipFill>
        <p:spPr>
          <a:xfrm>
            <a:off x="475560" y="2980800"/>
            <a:ext cx="327600" cy="32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7"/>
          <p:cNvSpPr/>
          <p:nvPr/>
        </p:nvSpPr>
        <p:spPr>
          <a:xfrm>
            <a:off x="1005840" y="2853000"/>
            <a:ext cx="7679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Worked across multiple platforms, vendors, and regulatory compliance frameworks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411480" y="3666600"/>
            <a:ext cx="455760" cy="45576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2" descr="preencoded.png"/>
          <p:cNvPicPr/>
          <p:nvPr/>
        </p:nvPicPr>
        <p:blipFill>
          <a:blip r:embed="rId3"/>
          <a:stretch/>
        </p:blipFill>
        <p:spPr>
          <a:xfrm>
            <a:off x="475560" y="3730680"/>
            <a:ext cx="327600" cy="32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9"/>
          <p:cNvSpPr/>
          <p:nvPr/>
        </p:nvSpPr>
        <p:spPr>
          <a:xfrm>
            <a:off x="1005840" y="3602880"/>
            <a:ext cx="7679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First-hand experience of the integration friction caused by the absence of a CDR standard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411480" y="4416480"/>
            <a:ext cx="455760" cy="455760"/>
          </a:xfrm>
          <a:prstGeom prst="ellipse">
            <a:avLst/>
          </a:prstGeom>
          <a:solidFill>
            <a:srgbClr val="1A5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3" descr="preencoded.png"/>
          <p:cNvPicPr/>
          <p:nvPr/>
        </p:nvPicPr>
        <p:blipFill>
          <a:blip r:embed="rId4"/>
          <a:stretch/>
        </p:blipFill>
        <p:spPr>
          <a:xfrm>
            <a:off x="475560" y="4480560"/>
            <a:ext cx="327600" cy="32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1"/>
          <p:cNvSpPr/>
          <p:nvPr/>
        </p:nvSpPr>
        <p:spPr>
          <a:xfrm>
            <a:off x="1005840" y="4352400"/>
            <a:ext cx="7679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This is not a commercial project — no product to sell, just a genuine problem worth solving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2560" cy="1004400"/>
          </a:xfrm>
          <a:prstGeom prst="rect">
            <a:avLst/>
          </a:prstGeom>
          <a:solidFill>
            <a:srgbClr val="0D1B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457200" y="0"/>
            <a:ext cx="82281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PROJECT ROADMAP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777240" y="2834640"/>
            <a:ext cx="7589520" cy="360"/>
          </a:xfrm>
          <a:prstGeom prst="line">
            <a:avLst/>
          </a:prstGeom>
          <a:ln w="254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1325880" y="2606040"/>
            <a:ext cx="455760" cy="45576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365760" y="1143000"/>
            <a:ext cx="2741760" cy="1324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365760" y="1143000"/>
            <a:ext cx="2741760" cy="6264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"/>
          <p:cNvSpPr/>
          <p:nvPr/>
        </p:nvSpPr>
        <p:spPr>
          <a:xfrm>
            <a:off x="475560" y="1234440"/>
            <a:ext cx="592920" cy="25452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457200" y="122544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NOW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475560" y="1508760"/>
            <a:ext cx="2513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Phase 1 — Prototype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365760" y="3200400"/>
            <a:ext cx="2741760" cy="169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502920" y="3273480"/>
            <a:ext cx="251316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CDR field schema defined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OpenAPI 3.1 published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Example call records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Open-licence release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4206240" y="2606040"/>
            <a:ext cx="455760" cy="4557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3246120" y="1143000"/>
            <a:ext cx="2741760" cy="1324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3246120" y="1143000"/>
            <a:ext cx="2741760" cy="626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3355920" y="1234440"/>
            <a:ext cx="592920" cy="2545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3337560" y="122544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3355920" y="1508760"/>
            <a:ext cx="2513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Phase 2 — Industry Sponsorship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3246120" y="3200400"/>
            <a:ext cx="2741760" cy="169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3383280" y="3273480"/>
            <a:ext cx="251316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Vendor engagement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Working group formation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Schema peer review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Formal endorsement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7086600" y="2606040"/>
            <a:ext cx="455760" cy="455760"/>
          </a:xfrm>
          <a:prstGeom prst="ellipse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0"/>
          <p:cNvSpPr/>
          <p:nvPr/>
        </p:nvSpPr>
        <p:spPr>
          <a:xfrm>
            <a:off x="6126480" y="1143000"/>
            <a:ext cx="2741760" cy="1324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1"/>
          <p:cNvSpPr/>
          <p:nvPr/>
        </p:nvSpPr>
        <p:spPr>
          <a:xfrm>
            <a:off x="6126480" y="1143000"/>
            <a:ext cx="2741760" cy="62640"/>
          </a:xfrm>
          <a:prstGeom prst="rect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2"/>
          <p:cNvSpPr/>
          <p:nvPr/>
        </p:nvSpPr>
        <p:spPr>
          <a:xfrm>
            <a:off x="6236280" y="1234440"/>
            <a:ext cx="592920" cy="254520"/>
          </a:xfrm>
          <a:prstGeom prst="rect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3"/>
          <p:cNvSpPr/>
          <p:nvPr/>
        </p:nvSpPr>
        <p:spPr>
          <a:xfrm>
            <a:off x="6217920" y="1225440"/>
            <a:ext cx="638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GOAL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4"/>
          <p:cNvSpPr/>
          <p:nvPr/>
        </p:nvSpPr>
        <p:spPr>
          <a:xfrm>
            <a:off x="6236280" y="1508760"/>
            <a:ext cx="2513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Phase 3 — Realised Standard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5"/>
          <p:cNvSpPr/>
          <p:nvPr/>
        </p:nvSpPr>
        <p:spPr>
          <a:xfrm>
            <a:off x="6126480" y="3200400"/>
            <a:ext cx="2741760" cy="169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6"/>
          <p:cNvSpPr/>
          <p:nvPr/>
        </p:nvSpPr>
        <p:spPr>
          <a:xfrm>
            <a:off x="6263640" y="3273480"/>
            <a:ext cx="251316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Stable v1.0 specification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Active contributor community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Native vendor adoption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Certification programme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6858000" y="-731520"/>
            <a:ext cx="3198960" cy="319896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7498080" y="3657600"/>
            <a:ext cx="1827360" cy="182736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457200" y="274320"/>
            <a:ext cx="8228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MONETISATION &amp; SUSTAINABILITY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457200" y="685800"/>
            <a:ext cx="68565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Open source standard.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Sustainable ecosystem.</a:t>
            </a:r>
            <a:endParaRPr lang="en-GB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457200" y="2103120"/>
            <a:ext cx="1095840" cy="53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457200" y="2286000"/>
            <a:ext cx="6399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While the schema itself remains free and open. The ecosystem around it could create sustainable revenue streams without compromising the standard's neutrality.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457200" y="3200400"/>
            <a:ext cx="2604600" cy="159876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457200" y="3200400"/>
            <a:ext cx="2604600" cy="626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8"/>
          <p:cNvSpPr/>
          <p:nvPr/>
        </p:nvSpPr>
        <p:spPr>
          <a:xfrm>
            <a:off x="621720" y="3337560"/>
            <a:ext cx="501480" cy="50148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0" descr="preencoded.png"/>
          <p:cNvPicPr/>
          <p:nvPr/>
        </p:nvPicPr>
        <p:blipFill>
          <a:blip r:embed="rId1"/>
          <a:stretch/>
        </p:blipFill>
        <p:spPr>
          <a:xfrm>
            <a:off x="685800" y="3401640"/>
            <a:ext cx="373320" cy="37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 9"/>
          <p:cNvSpPr/>
          <p:nvPr/>
        </p:nvSpPr>
        <p:spPr>
          <a:xfrm>
            <a:off x="1234440" y="3273480"/>
            <a:ext cx="1735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Vendor Certification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3246120" y="3200400"/>
            <a:ext cx="2604600" cy="159876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3246120" y="3200400"/>
            <a:ext cx="2604600" cy="62640"/>
          </a:xfrm>
          <a:prstGeom prst="rect">
            <a:avLst/>
          </a:prstGeom>
          <a:solidFill>
            <a:srgbClr val="5BA4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3410640" y="3337560"/>
            <a:ext cx="501480" cy="501480"/>
          </a:xfrm>
          <a:prstGeom prst="ellipse">
            <a:avLst/>
          </a:prstGeom>
          <a:solidFill>
            <a:srgbClr val="5BA4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1" descr="preencoded.png"/>
          <p:cNvPicPr/>
          <p:nvPr/>
        </p:nvPicPr>
        <p:blipFill>
          <a:blip r:embed="rId2"/>
          <a:stretch/>
        </p:blipFill>
        <p:spPr>
          <a:xfrm>
            <a:off x="3474720" y="3401640"/>
            <a:ext cx="373320" cy="37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13"/>
          <p:cNvSpPr/>
          <p:nvPr/>
        </p:nvSpPr>
        <p:spPr>
          <a:xfrm>
            <a:off x="4023360" y="3273480"/>
            <a:ext cx="1735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Industry Sponsorship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6035040" y="3200400"/>
            <a:ext cx="2604600" cy="1598760"/>
          </a:xfrm>
          <a:prstGeom prst="rect">
            <a:avLst/>
          </a:prstGeom>
          <a:solidFill>
            <a:srgbClr val="1A56A0">
              <a:alpha val="25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6035040" y="3200400"/>
            <a:ext cx="2604600" cy="62640"/>
          </a:xfrm>
          <a:prstGeom prst="rect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6"/>
          <p:cNvSpPr/>
          <p:nvPr/>
        </p:nvSpPr>
        <p:spPr>
          <a:xfrm>
            <a:off x="6199560" y="3337560"/>
            <a:ext cx="501480" cy="501480"/>
          </a:xfrm>
          <a:prstGeom prst="ellipse">
            <a:avLst/>
          </a:prstGeom>
          <a:solidFill>
            <a:srgbClr val="2E7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2" descr="preencoded.png"/>
          <p:cNvPicPr/>
          <p:nvPr/>
        </p:nvPicPr>
        <p:blipFill>
          <a:blip r:embed="rId3"/>
          <a:stretch/>
        </p:blipFill>
        <p:spPr>
          <a:xfrm>
            <a:off x="6263640" y="3401640"/>
            <a:ext cx="373320" cy="37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17"/>
          <p:cNvSpPr/>
          <p:nvPr/>
        </p:nvSpPr>
        <p:spPr>
          <a:xfrm>
            <a:off x="6812280" y="3273480"/>
            <a:ext cx="17359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Paid Software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-1097280" y="-914400"/>
            <a:ext cx="4113360" cy="411336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7315200" y="3200400"/>
            <a:ext cx="2741760" cy="2741760"/>
          </a:xfrm>
          <a:prstGeom prst="ellipse">
            <a:avLst/>
          </a:prstGeom>
          <a:solidFill>
            <a:srgbClr val="2E7FD4">
              <a:alpha val="18000"/>
            </a:srgbClr>
          </a:solidFill>
          <a:ln w="12700">
            <a:solidFill>
              <a:srgbClr val="2E7FD4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548640" y="274320"/>
            <a:ext cx="8228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GET INVOLVED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48640" y="68580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This standard becomes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meaningful with your input.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548640" y="2103120"/>
            <a:ext cx="1095840" cy="53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457200" y="2331720"/>
            <a:ext cx="4113360" cy="1141560"/>
          </a:xfrm>
          <a:prstGeom prst="rect">
            <a:avLst/>
          </a:prstGeom>
          <a:solidFill>
            <a:srgbClr val="FFFFFF">
              <a:alpha val="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457200" y="2331720"/>
            <a:ext cx="53280" cy="11415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0" descr="preencoded.png"/>
          <p:cNvPicPr/>
          <p:nvPr/>
        </p:nvPicPr>
        <p:blipFill>
          <a:blip r:embed="rId1"/>
          <a:stretch/>
        </p:blipFill>
        <p:spPr>
          <a:xfrm>
            <a:off x="612720" y="2697480"/>
            <a:ext cx="318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7"/>
          <p:cNvSpPr/>
          <p:nvPr/>
        </p:nvSpPr>
        <p:spPr>
          <a:xfrm>
            <a:off x="1051560" y="2423160"/>
            <a:ext cx="34275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the schema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1051560" y="2807280"/>
            <a:ext cx="34275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Does it cover your platform's data? What is missing or ambiguous?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4754880" y="2331720"/>
            <a:ext cx="4113360" cy="1141560"/>
          </a:xfrm>
          <a:prstGeom prst="rect">
            <a:avLst/>
          </a:prstGeom>
          <a:solidFill>
            <a:srgbClr val="FFFFFF">
              <a:alpha val="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4754880" y="2331720"/>
            <a:ext cx="53280" cy="11415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1" descr="preencoded.png"/>
          <p:cNvPicPr/>
          <p:nvPr/>
        </p:nvPicPr>
        <p:blipFill>
          <a:blip r:embed="rId2"/>
          <a:stretch/>
        </p:blipFill>
        <p:spPr>
          <a:xfrm>
            <a:off x="4910400" y="2697480"/>
            <a:ext cx="318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11"/>
          <p:cNvSpPr/>
          <p:nvPr/>
        </p:nvSpPr>
        <p:spPr>
          <a:xfrm>
            <a:off x="5349240" y="2423160"/>
            <a:ext cx="34275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Raise issues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5349240" y="2807280"/>
            <a:ext cx="34275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Flag gaps, propose additions, or challenge assumptions via GitHub issues.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457200" y="3630240"/>
            <a:ext cx="4113360" cy="1141560"/>
          </a:xfrm>
          <a:prstGeom prst="rect">
            <a:avLst/>
          </a:prstGeom>
          <a:solidFill>
            <a:srgbClr val="FFFFFF">
              <a:alpha val="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4"/>
          <p:cNvSpPr/>
          <p:nvPr/>
        </p:nvSpPr>
        <p:spPr>
          <a:xfrm>
            <a:off x="457200" y="3630240"/>
            <a:ext cx="53280" cy="11415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2" descr="preencoded.png"/>
          <p:cNvPicPr/>
          <p:nvPr/>
        </p:nvPicPr>
        <p:blipFill>
          <a:blip r:embed="rId3"/>
          <a:stretch/>
        </p:blipFill>
        <p:spPr>
          <a:xfrm>
            <a:off x="612720" y="3996000"/>
            <a:ext cx="318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15"/>
          <p:cNvSpPr/>
          <p:nvPr/>
        </p:nvSpPr>
        <p:spPr>
          <a:xfrm>
            <a:off x="1051560" y="3721680"/>
            <a:ext cx="34275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Submit a pull request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1051560" y="4105800"/>
            <a:ext cx="34275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Propose changes to the schema, field definitions, or example records.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7"/>
          <p:cNvSpPr/>
          <p:nvPr/>
        </p:nvSpPr>
        <p:spPr>
          <a:xfrm>
            <a:off x="4754880" y="3630240"/>
            <a:ext cx="4113360" cy="1141560"/>
          </a:xfrm>
          <a:prstGeom prst="rect">
            <a:avLst/>
          </a:prstGeom>
          <a:solidFill>
            <a:srgbClr val="FFFFFF">
              <a:alpha val="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4754880" y="3630240"/>
            <a:ext cx="53280" cy="11415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3" descr="preencoded.png"/>
          <p:cNvPicPr/>
          <p:nvPr/>
        </p:nvPicPr>
        <p:blipFill>
          <a:blip r:embed="rId4"/>
          <a:stretch/>
        </p:blipFill>
        <p:spPr>
          <a:xfrm>
            <a:off x="4910400" y="3996000"/>
            <a:ext cx="318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19"/>
          <p:cNvSpPr/>
          <p:nvPr/>
        </p:nvSpPr>
        <p:spPr>
          <a:xfrm>
            <a:off x="5349240" y="3721680"/>
            <a:ext cx="34275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Sponsor or endorse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5349240" y="4105800"/>
            <a:ext cx="34275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Calibri"/>
                <a:ea typeface="Calibri"/>
              </a:rPr>
              <a:t>Bring your organisation's weight behind a standard the industry needs.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>
            <a:off x="0" y="4709160"/>
            <a:ext cx="9142560" cy="4330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274320" y="4736520"/>
            <a:ext cx="8593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D1B3E"/>
                </a:solidFill>
                <a:effectLst/>
                <a:uFillTx/>
                <a:latin typeface="Calibri"/>
                <a:ea typeface="Calibri"/>
              </a:rPr>
              <a:t>The Open CDR Project  |  Apache 2.0 Licence  |  Community Contributions Welcome  |  Prototype v1.0</a:t>
            </a:r>
            <a:endParaRPr lang="en-GB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2026-05-03T21:07:52Z</dcterms:created>
  <dc:creator>Open CDR Standard</dc:creator>
  <dc:description/>
  <dc:language>en-GB</dc:language>
  <cp:lastModifiedBy/>
  <dcterms:modified xsi:type="dcterms:W3CDTF">2026-05-10T00:34:11Z</dcterms:modified>
  <cp:revision>7</cp:revision>
  <dc:subject>PptxGenJS Presentation</dc:subject>
  <dc:title>Open CDR Standard — Project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